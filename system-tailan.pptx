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Тоо</c:v>
                </c:pt>
              </c:strCache>
            </c:strRef>
          </c:tx>
          <c:spPr>
            <a:solidFill>
              <a:srgbClr val="0E8345"/>
            </a:solidFill>
          </c:spPr>
          <c:cat>
            <c:strRef>
              <c:f>Sheet1!$A$2:$A$9</c:f>
              <c:strCache>
                <c:ptCount val="8"/>
                <c:pt idx="0">
                  <c:v>Мэдэгдэл, аудит лог</c:v>
                </c:pt>
                <c:pt idx="1">
                  <c:v>Баримт бичиг</c:v>
                </c:pt>
                <c:pt idx="2">
                  <c:v>Нөхөх олговор</c:v>
                </c:pt>
                <c:pt idx="3">
                  <c:v>Төлөвлөгөө, лавлах</c:v>
                </c:pt>
                <c:pt idx="4">
                  <c:v>Хэрэглэгч, эрх (Auth)</c:v>
                </c:pt>
                <c:pt idx="5">
                  <c:v>Үнэлгээ, байгууламж</c:v>
                </c:pt>
                <c:pt idx="6">
                  <c:v>Газар чөлөөлөлт</c:v>
                </c:pt>
                <c:pt idx="7">
                  <c:v>Нэгж талбар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  <c:pt idx="5">
                  <c:v>9</c:v>
                </c:pt>
                <c:pt idx="6">
                  <c:v>9</c:v>
                </c:pt>
                <c:pt idx="7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Тоо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Sheet1!$A$2:$A$9</c:f>
              <c:strCache>
                <c:ptCount val="8"/>
                <c:pt idx="0">
                  <c:v>Мэдэгдэл + аудит</c:v>
                </c:pt>
                <c:pt idx="1">
                  <c:v>Нэгж талбар (global)</c:v>
                </c:pt>
                <c:pt idx="2">
                  <c:v>Нэвтрэлт /auth</c:v>
                </c:pt>
                <c:pt idx="3">
                  <c:v>Бусад (dashboard, тайлан…)</c:v>
                </c:pt>
                <c:pt idx="4">
                  <c:v>Хэрэглэгч, роль, зөвшөөрөл</c:v>
                </c:pt>
                <c:pt idx="5">
                  <c:v>Лавлах, тохиргоо (9 бүлэг)</c:v>
                </c:pt>
                <c:pt idx="6">
                  <c:v>Мэрг. байгууллагын портал</c:v>
                </c:pt>
                <c:pt idx="7">
                  <c:v>Газар чөлөөлөлт (nested)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11</c:v>
                </c:pt>
                <c:pt idx="4">
                  <c:v>16</c:v>
                </c:pt>
                <c:pt idx="5">
                  <c:v>36</c:v>
                </c:pt>
                <c:pt idx="6">
                  <c:v>43</c:v>
                </c:pt>
                <c:pt idx="7">
                  <c:v>61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Frontend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06/15–21</c:v>
                </c:pt>
                <c:pt idx="1">
                  <c:v>06/22–28</c:v>
                </c:pt>
                <c:pt idx="2">
                  <c:v>06/29–07/05</c:v>
                </c:pt>
                <c:pt idx="3">
                  <c:v>07/06–12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39</c:v>
                </c:pt>
                <c:pt idx="2">
                  <c:v>50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Backend</c:v>
                </c:pt>
              </c:strCache>
            </c:strRef>
          </c:tx>
          <c:spPr>
            <a:solidFill>
              <a:srgbClr val="02C0CE"/>
            </a:solidFill>
          </c:spPr>
          <c:cat>
            <c:strRef>
              <c:f>Sheet1!$A$2:$A$5</c:f>
              <c:strCache>
                <c:ptCount val="4"/>
                <c:pt idx="0">
                  <c:v>06/15–21</c:v>
                </c:pt>
                <c:pt idx="1">
                  <c:v>06/22–28</c:v>
                </c:pt>
                <c:pt idx="2">
                  <c:v>06/29–07/05</c:v>
                </c:pt>
                <c:pt idx="3">
                  <c:v>07/06–12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22</c:v>
                </c:pt>
                <c:pt idx="2">
                  <c:v>15</c:v>
                </c:pt>
                <c:pt idx="3">
                  <c:v>7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21040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321040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0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70848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070848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70848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20656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20656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0656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70464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70464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70464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320272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320272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320272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20656" y="1389888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70848" y="2139696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1554480"/>
            <a:ext cx="91440" cy="21488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1298448"/>
            <a:ext cx="7589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300" b="1">
                <a:solidFill>
                  <a:srgbClr val="02C0CE"/>
                </a:solidFill>
                <a:latin typeface="Arial"/>
              </a:rPr>
              <a:t>СИСТЕМ ХӨГЖҮҮЛЭЛТИЙН ТЕХНИКИЙН ТАЙЛАН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Газар чөлөөлөлт,</a:t>
            </a:r>
          </a:p>
          <a:p>
            <a:pPr algn="l">
              <a:spcAft>
                <a:spcPts val="16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нөхөх олговрын нэгдсэн систем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B9CADC"/>
                </a:solidFill>
                <a:latin typeface="Arial"/>
              </a:rPr>
              <a:t>Газар чөлөөлөлтийн үйл явц, нэгж талбарын бүртгэл, үнэлгээ болон нөхөх олговрын тооцооллыг нэг цэгээс удирдах вэб систем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212080"/>
            <a:ext cx="12191695" cy="1270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185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REST API endpoint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8444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49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өгөгдлийн хүснэгт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24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вэб хуудас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7940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автомат тест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989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9CADC"/>
                </a:solidFill>
                <a:latin typeface="Arial"/>
              </a:rPr>
              <a:t>2026-07-16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Агуулга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64592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8249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202B"/>
                </a:solidFill>
                <a:latin typeface="Arial"/>
              </a:rPr>
              <a:t>Ерөнхий тойм — гол тоон үзүүлэлтүүд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5915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9572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Системийн архитектур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072384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Технологийн стек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85616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8221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Мэдээллийн сангийн бүтэц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53542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API интерфейс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24865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Аюулгүй байдал, эрхийн удирдлага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92531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96188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Хэрэглэгчийн эрхийн матрицууд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164592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68249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Функциональ модулиуд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235915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39572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GIS — газарзүйн интеграци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072384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Чанар, тестийн хамралт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3785616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8221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Хөгжүүлэлтийн явцын үзүүлэлт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449884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453542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Мэдэгдэл ба аудит лог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1208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24865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Төлөвлөгөөний биелэлт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92531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96188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202B"/>
                </a:solidFill>
                <a:latin typeface="Arial"/>
              </a:rPr>
              <a:t>Дүгнэлт ба нэмэгдэх боломжууд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Ерөнхий тойм — гол тоон үзүүлэлтүүд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Бүх үзүүлэлт эх кодоос шууд тоологдсон (2026-07-16-ны байдлаар)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185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REST API endpoint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49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Өгөгдлийн сангийн хүснэгт (2 DB)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58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Хувилбарлагдсан migration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24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 хуудас (route)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4398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~55.4 мянга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Нийт кодын мөр (Go + TS/TSX)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3874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функц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956048"/>
            <a:ext cx="40640" cy="1325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Газар чөлөөлөлтөөс нөхөх олговор хүртэлх бүх үе шат нэг системд цахимжсан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8536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88536" y="4956048"/>
            <a:ext cx="40640" cy="132588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Frontend/backend тусдаа — багууд зэрэг хөгжүүлэх боломжтой; GIS анхнаасаа гол хэсэг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4152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4152" y="4956048"/>
            <a:ext cx="40640" cy="13258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Мобайл апп; бусад төрийн системтэй (ХУР, ДАН) интеграци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Системийн архитектур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Clean Architecture — давхарга бүр тодорхой үүрэгтэй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81328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7552" y="1673352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8528" y="155448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Вэб апп — Next.js 14 (App Router)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24 хуудас · GeoServer прокси · SSE Excel тайлан · DOCX загвар · React Query · OpenLayers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96896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2788920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2670048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REST API — Go 1.25 / Gin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Handler → Service → Repository · JWT, RBAC, assignment, lock, rate-limit · Swagger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12464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904488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8528" y="3785616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PostgreSQL 16 — хоёр сан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Main DB (41 хүснэгт, PostGIS геометр) + Auth DB (8 хүснэгт)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28032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" y="5020056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GIS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4901184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GeoServer 2.25 — WMS / WFS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Захиргааны нэгж, төлөвлөгөө, талбарын статусын давхаргууд · CQL шүүлт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800600" y="2432304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4800600" y="3547872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4800600" y="4663440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0" y="1481328"/>
            <a:ext cx="2359152" cy="4443984"/>
          </a:xfrm>
          <a:prstGeom prst="roundRect">
            <a:avLst>
              <a:gd name="adj" fmla="val 5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1691640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2C0CE"/>
                </a:solidFill>
                <a:latin typeface="Arial"/>
              </a:rPr>
              <a:t>КОДЫН ХЭМЖЭЭ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Backend (Go)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29,586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B9CADC"/>
                </a:solidFill>
                <a:latin typeface="Arial"/>
              </a:rPr>
              <a:t>мөр · 104 файл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Frontend (TS/TSX)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25,850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B9CADC"/>
                </a:solidFill>
                <a:latin typeface="Arial"/>
              </a:rPr>
              <a:t>мөр · 101 файл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Docker + compose орчин нэг командаар босно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Технологийн стек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Бүрэн нээлттэй эхийн, лицензийн зардалгүй технологиуд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3602736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FRONTEND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Next.js 14 · React 18 · TS 5</a:t>
            </a:r>
            <a:r>
              <a:rPr sz="1100">
                <a:solidFill>
                  <a:srgbClr val="4A5560"/>
                </a:solidFill>
                <a:latin typeface="Arial"/>
              </a:rPr>
              <a:t> — App Router, SSR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Radix UI + Tailwind</a:t>
            </a:r>
            <a:r>
              <a:rPr sz="1100">
                <a:solidFill>
                  <a:srgbClr val="4A5560"/>
                </a:solidFill>
                <a:latin typeface="Arial"/>
              </a:rPr>
              <a:t> — хүртээмжтэй UI, dark mode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React Query 5</a:t>
            </a:r>
            <a:r>
              <a:rPr sz="1100">
                <a:solidFill>
                  <a:srgbClr val="4A5560"/>
                </a:solidFill>
                <a:latin typeface="Arial"/>
              </a:rPr>
              <a:t> — сервер өгөгдлийн кэш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react-hook-form + zod</a:t>
            </a:r>
            <a:r>
              <a:rPr sz="1100">
                <a:solidFill>
                  <a:srgbClr val="4A5560"/>
                </a:solidFill>
                <a:latin typeface="Arial"/>
              </a:rPr>
              <a:t> — маягт, валидаци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OpenLayers 10.2</a:t>
            </a:r>
            <a:r>
              <a:rPr sz="1100">
                <a:solidFill>
                  <a:srgbClr val="4A5560"/>
                </a:solidFill>
                <a:latin typeface="Arial"/>
              </a:rPr>
              <a:t> — интерактив газрын зураг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exceljs · SheetJS · pdf-lib</a:t>
            </a:r>
            <a:r>
              <a:rPr sz="1100">
                <a:solidFill>
                  <a:srgbClr val="4A5560"/>
                </a:solidFill>
                <a:latin typeface="Arial"/>
              </a:rPr>
              <a:t> — Excel,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481328"/>
            <a:ext cx="3602736" cy="508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BACKEND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 1.25 · Gin 1.10</a:t>
            </a:r>
            <a:r>
              <a:rPr sz="1100">
                <a:solidFill>
                  <a:srgbClr val="4A5560"/>
                </a:solidFill>
                <a:latin typeface="Arial"/>
              </a:rPr>
              <a:t> — HTTP framework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pgx/v5 (ORM-гүй)</a:t>
            </a:r>
            <a:r>
              <a:rPr sz="1100">
                <a:solidFill>
                  <a:srgbClr val="4A5560"/>
                </a:solidFill>
                <a:latin typeface="Arial"/>
              </a:rPr>
              <a:t> — гүйцэтгэлийн бүрэн хяналт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golang-jwt/v5 · bcrypt</a:t>
            </a:r>
            <a:r>
              <a:rPr sz="1100">
                <a:solidFill>
                  <a:srgbClr val="4A5560"/>
                </a:solidFill>
                <a:latin typeface="Arial"/>
              </a:rPr>
              <a:t> — нэвтрэлт, хэшлэлт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golang-migrate/v4</a:t>
            </a:r>
            <a:r>
              <a:rPr sz="1100">
                <a:solidFill>
                  <a:srgbClr val="4A5560"/>
                </a:solidFill>
                <a:latin typeface="Arial"/>
              </a:rPr>
              <a:t> — автомат migration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swaggo/swag</a:t>
            </a:r>
            <a:r>
              <a:rPr sz="1100">
                <a:solidFill>
                  <a:srgbClr val="4A5560"/>
                </a:solidFill>
                <a:latin typeface="Arial"/>
              </a:rPr>
              <a:t> — Swagger баримтжуулалт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testify + mocks</a:t>
            </a:r>
            <a:r>
              <a:rPr sz="1100">
                <a:solidFill>
                  <a:srgbClr val="4A5560"/>
                </a:solidFill>
                <a:latin typeface="Arial"/>
              </a:rPr>
              <a:t> — unit тест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4152" y="1481328"/>
            <a:ext cx="3602736" cy="50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ДЭД БҮТЭЦ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PostgreSQL 16 + PostGIS 3.4</a:t>
            </a:r>
            <a:r>
              <a:rPr sz="1100">
                <a:solidFill>
                  <a:srgbClr val="4A5560"/>
                </a:solidFill>
                <a:latin typeface="Arial"/>
              </a:rPr>
              <a:t> — реляц + орон зайн сан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GeoServer 2.25</a:t>
            </a:r>
            <a:r>
              <a:rPr sz="1100">
                <a:solidFill>
                  <a:srgbClr val="4A5560"/>
                </a:solidFill>
                <a:latin typeface="Arial"/>
              </a:rPr>
              <a:t> — WMS/WFS үйлчилгээ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Docker + compose</a:t>
            </a:r>
            <a:r>
              <a:rPr sz="1100">
                <a:solidFill>
                  <a:srgbClr val="4A5560"/>
                </a:solidFill>
                <a:latin typeface="Arial"/>
              </a:rPr>
              <a:t> — контейнержуулалт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systemd · Makefile</a:t>
            </a:r>
            <a:r>
              <a:rPr sz="1100">
                <a:solidFill>
                  <a:srgbClr val="4A5560"/>
                </a:solidFill>
                <a:latin typeface="Arial"/>
              </a:rPr>
              <a:t> — байршуулалт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Бүх давхаргад орчин үеийн, идэвхтэй дэмжигддэг технологи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8536" y="507492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Go + raw SQL — бага нөөцөөр өндөр гүйцэтгэл; TypeScript — төрлийн аюулгүй байдал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74152" y="507492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OpenTelemetry мониторинг; sqlc — SQL-ийн compile-time шалгалт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Мэдээллийн сангийн бүтэц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Хоёр тусдаа сан: бизнес (41 хүснэгт, PostGIS) + хэрэглэгч/эрх (8 хүснэгт) · 58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0350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ХҮСНЭГТҮҮД — ДОМЭЙНЭЭР (НИЙТ 49)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38528"/>
          <a:ext cx="57607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03720" y="16002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ОНЦЛОХ ДИЗАЙНЫ ШИЙДЛҮҮД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geometry(Polygon, 4326)</a:t>
            </a:r>
            <a:r>
              <a:rPr sz="1200">
                <a:solidFill>
                  <a:srgbClr val="4A5560"/>
                </a:solidFill>
                <a:latin typeface="Arial"/>
              </a:rPr>
              <a:t> — давхцлын талбай DB дотор тооцогдоно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3 зэрэгцээ үнэлгээний урсгал</a:t>
            </a:r>
            <a:r>
              <a:rPr sz="1200">
                <a:solidFill>
                  <a:srgbClr val="4A5560"/>
                </a:solidFill>
                <a:latin typeface="Arial"/>
              </a:rPr>
              <a:t> — asset / independent / mika — илгээх→батлах workflow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Түүхжүүлэлт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хил, олговор, үнэлгээ бүр *_history хүснэгттэй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SHA-256 дедупликаци</a:t>
            </a:r>
            <a:r>
              <a:rPr sz="1200">
                <a:solidFill>
                  <a:srgbClr val="4A5560"/>
                </a:solidFill>
                <a:latin typeface="Arial"/>
              </a:rPr>
              <a:t> — Excel импортын давхардлын хамгаалалт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Token удирдлага</a:t>
            </a:r>
            <a:r>
              <a:rPr sz="1200">
                <a:solidFill>
                  <a:srgbClr val="4A5560"/>
                </a:solidFill>
                <a:latin typeface="Arial"/>
              </a:rPr>
              <a:t> — revocation list + session epoch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687568"/>
            <a:ext cx="40640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47 хүснэгтэд домэйн бүрэн загварчлагдаж, 55 migration-аар хувилбаржсан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5687568"/>
            <a:ext cx="40640" cy="71323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Migration бүр буцаах хостой; түүхийн хүснэгтүүд — аудит бэлэн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5687568"/>
            <a:ext cx="40640" cy="71323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PITR нөөцлөлт, read replica; том хүснэгтийг partition хийх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API интерфейс — 185 endpoint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/api/v1 суурьтай REST, бүгд Swagger-ээр баримтжсан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4922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ENDPOINT-УУД — БҮЛГЭЭР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38528"/>
          <a:ext cx="62179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60920" y="1600200"/>
            <a:ext cx="4389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ОНЦЛОГ ШИЙДЛҮҮД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SSE стрийм</a:t>
            </a:r>
            <a:r>
              <a:rPr sz="1200">
                <a:solidFill>
                  <a:srgbClr val="4A5560"/>
                </a:solidFill>
                <a:latin typeface="Arial"/>
              </a:rPr>
              <a:t> — Excel тайланг явцын мэдээлэлтэй татдаг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GeoServer прокси</a:t>
            </a:r>
            <a:r>
              <a:rPr sz="1200">
                <a:solidFill>
                  <a:srgbClr val="4A5560"/>
                </a:solidFill>
                <a:latin typeface="Arial"/>
              </a:rPr>
              <a:t> — GIS дэд бүтэц гадагш ил гардаггүй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Rate limit</a:t>
            </a:r>
            <a:r>
              <a:rPr sz="1200">
                <a:solidFill>
                  <a:srgbClr val="4A5560"/>
                </a:solidFill>
                <a:latin typeface="Arial"/>
              </a:rPr>
              <a:t> — нэвтрэлтийн бүлэгт 30 хүсэлт/мин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Алдааны нэгдсэн урсгал</a:t>
            </a:r>
            <a:r>
              <a:rPr sz="1200">
                <a:solidFill>
                  <a:srgbClr val="4A5560"/>
                </a:solidFill>
                <a:latin typeface="Arial"/>
              </a:rPr>
              <a:t> — 401 → token сэргээлт, 403 → мэдэгдэл, 5xx → алдааны хуудас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687568"/>
            <a:ext cx="40640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Гадны байгууллагын хандалт тусдаа порталаар тусгаарлагдсан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5687568"/>
            <a:ext cx="40640" cy="71323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Хувилбартай зам (/api/v1) — v2 гаргахад эвдрэлгүй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5687568"/>
            <a:ext cx="40640" cy="71323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Webhook API; batch endpoint-ууд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Аюулгүй байдал, эрхийн удирдлага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JWT + нарийвчилсан зөвшөөрөл + объект түвшний хяналт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НЭВТРЭЛТ БА TOKEN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JWT (HS256)</a:t>
            </a:r>
            <a:r>
              <a:rPr sz="1250">
                <a:solidFill>
                  <a:srgbClr val="4A5560"/>
                </a:solidFill>
                <a:latin typeface="Arial"/>
              </a:rPr>
              <a:t> — access 15 мин + refresh 7 хоног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bcrypt хэшлэлт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нууц үг сэргээх — SHA-256 token, 1ц TTL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Token хүчингүйжүүлэлт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revocation list + session epoch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resource:action зөвшөөрөл</a:t>
            </a:r>
            <a:r>
              <a:rPr sz="1250">
                <a:solidFill>
                  <a:srgbClr val="4A5560"/>
                </a:solidFill>
                <a:latin typeface="Arial"/>
              </a:rPr>
              <a:t> — JWT-д шингэсэн — DB хандалтгүй шалгалт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81328"/>
            <a:ext cx="551383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4 ДАВХАР MIDDLEWARE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Permission / Role</a:t>
            </a:r>
            <a:r>
              <a:rPr sz="1250">
                <a:solidFill>
                  <a:srgbClr val="4A5560"/>
                </a:solidFill>
                <a:latin typeface="Arial"/>
              </a:rPr>
              <a:t> — RequirePermission, RequireOnlyRole…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Хуваарилалт</a:t>
            </a:r>
            <a:r>
              <a:rPr sz="1250">
                <a:solidFill>
                  <a:srgbClr val="4A5560"/>
                </a:solidFill>
                <a:latin typeface="Arial"/>
              </a:rPr>
              <a:t> — оноогдсон эсвэл ахлах мэргэжилтэн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Түгжээ</a:t>
            </a:r>
            <a:r>
              <a:rPr sz="1250">
                <a:solidFill>
                  <a:srgbClr val="4A5560"/>
                </a:solidFill>
                <a:latin typeface="Arial"/>
              </a:rPr>
              <a:t> — батлагдсан объектыг засахаас сэргийлнэ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Гишүүнчлэл</a:t>
            </a:r>
            <a:r>
              <a:rPr sz="1250">
                <a:solidFill>
                  <a:srgbClr val="4A5560"/>
                </a:solidFill>
                <a:latin typeface="Arial"/>
              </a:rPr>
              <a:t> — мэрг. байгууллага зөвхөн өөрийн объектод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11183112" cy="658368"/>
          </a:xfrm>
          <a:prstGeom prst="roundRect">
            <a:avLst>
              <a:gd name="adj" fmla="val 12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017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2C0CE"/>
                </a:solidFill>
                <a:latin typeface="Arial"/>
              </a:rPr>
              <a:t>6 РОЛЬ:   </a:t>
            </a:r>
            <a:r>
              <a:rPr sz="1150">
                <a:solidFill>
                  <a:srgbClr val="FFFFFF"/>
                </a:solidFill>
                <a:latin typeface="Arial"/>
              </a:rPr>
              <a:t>admin  ·  senior_specialist (Ахлах)  ·  employee (Мэргэжилтэн)  ·  professional_org (Мэрг. байгууллага)  ·  mika (МИКА)  ·  finance_specialist (Санхүү)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15000"/>
            <a:ext cx="40640" cy="685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Гадны байгууллага дотоод өгөгдөлд огт хандах боломжгүй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5715000"/>
            <a:ext cx="40640" cy="685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Роль дангаараа хангадаггүй объект түвшний нарийн хяналт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5715000"/>
            <a:ext cx="40640" cy="685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2FA, ДАН нэвтрэлт; хандалтын аудит лог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Роль тус бүрийн цэсний хандалт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✓ бүрэн   ·   ◐ нөхцөлтэй / хязгаартай   ·   — харагдахгүй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Хяналтын самбар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Газар чөлөөлөлт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◐²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Тайлан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Газрын зураг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Нэгж талбарын түүх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Нөхөх олговорын түүх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Удирдлага → Хэрэглэгчид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Удирдлага → Эрх &amp; Роль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Тохиргоо (8 дэд цэс)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568695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¹ Самбарын цар хүрээ ролиор хязгаарлагдана     ² Зөвхөн өөрт оноогдсон чөлөөлөлт (/my_acquisitions)     ³ Дэлгэрэнгүйд зөвхөн «Ерөнхий», «Нэгж талбар» таб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⁴ users:read — зөвхөн харах эрх     ⁵ admin:read зөвшөөрөлтэй хэрэглэгчид харагдана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Мэдээлэлтэй ажиллах эрхийн матриц — 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Газар чөлөөлөлт, нэгж талбар, удирдлага (router.go + access-policy.ts-ээс)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ГАЗАР ЧӨЛӨӨЛӨЛТ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Жагсаалт, дэлгэрэнгүй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◐ᵇ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Үүсгэх,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Устгах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Статусын workflow шилжүүлэх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НЭГЖ ТАЛБАР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Талбарын мэдээлэл харах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Засах, баримт, төлбөр бүртгэх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УДИРДЛАГА, ТАЙЛАН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Хэрэглэгч удирдах (CRUD)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◐ᵈ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Роль, зөвшөөрөл, тохиргоо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Excel тайлан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97296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ᵃ Зөвхөн өөрт хуваарилагдсан чөлөөлөлт (RequireAssignedOrSenior)     ᵇ Өөрийн байгууллагад оноогдсон объект (/prof)     ᶜ «Үнэлгээ хийх» статустай үед, хязгаартай табууд     ᵈ users:read — зөвхөн харах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Мэдээлэлтэй ажиллах эрхийн матриц — II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Үнэлгээний 3 урсгал ба нөхөх олговрын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ҮНЭЛГЭЭ (3 ЗЭРЭГЦЭЭ УРСГАЛ)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Үнэлгээний мэдээлэл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◐ᵈ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Хөрөнгийн үнэлгээ оруулах,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Хөндлөнгийн үнэлгээ оруулах, засах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◐ᶠ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МИКА үнэлгээ оруулах,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Excel-ээс үнэлгээ импортлох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 илгээх (submit)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 батлах / буцаах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НӨХӨХ ОЛГОВОР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Олговрын мэдээлэл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◐ᵇ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Олговор бүртгэх,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Олговор батлах / татгалзах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97296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ᵈ Зөвхөн өөрийн урсгалын үнэлгээ     ᵉ Үндсэн гүйцэтгэгчээр оноогдсон, «Үнэлгээ хийх» статустай үед     ᶠ Хөндлөнгийн байгууллагаар оноогдсон талбарт     ᵍ МИКА өөрийн урсгалдаа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ʰ Батлах endpoint зөвхөн санхүүгийн ролиор хамгаалагдсан — админ ч эрхгүй (үүрэг тусгаарлалтын зарчим)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Функциональ модулиуд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24 хуудас · 12 багц модуль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Хяналтын самбар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нэгтгэл, шүүлт, ролиор хязгаарлагдсан цар хүрээ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5676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1980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Газар чөлөөлөлт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shapefile хил, ангилал, workflow, хилийн түүх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Нэгж талбар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эзэмшигч, статус + түүх, баримт, төлбөр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Үнэлгээ — 3 урсгал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хөрөнгийн / хөндлөнгийн / МИКА, submit→approve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5676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5676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1980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Excel импорт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хөтөч дотор задлан, SHA-256 давхардлын шалгалт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2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Нөхөх олговор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батлах/татгалзах workflow, түүхийн архив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Байгууламж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тохируулгат үзүүлэлт/тооцоолол, зураг → PDF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5676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65676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1980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Газрын зураг (GIS)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WMS/WFS давхаргууд, статусын өнгө, CQL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2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28432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4736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Тайлан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SSE стрийм Excel, чөлөөлөлт тус бүрийн тайлан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Хэвлэх загвар (DOCX)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9 төрлийн албан баримт автоматаар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65676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65676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11980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Мэрг. байгууллагын портал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тусгаарлагдсан 43 endpoint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8432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28432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Тохиргооны 8 модуль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workflow, статус, ангилал — кодгүй удирдлага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2648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8A929A"/>
                </a:solidFill>
                <a:latin typeface="Arial"/>
              </a:rPr>
              <a:t>Хуудасны бүтэц: үндсэн үйл ажиллагаа 11 · тохиргоо/лавлах 8 · хэрэглэгч-эрх 3 · системийн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Мэдэгдэл ба аудит логийн систем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Бүх чухал үйлдэл давхар бүртгэлтэй: хэрэглэгчид бодит цагт мэдэгдэнэ + аудитад мөрдөгдөнө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5486400" cy="50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БОДИТ ЦАГИЙН МЭДЭГДЭЛ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SSE бодит цагийн стрийм</a:t>
            </a:r>
            <a:r>
              <a:rPr sz="1200">
                <a:solidFill>
                  <a:srgbClr val="4A5560"/>
                </a:solidFill>
                <a:latin typeface="Arial"/>
              </a:rPr>
              <a:t> — төлөв өөрчлөгдмөгц хонх, toast-оор шууд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9 төрлийн үйл явдал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үнэлгээ, олговор, хуваарилалт, оноолт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Ухаалаг хүлээн авагч</a:t>
            </a:r>
            <a:r>
              <a:rPr sz="1200">
                <a:solidFill>
                  <a:srgbClr val="4A5560"/>
                </a:solidFill>
                <a:latin typeface="Arial"/>
              </a:rPr>
              <a:t> — зөвхөн холбоотой хүмүүст; өөрийн үйлдэл мэдэгдэхгүй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Дарахад шилжинэ</a:t>
            </a:r>
            <a:r>
              <a:rPr sz="1200">
                <a:solidFill>
                  <a:srgbClr val="4A5560"/>
                </a:solidFill>
                <a:latin typeface="Arial"/>
              </a:rPr>
              <a:t> — холбогдох мэдээллийн дэлгэрэнгүй рүү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Тасалдалд тэсвэртэй</a:t>
            </a:r>
            <a:r>
              <a:rPr sz="1200">
                <a:solidFill>
                  <a:srgbClr val="4A5560"/>
                </a:solidFill>
                <a:latin typeface="Arial"/>
              </a:rPr>
              <a:t> — дахин холбогдоход алдагдсаныг нөхөж татна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Аюулгүй</a:t>
            </a:r>
            <a:r>
              <a:rPr sz="1200">
                <a:solidFill>
                  <a:srgbClr val="4A5560"/>
                </a:solidFill>
                <a:latin typeface="Arial"/>
              </a:rPr>
              <a:t> — token header-ээр; зөвхөн өөрийн мэдэгдэл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81328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81328"/>
            <a:ext cx="5486400" cy="508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64208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АУДИТ ЛОГ (ҮЙЛДЛИЙН МӨРДЛӨГ)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36 бүртгэх цэг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үнэлгээ, олговор, импорт, санхүүжилт…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8 ресурсийн төрөл</a:t>
            </a:r>
            <a:r>
              <a:rPr sz="1200">
                <a:solidFill>
                  <a:srgbClr val="4A5560"/>
                </a:solidFill>
                <a:latin typeface="Arial"/>
              </a:rPr>
              <a:t> — чөлөөлөлт, талбар, үнэлгээ, олговор, баримт…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Хэн · хэзээ · хаанаас</a:t>
            </a:r>
            <a:r>
              <a:rPr sz="1200">
                <a:solidFill>
                  <a:srgbClr val="4A5560"/>
                </a:solidFill>
                <a:latin typeface="Arial"/>
              </a:rPr>
              <a:t> — нэр, албан тушаал, роль, IP, төхөөрөмж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Дэлгэрэнгүй (JSONB)</a:t>
            </a:r>
            <a:r>
              <a:rPr sz="1200">
                <a:solidFill>
                  <a:srgbClr val="4A5560"/>
                </a:solidFill>
                <a:latin typeface="Arial"/>
              </a:rPr>
              <a:t> — өөрчилсөн утга, тоо хэмжээ бүртгэгдэнэ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audit:read эрхтэй хандалт</a:t>
            </a:r>
            <a:r>
              <a:rPr sz="1200">
                <a:solidFill>
                  <a:srgbClr val="4A5560"/>
                </a:solidFill>
                <a:latin typeface="Arial"/>
              </a:rPr>
              <a:t> — шүүлтүүртэй жагсаалт API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Async бичилт</a:t>
            </a:r>
            <a:r>
              <a:rPr sz="1200">
                <a:solidFill>
                  <a:srgbClr val="4A5560"/>
                </a:solidFill>
                <a:latin typeface="Arial"/>
              </a:rPr>
              <a:t> — үндсэн үйлдлийг удаашруулахгүй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40640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Төлөвлөгөөний «Лог файл үүсгэх» ажил аудит логоор хэрэгжсэн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5760720"/>
            <a:ext cx="40640" cy="658368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Мэдэгдэл + аудит хосолсноор ил тод, мөрдөх боломжтой үйл ажиллагаа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5760720"/>
            <a:ext cx="40640" cy="65836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И-мэйл/push суваг; аудит логийн админ дэлгэц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GIS — газарзүйн мэдээллийн интеграци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Орон зайн өгөгдөл системийн гол хэсэг (EPSG:4326 → 3857)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13</a:t>
            </a:r>
          </a:p>
        </p:txBody>
      </p:sp>
      <p:sp>
        <p:nvSpPr>
          <p:cNvPr id="10" name="Chevron 9"/>
          <p:cNvSpPr/>
          <p:nvPr/>
        </p:nvSpPr>
        <p:spPr>
          <a:xfrm>
            <a:off x="502920" y="1691640"/>
            <a:ext cx="2971800" cy="1737360"/>
          </a:xfrm>
          <a:prstGeom prst="chevron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1. Хадгалалт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PostGIS 3.4 — geometry багана, орон зайн индекс</a:t>
            </a:r>
          </a:p>
        </p:txBody>
      </p:sp>
      <p:sp>
        <p:nvSpPr>
          <p:cNvPr id="11" name="Chevron 10"/>
          <p:cNvSpPr/>
          <p:nvPr/>
        </p:nvSpPr>
        <p:spPr>
          <a:xfrm>
            <a:off x="3319272" y="1691640"/>
            <a:ext cx="2971800" cy="1737360"/>
          </a:xfrm>
          <a:prstGeom prst="chevron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2. Тооцоолол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ST_Intersection, ST_Area, ST_MakeValid — DB дотор</a:t>
            </a:r>
          </a:p>
        </p:txBody>
      </p:sp>
      <p:sp>
        <p:nvSpPr>
          <p:cNvPr id="12" name="Chevron 11"/>
          <p:cNvSpPr/>
          <p:nvPr/>
        </p:nvSpPr>
        <p:spPr>
          <a:xfrm>
            <a:off x="6135624" y="1691640"/>
            <a:ext cx="2971800" cy="1737360"/>
          </a:xfrm>
          <a:prstGeom prst="chevron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3. Нийтлэлт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GeoServer — WMS/WFS, статусын давхаргууд (s0–s5)</a:t>
            </a:r>
          </a:p>
        </p:txBody>
      </p:sp>
      <p:sp>
        <p:nvSpPr>
          <p:cNvPr id="13" name="Chevron 12"/>
          <p:cNvSpPr/>
          <p:nvPr/>
        </p:nvSpPr>
        <p:spPr>
          <a:xfrm>
            <a:off x="8951976" y="1691640"/>
            <a:ext cx="2971800" cy="1737360"/>
          </a:xfrm>
          <a:prstGeom prst="chevron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4. Дүрслэл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E2440"/>
                </a:solidFill>
                <a:latin typeface="Arial"/>
              </a:rPr>
              <a:t>OpenLayers — самбар, popup, CQL шүүлт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94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Shapefile уншигч</a:t>
            </a:r>
            <a:r>
              <a:rPr sz="1200">
                <a:solidFill>
                  <a:srgbClr val="4A5560"/>
                </a:solidFill>
                <a:latin typeface="Arial"/>
              </a:rPr>
              <a:t> — ESRI Shapefile → WKT — гадны сангүй, Go-оор өөрсдөө бичсэн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Прокси</a:t>
            </a:r>
            <a:r>
              <a:rPr sz="1200">
                <a:solidFill>
                  <a:srgbClr val="4A5560"/>
                </a:solidFill>
                <a:latin typeface="Arial"/>
              </a:rPr>
              <a:t> — GeoServer гадагш ил гардаггүй — Next.js route-оор нэвтрэлттэй дамжина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07492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Талбарын давхцал, чөлөөлөх талбай автоматаар тодорхойлогддог болсон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8536" y="507492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Тооцоолол DB түвшинд — үнэн зөвийн нэг эх сурвалж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74152" y="507492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Vector tile (MVT); кадастрын системтэй синхрончлол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Чанар, тестийн хамралт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функц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899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529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00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файл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136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Mock багц (handler / service / repo)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113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743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6914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 тест сьют (policy, parser)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08960"/>
            <a:ext cx="111831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Давхаргажсан unit тест</a:t>
            </a:r>
            <a:r>
              <a:rPr sz="1250">
                <a:solidFill>
                  <a:srgbClr val="4A5560"/>
                </a:solidFill>
                <a:latin typeface="Arial"/>
              </a:rPr>
              <a:t> — mock-оор тусгаарлагдсан — DB-гүйгээр хурдан ажиллана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Хандалтын эрхийн тест</a:t>
            </a:r>
            <a:r>
              <a:rPr sz="1250">
                <a:solidFill>
                  <a:srgbClr val="4A5560"/>
                </a:solidFill>
                <a:latin typeface="Arial"/>
              </a:rPr>
              <a:t> — router_access_test.go — эрхийн регресс автоматаар илэрдэг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Эрсдэлтэй frontend логик</a:t>
            </a:r>
            <a:r>
              <a:rPr sz="1250">
                <a:solidFill>
                  <a:srgbClr val="4A5560"/>
                </a:solidFill>
                <a:latin typeface="Arial"/>
              </a:rPr>
              <a:t> — access-policy, Excel задлагч тестлэгдсэн · Swagger UI, Postman, монгол i18n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12064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Гол бизнес логик автомат шалгалттай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8536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8536" y="512064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Эрхийн хяналт тусгай тестээр баталгаажсан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4152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74152" y="512064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E2E тест (Playwright); CI/CD pipeline; ачааллын тест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Хөгжүүлэлтийн явцын үзүүлэлт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2026.06.15 – 07.12 · нийт 177 commit (frontend 116, backend 61) · 55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ДОЛОО ХОНОГ ТУТМЫН COMMIT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85800" y="1965960"/>
          <a:ext cx="65836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863840" y="16916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4 долоо хоног</a:t>
            </a:r>
            <a:r>
              <a:rPr sz="1250">
                <a:solidFill>
                  <a:srgbClr val="4A5560"/>
                </a:solidFill>
                <a:latin typeface="Arial"/>
              </a:rPr>
              <a:t> — бүрэн ажиллагаатай систем хүргэгдсэн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Жижиг, ойр commit</a:t>
            </a:r>
            <a:r>
              <a:rPr sz="1250">
                <a:solidFill>
                  <a:srgbClr val="4A5560"/>
                </a:solidFill>
                <a:latin typeface="Arial"/>
              </a:rPr>
              <a:t> — өөрчлөлт мөрдөхөд хялбар түүх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Зэрэгцээ хөгжүүлэлт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front/back интеграцийн зөрүү багатай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55 migration</a:t>
            </a:r>
            <a:r>
              <a:rPr sz="1250">
                <a:solidFill>
                  <a:srgbClr val="4A5560"/>
                </a:solidFill>
                <a:latin typeface="Arial"/>
              </a:rPr>
              <a:t> — функциональ өсөлтийг дагасан schema хөгжил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Төлөвлөгөөний биелэлт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plan.xlsx — задаргаа түвшний 50 ажил (гарчиг мөрүүд тооцоонд ороогүй)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54480"/>
            <a:ext cx="264490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73936"/>
            <a:ext cx="23705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50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Нийт төлөвлөгөөт ажил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8990" y="1554480"/>
            <a:ext cx="264490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529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006" y="1773936"/>
            <a:ext cx="23705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13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Бүрэн хийгдсэн (26%)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1554480"/>
            <a:ext cx="264490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136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6" y="1773936"/>
            <a:ext cx="23705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27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ГУС интеграци хүлээгдэж буй (54%)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1130" y="1554480"/>
            <a:ext cx="264490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743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69146" y="1773936"/>
            <a:ext cx="23705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10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Хүлээгдэж байгаа (20%)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5294" y="1700784"/>
            <a:ext cx="457200" cy="381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41364" y="1700784"/>
            <a:ext cx="457200" cy="381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7434" y="1700784"/>
            <a:ext cx="457200" cy="38100"/>
          </a:xfrm>
          <a:prstGeom prst="rect">
            <a:avLst/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БҮЛЭГ ТУС БҮРИЙН ЗАДАРГАА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9936" y="3063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Бүрэн хийгдсэн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1696" y="3063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ГУС интеграци хүлээгдэж буй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63456" y="3063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Хүлээгдэж байгаа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648456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Системийн бичиг баримт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3611880"/>
            <a:ext cx="269560" cy="384048"/>
          </a:xfrm>
          <a:prstGeom prst="roundRect">
            <a:avLst>
              <a:gd name="adj" fmla="val 18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72840" y="364845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215384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 хөгжүүлэлт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178808"/>
            <a:ext cx="1572580" cy="384048"/>
          </a:xfrm>
          <a:prstGeom prst="roundRect">
            <a:avLst>
              <a:gd name="adj" fmla="val 18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84420" y="4178808"/>
            <a:ext cx="3889060" cy="384048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93480" y="4178808"/>
            <a:ext cx="1427800" cy="384048"/>
          </a:xfrm>
          <a:prstGeom prst="roundRect">
            <a:avLst>
              <a:gd name="adj" fmla="val 18000"/>
            </a:avLst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6202B"/>
                </a:solidFill>
                <a:latin typeface="Arial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42153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48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029200"/>
            <a:ext cx="11183112" cy="658368"/>
          </a:xfrm>
          <a:prstGeom prst="roundRect">
            <a:avLst>
              <a:gd name="adj" fmla="val 12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13892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2C0CE"/>
                </a:solidFill>
                <a:latin typeface="Arial"/>
              </a:rPr>
              <a:t>СИСТЕМИЙН ТАЛААС ХЭРЭГЖСЭН:  </a:t>
            </a:r>
            <a:r>
              <a:rPr sz="1200">
                <a:solidFill>
                  <a:srgbClr val="FFFFFF"/>
                </a:solidFill>
                <a:latin typeface="Arial"/>
              </a:rPr>
              <a:t>40 / 50 ажил (80%) — 13 бүрэн, 27 нь ГУС-ийн холболт нээгдэхийг хүлээж байна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85216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Төлөв: ногоон = бүрэн хийгдсэн · шар = хийгдсэн боловч Газрын удирдлагын системтэй (ГУС) холбогдох хөгжүүлэлт хүлээгдэж буй · саарал = хүлээгдэж байгаа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Тусгай бүлэг — ГУС интеграци хүлээгдэж буй 27 ажил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Системийн тал нь хийгдсэн; ГУС-ээс мэдээлэл татах/солилцох холболт нээгдэхийг хүлээж байна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81328"/>
          <a:ext cx="1118311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31520"/>
                <a:gridCol w="7251192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Хамрах хэсэг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Тоо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Ажлууд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Системийн удирдлага, үндсэн бүртгэл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Хэрэглэгч/эрхийн бүртгэл, тохиргоо; ажилтан, хуулийн этгээд, үнэлгээний байгууллагын бүртгэл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Жилийн төлөвлөгөөний давхаргаас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Гэр хороолол, авто зам/инженерийн шугам, нийгмийн дэд бүтэц ангиллаар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ГУС-ийн бүрэлдэхүүн системүүд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ГЗБ-хот төлөвлөлтийн цахим, газрын кадастр, газрын үнэлгээ, хот байгуулалтын кадастр, мониторинг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Кадастрын давхцал, зөрчлийн давхарга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Зөрчилтэй талбарын давхарга үүсгэх, цахим системд холбох, давхцал шалгах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Эрх, захирамжийн урсгал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Чиг үүргийн дагуу эрх тохируулах; захирамжийн төсөл бэлтгэх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Дундын мэдээллийн сан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УБЕГ, Татварын ерөнхий газар, ШШГЕГ, үнийн сан, E-Mongolia, динамик давхарга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Бусад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Бусад шаардлагатай системүүдэд өгөгдөл холбож харуулах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608076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ГУС-ийн API нээгдмэгц эдгээр 27 ажил богино хугацаанд хаагдах боломжтой.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Хүлээгдэж буй ба төлөвлөгөөнөөс гадуур хийгдсэн ажлууд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30936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6309360" cy="50800"/>
          </a:xfrm>
          <a:prstGeom prst="rect">
            <a:avLst/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1">
                <a:solidFill>
                  <a:srgbClr val="4A5560"/>
                </a:solidFill>
                <a:latin typeface="Arial"/>
              </a:rPr>
              <a:t>ХҮЛЭЭГДЭЖ БАЙГАА 10 АЖИЛ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Зураг төслийн түүхэн өөрчлөлтийг харуулах (2.2.2.2)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НЭЗ судалгааг цахимаар авах (2.4.2.1)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Мэдэгдэх хуудас цахимаар хүргүүлэх (2.4.2.2)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Албан бичиг хүргүүлэх (2.4.2.3)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Тооцооллын журам, аргачлал, үнийн бүртгэл (2.4.3.2)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Гэрээг цахим системээр хэвлэх (2.4.4.2)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Чөлөөлсөн тухай акт үйлдэх (2.4.4.4)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Агаар сансрын зураг шинэчлэх (2.6.1) · дроны мэдээлэл (2.6.2)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2010–2025 оны түүхэн өгөгдөл нөхөж оруулах (2.7.1)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1481328"/>
            <a:ext cx="466344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22592" y="1481328"/>
            <a:ext cx="4663440" cy="50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664208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ИЖ БҮРДЭЛД ОРООГҮЙ БОЛОВЧ ХЭРЭГЖСЭН 6 АЖИЛ</a:t>
            </a:r>
          </a:p>
          <a:p>
            <a:pPr algn="l">
              <a:spcAft>
                <a:spcPts val="9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Excel-ээс үнэлгээ импортлох</a:t>
            </a:r>
            <a:r>
              <a:rPr sz="1150">
                <a:solidFill>
                  <a:srgbClr val="4A5560"/>
                </a:solidFill>
                <a:latin typeface="Arial"/>
              </a:rPr>
              <a:t> — SHA-256 давхардлын хамгаалалттай</a:t>
            </a:r>
          </a:p>
          <a:p>
            <a:pPr algn="l">
              <a:spcAft>
                <a:spcPts val="9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Мэрг. байгууллагын портал</a:t>
            </a:r>
            <a:r>
              <a:rPr sz="1150">
                <a:solidFill>
                  <a:srgbClr val="4A5560"/>
                </a:solidFill>
                <a:latin typeface="Arial"/>
              </a:rPr>
              <a:t> — тусгаарлагдсан 43 endpoint</a:t>
            </a:r>
          </a:p>
          <a:p>
            <a:pPr algn="l">
              <a:spcAft>
                <a:spcPts val="9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Бүрэн түүхжүүлэлт</a:t>
            </a:r>
            <a:r>
              <a:rPr sz="1150">
                <a:solidFill>
                  <a:srgbClr val="4A5560"/>
                </a:solidFill>
                <a:latin typeface="Arial"/>
              </a:rPr>
              <a:t> — өөрчлөлт бүр түүхтэй</a:t>
            </a:r>
          </a:p>
          <a:p>
            <a:pPr algn="l">
              <a:spcAft>
                <a:spcPts val="9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Аюулгүй байдлын өргөтгөлүүд</a:t>
            </a:r>
            <a:r>
              <a:rPr sz="1150">
                <a:solidFill>
                  <a:srgbClr val="4A5560"/>
                </a:solidFill>
                <a:latin typeface="Arial"/>
              </a:rPr>
              <a:t> — token хүчингүйжүүлэлт, 4 давхар хамгаалалт</a:t>
            </a:r>
          </a:p>
          <a:p>
            <a:pPr algn="l">
              <a:spcAft>
                <a:spcPts val="9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Бодит цагийн мэдэгдэл</a:t>
            </a:r>
            <a:r>
              <a:rPr sz="1150">
                <a:solidFill>
                  <a:srgbClr val="4A5560"/>
                </a:solidFill>
                <a:latin typeface="Arial"/>
              </a:rPr>
              <a:t> — SSE стрийм, хонх, toast</a:t>
            </a:r>
          </a:p>
          <a:p>
            <a:pPr algn="l">
              <a:spcAft>
                <a:spcPts val="9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Аудит лог</a:t>
            </a:r>
            <a:r>
              <a:rPr sz="1150">
                <a:solidFill>
                  <a:srgbClr val="4A5560"/>
                </a:solidFill>
                <a:latin typeface="Arial"/>
              </a:rPr>
              <a:t> — 36 цэг, IP/төхөөрөмжтэй мөрдлөг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Нэгдсэн дүгнэлт — үр дүн ба давуу тал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548640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150" b="1">
                <a:solidFill>
                  <a:srgbClr val="2A78D6"/>
                </a:solidFill>
                <a:latin typeface="Arial"/>
              </a:rPr>
              <a:t>СИСТЕМ ХИЙГДСЭНЭЭР ГАРСАН ҮР ДҮН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Бүх үе шат цаасан бус, нэгдсэн цахим урсгалд шилжсэн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3 бие даасан үнэлгээ зэрэгцээ, workflow-оор баталгааждаг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Орон зайн тооцоолол автоматжиж, зурган дээр бодит хугацаанд харагдана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Гадны байгууллагууд тусгаарлагдсан порталтай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9 төрлийн албан баримт, Excel тайлан автоматаар үүсдэг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81328"/>
            <a:ext cx="548640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81328"/>
            <a:ext cx="5486400" cy="50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6420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ДАВУУ ТАЛУУД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Цэвэр давхаргажилт — өргөтгөлд тэсвэртэй, тестлэгдэхүйц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Гүн хамгаалалт — 4 давхар эрхийн шалгалт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Workflow тохиргоогоор — процесс өөрчлөгдөхөд код засалтгүй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Бүрэн аудитын мөр — өөрчлөлт бүр түүхтэй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Нээлттэй эхийн стек — лицензийн зардалгүй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Нэмэгдэх боломжууд — эрэмбэлсэн санал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81328"/>
          <a:ext cx="111831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651760"/>
                <a:gridCol w="5760720"/>
                <a:gridCol w="2221992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Чиглэл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Агуулга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Хамрах хэсэг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Файлын бодит хадгалалт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mock файл серверийг S3/MinIO-оор солих (интерфейс бэлэн)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Мэдэгдлийн өргөтгөл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и-мэйл/push суваг; аудит логийн админ дэлгэц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Систем даяар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ДАН / 2FA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төрийн нэгдсэн нэвтрэлт, хоёр шатлалт баталгаажуулалт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Аюулгүй байдал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CI/CD ба E2E тест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автомат build–test–deploy, Playwright тест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Чанар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Мониторинг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OpenTelemetry метрик/лог/trace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Дэд бүтэц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Гүйцэтгэлийн масштаб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Redis кэш, vector tile, read replica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DB / GIS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Мобайл клиент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хээрийн судалгааны ажилтанд зориулсан апп (API бэлэн)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Шинэ бүтээгдэхүүн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Гадаад интеграци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кадастр, ХУР зэрэг системтэй өгөгдөл солилцоо, webhook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91440" cy="13716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33172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БАЯРЛАЛАА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B9CADC"/>
                </a:solidFill>
                <a:latin typeface="Arial"/>
              </a:rPr>
              <a:t>Газар чөлөөлөлт, нөхөх олговрын нэгдсэн систем — Техникийн тайлан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3949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government-frontend (Next.js)  ·  government (Go API)  ·  PostgreSQL + PostGIS  ·  GeoServer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B9CADC"/>
                </a:solidFill>
                <a:latin typeface="Arial"/>
              </a:rPr>
              <a:t>2026-07-16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