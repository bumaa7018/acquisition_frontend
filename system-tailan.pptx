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1" r:id="rId22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21040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21040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0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70848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70848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70848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20656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20656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0656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70463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70463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70463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20272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320272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20272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20656" y="1389888"/>
            <a:ext cx="640080" cy="6400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0848" y="2139696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320272" y="640080"/>
            <a:ext cx="640080" cy="6400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1481328"/>
            <a:ext cx="91440" cy="235915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148132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2C0CE"/>
                </a:solidFill>
                <a:latin typeface="Arial"/>
              </a:rPr>
              <a:t>СИСТЕМ ХӨГЖҮҮЛЭЛТИЙН ТЕХНИКИЙН ТАЙЛАН  ·  ЭЦСИЙН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1920240"/>
            <a:ext cx="7223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Газар чөлөөлөлт,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FFFFFF"/>
                </a:solidFill>
                <a:latin typeface="Arial"/>
              </a:rPr>
              <a:t>нөхөх олговрын нэгдсэн систем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054096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ADC"/>
                </a:solidFill>
                <a:latin typeface="Arial"/>
              </a:rPr>
              <a:t>Газрын удирдлагын нэгдсэн мэдээллийн системд (ГУС) суурилсан — төлөвлөгөө батлагдахаас нөхөх олговор олгож газар чөлөөлөх хүртэлх бүх үе шатыг нэг цахим урсгалд хяналттай удирдана.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3968496"/>
            <a:ext cx="4069080" cy="47548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08736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62 / 62 АЖИЛ БҮРЭН ХИЙГДСЭН  ·  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5212080"/>
            <a:ext cx="12191695" cy="10972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4864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2C0CE"/>
                </a:solidFill>
                <a:latin typeface="Arial"/>
              </a:rPr>
              <a:t>287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961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9CADC"/>
                </a:solidFill>
                <a:latin typeface="Arial"/>
              </a:rPr>
              <a:t>REST API үйлдэл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54864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2C0CE"/>
                </a:solidFill>
                <a:latin typeface="Arial"/>
              </a:rPr>
              <a:t>89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5961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9CADC"/>
                </a:solidFill>
                <a:latin typeface="Arial"/>
              </a:rPr>
              <a:t>өгөгдлийн хүснэгт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4864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2C0CE"/>
                </a:solidFill>
                <a:latin typeface="Arial"/>
              </a:rPr>
              <a:t>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961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9CADC"/>
                </a:solidFill>
                <a:latin typeface="Arial"/>
              </a:rPr>
              <a:t>вэб хуудас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54864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2C0CE"/>
                </a:solidFill>
                <a:latin typeface="Arial"/>
              </a:rPr>
              <a:t>601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5961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9CADC"/>
                </a:solidFill>
                <a:latin typeface="Arial"/>
              </a:rPr>
              <a:t>автомат тест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84448" y="5559552"/>
            <a:ext cx="10972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81928" y="5559552"/>
            <a:ext cx="10972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79408" y="5559552"/>
            <a:ext cx="10972" cy="77724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6355080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9CADC"/>
                </a:solidFill>
                <a:latin typeface="Arial"/>
              </a:rPr>
              <a:t>2026-09-13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Агуулга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Ерөнхий мэдээлэл → архитектур, технологи → үйл ажиллагаа → биелэлт, дүгнэлт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64207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157276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Системийн ерөнхий мэдээлэл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82880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юу хийдэг систем · гол тоон үзүүлэлт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57984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322576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323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2340864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Системийн архитектур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2596896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4 давхарга · үүрэг хуваарилалт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26080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90672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20040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310896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Технологийн стек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364991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вэб · сервер · дэд бүтэц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94176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858768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6849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" y="3877055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Мэдээллийн сангийн бүтэц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4133087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89 хүснэгт · дизайны шийдлүүд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462272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626864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73659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4645151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API интерфейс ба гадаад гарц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" y="4901183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287 үйлдэл · портал · нээлттэй гарц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230368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394960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5046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541324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Аюулгүй байдал, эрхийн удирдлага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66928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JWT · 4 давхар шалгалт · 6 роль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998464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24447" y="1554480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4447" y="1664207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91375" y="157276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Роль тус бүрийн цэсний хандалт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91375" y="182880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эрхийн матриц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24447" y="2157984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24447" y="2322576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24447" y="243230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1375" y="2340864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Функциональ модулиуд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1375" y="2596896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16 багц · 35 дэлгэц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24447" y="2926080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24447" y="3090672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4447" y="320040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91375" y="310896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Ажлын гол урсгал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91375" y="3364991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төлөвлөгөөнөөс чөлөөлөлт хүртэл 7 алхам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24447" y="3694176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24447" y="3858768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24447" y="396849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91375" y="3877055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Ажлын даалгаврын биелэлт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1375" y="4133087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62 / 62 ажил — 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4447" y="4462272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4447" y="4626864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24447" y="473659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1375" y="4645151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Даалгавраас гадуур хийгдсэн ажлууд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91375" y="4901183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нэмэлт 12 хэрэгжилт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24447" y="5230368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24447" y="5394960"/>
            <a:ext cx="420624" cy="42062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24447" y="550468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2C0CE"/>
                </a:solidFill>
                <a:latin typeface="Arial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91375" y="5413248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2440"/>
                </a:solidFill>
                <a:latin typeface="Arial"/>
              </a:rPr>
              <a:t>Нэгдсэн дүгнэлт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91375" y="566928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үр дүн ба давуу тал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24447" y="5998464"/>
            <a:ext cx="5272887" cy="9144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Системийн ерөнхий мэдээлэл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Бүх үзүүлэлт эх кодоос шууд тоологдсон  ·  2026-09-13-ны байдлаар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1118585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554480"/>
            <a:ext cx="45720" cy="786384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91639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5560"/>
                </a:solidFill>
                <a:latin typeface="Arial"/>
              </a:rPr>
              <a:t>Систем нь дөрвөн хэсгээс бүтнэ — хөтөч дээр харагдах </a:t>
            </a:r>
            <a:r>
              <a:rPr sz="1150" b="1" i="0">
                <a:solidFill>
                  <a:srgbClr val="0E2440"/>
                </a:solidFill>
                <a:latin typeface="Arial"/>
              </a:rPr>
              <a:t>вэб хуудас</a:t>
            </a:r>
            <a:r>
              <a:rPr sz="1150" b="0" i="0">
                <a:solidFill>
                  <a:srgbClr val="4A5560"/>
                </a:solidFill>
                <a:latin typeface="Arial"/>
              </a:rPr>
              <a:t>, ард нь дүрэм шалгаж ажилладаг </a:t>
            </a:r>
            <a:r>
              <a:rPr sz="1150" b="1" i="0">
                <a:solidFill>
                  <a:srgbClr val="0E2440"/>
                </a:solidFill>
                <a:latin typeface="Arial"/>
              </a:rPr>
              <a:t>сервер</a:t>
            </a:r>
            <a:r>
              <a:rPr sz="1150" b="0" i="0">
                <a:solidFill>
                  <a:srgbClr val="4A5560"/>
                </a:solidFill>
                <a:latin typeface="Arial"/>
              </a:rPr>
              <a:t>, бүх мэдээллийг хадгалдаг </a:t>
            </a:r>
            <a:r>
              <a:rPr sz="1150" b="1" i="0">
                <a:solidFill>
                  <a:srgbClr val="0E2440"/>
                </a:solidFill>
                <a:latin typeface="Arial"/>
              </a:rPr>
              <a:t>өгөгдлийн сан</a:t>
            </a:r>
            <a:r>
              <a:rPr sz="1150" b="0" i="0">
                <a:solidFill>
                  <a:srgbClr val="4A5560"/>
                </a:solidFill>
                <a:latin typeface="Arial"/>
              </a:rPr>
              <a:t>, талбаруудыг зурагладаг </a:t>
            </a:r>
            <a:r>
              <a:rPr sz="1150" b="1" i="0">
                <a:solidFill>
                  <a:srgbClr val="0E2440"/>
                </a:solidFill>
                <a:latin typeface="Arial"/>
              </a:rPr>
              <a:t>газрын зургийн үйлчилгээ</a:t>
            </a:r>
            <a:r>
              <a:rPr sz="1150" b="0" i="0">
                <a:solidFill>
                  <a:srgbClr val="4A5560"/>
                </a:solidFill>
                <a:latin typeface="Arial"/>
              </a:rPr>
              <a:t>. Газар чөлөөлөх ажлыг төлөвлөгөө батлагдахаас нөхөх олговор олгож чөлөөлөх хүртэл нэг хяналттай цахим урсгалд явуулна.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87168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" y="2633472"/>
            <a:ext cx="45720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2761487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2C0CE"/>
                </a:solidFill>
                <a:latin typeface="Arial"/>
              </a:rPr>
              <a:t>287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108960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REST API үйлдэл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32735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/api/v1 · Swagger-ээр баримтжсан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5959" y="2487168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2263" y="2633472"/>
            <a:ext cx="457200" cy="4114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2263" y="2761487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E2440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2263" y="3108960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Өгөгдлийн сангийн хүснэгт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2263" y="32735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бизнес 69 + хэрэглэгч, ХН 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68999" y="2487168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5303" y="2633472"/>
            <a:ext cx="457200" cy="4114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5303" y="2761487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E2440"/>
                </a:solidFill>
                <a:latin typeface="Arial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03" y="3108960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Вэб хуудас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303" y="32735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+ 16 дотоод API маршрут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2039" y="2487168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8343" y="2633472"/>
            <a:ext cx="457200" cy="4114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8343" y="2761487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E2440"/>
                </a:solidFill>
                <a:latin typeface="Arial"/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8343" y="3108960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Газрын зургийн давхарга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8343" y="32735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1 нь гадагш нээлттэй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59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" y="3712463"/>
            <a:ext cx="4572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40479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A78D6"/>
                </a:solidFill>
                <a:latin typeface="Arial"/>
              </a:rPr>
              <a:t>601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41879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Автомат тест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4352544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сервер 533 · вэб 68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35959" y="3566159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82263" y="3712463"/>
            <a:ext cx="457200" cy="4114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82263" y="3840479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E2440"/>
                </a:solidFill>
                <a:latin typeface="Arial"/>
              </a:rPr>
              <a:t>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82263" y="41879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Баримт, тайлангийн загвар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82263" y="4352544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19 маягт + 4 тайлан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68999" y="3566159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15303" y="3712463"/>
            <a:ext cx="457200" cy="4114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5303" y="3840479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E2440"/>
                </a:solidFill>
                <a:latin typeface="Arial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5303" y="41879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Хэрэглэгчийн роль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15303" y="4352544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+ үнэлгээний байгууллагын портал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02039" y="3566159"/>
            <a:ext cx="2686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8343" y="3712463"/>
            <a:ext cx="457200" cy="4114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8343" y="3840479"/>
            <a:ext cx="239412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E8345"/>
                </a:solidFill>
                <a:latin typeface="Arial"/>
              </a:rPr>
              <a:t>~100К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8343" y="4187951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Кодын мөр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8343" y="4352544"/>
            <a:ext cx="23941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Go 46.6К + TypeScript 53.7К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00016"/>
            <a:ext cx="363108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700016"/>
            <a:ext cx="45720" cy="10789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4088" y="4846320"/>
            <a:ext cx="326532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ҮР ДҮН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120640"/>
            <a:ext cx="326532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560"/>
                </a:solidFill>
                <a:latin typeface="Arial"/>
              </a:rPr>
              <a:t>Төлөвлөгөөнөөс нөхөх олговор хүртэлх бүх үе шат цаасан бус, нэг хяналттай цахим урсгалд шилжсэн.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80306" y="4700016"/>
            <a:ext cx="363108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80306" y="4700016"/>
            <a:ext cx="45720" cy="107899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1474" y="4846320"/>
            <a:ext cx="326532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8345"/>
                </a:solidFill>
                <a:latin typeface="Arial"/>
              </a:rPr>
              <a:t>ДАВУУ ТАЛ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81474" y="5120640"/>
            <a:ext cx="326532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560"/>
                </a:solidFill>
                <a:latin typeface="Arial"/>
              </a:rPr>
              <a:t>ГУС-ийн нэгдсэн бүртгэл, кадастр, үнэлгээний өгөгдөл дээр шууд суурилсан тул мэдээлэл давхардахгүй, нэг эх сурвалжтай.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57692" y="4700016"/>
            <a:ext cx="363108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57692" y="4700016"/>
            <a:ext cx="45720" cy="107899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58860" y="4846320"/>
            <a:ext cx="326532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ХАМРАХ ХҮРЭЭ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58860" y="5120640"/>
            <a:ext cx="326532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560"/>
                </a:solidFill>
                <a:latin typeface="Arial"/>
              </a:rPr>
              <a:t>Дотоод 6 роль, үнэлгээний байгууллагууд, ГУС-ийн 5 дэд систем, УБЕГ, ТЕГ, ШШГЕГ, E-Mongolia.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Системийн архитектур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Давхарга бүр тодорхой үүрэгтэй — Clean Architecture зарчмаар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7939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554480"/>
            <a:ext cx="45720" cy="969264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" y="1828800"/>
            <a:ext cx="603504" cy="402336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920240"/>
            <a:ext cx="603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173736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2440"/>
                </a:solidFill>
                <a:latin typeface="Arial"/>
              </a:rPr>
              <a:t>Вэб апп — Next.js 14 (App Router)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029967"/>
            <a:ext cx="67052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35 хуудас · газрын зургийн прокси · SSE Excel тайлан · DOCX/PDF загвар · React Query кэш · OpenLayers зураг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9907" y="2487168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29A"/>
                </a:solidFill>
                <a:latin typeface="Arial"/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33472"/>
            <a:ext cx="7939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45720" cy="9692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" y="2907791"/>
            <a:ext cx="603504" cy="40233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999232"/>
            <a:ext cx="603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2816352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2440"/>
                </a:solidFill>
                <a:latin typeface="Arial"/>
              </a:rPr>
              <a:t>REST сервер — Go 1.25 / 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2184" y="3108960"/>
            <a:ext cx="67052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Handler → Service → Repository 3 давхарга · JWT, эрх, хуваарилалт, түгжээ, rate-limit · Swagger баримт · 287 үйлдэл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9907" y="3566159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29A"/>
                </a:solidFill>
                <a:latin typeface="Arial"/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712463"/>
            <a:ext cx="7939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712463"/>
            <a:ext cx="45720" cy="969264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4088" y="3986783"/>
            <a:ext cx="603504" cy="402336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078224"/>
            <a:ext cx="603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72184" y="3895344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2440"/>
                </a:solidFill>
                <a:latin typeface="Arial"/>
              </a:rPr>
              <a:t>PostgreSQL 16 — хоёр сан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72184" y="4187952"/>
            <a:ext cx="67052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Бизнесийн сан (69 хүснэгт, PostGIS геометр, 11 GIS харагдац) + хэрэглэгч, хүний нөөцийн сан (19 хүснэгт, ГУС-ийн схем)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9907" y="4645151"/>
            <a:ext cx="365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29A"/>
                </a:solidFill>
                <a:latin typeface="Arial"/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91455"/>
            <a:ext cx="793973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791455"/>
            <a:ext cx="45720" cy="96926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4088" y="5065775"/>
            <a:ext cx="603504" cy="402336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" y="5157216"/>
            <a:ext cx="603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GIS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72184" y="4974336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2440"/>
                </a:solidFill>
                <a:latin typeface="Arial"/>
              </a:rPr>
              <a:t>GeoServer 2.25 — WMS / WFS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2184" y="5266944"/>
            <a:ext cx="67052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16 давхарга: захиргааны нэгж, төлөвлөгөө, чөлөөлөлтийн хил, талбарын статус s0–s5, зөвшилцсөн зураг · CQL шүүлт · 1 нь нээлттэй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79815" y="155448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КОДЫН ХЭМЖЭЭ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79815" y="1773936"/>
            <a:ext cx="310896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79815" y="1938528"/>
            <a:ext cx="3108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79815" y="1938528"/>
            <a:ext cx="45720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2695" y="20482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78D6"/>
                </a:solidFill>
                <a:latin typeface="Arial"/>
              </a:rPr>
              <a:t>46 644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62695" y="230428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29A"/>
                </a:solidFill>
                <a:latin typeface="Arial"/>
              </a:rPr>
              <a:t>Сервер (Go) · 153 файл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9815" y="2633472"/>
            <a:ext cx="3108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79815" y="2633472"/>
            <a:ext cx="45720" cy="603504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62695" y="27432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2C0CE"/>
                </a:solidFill>
                <a:latin typeface="Arial"/>
              </a:rPr>
              <a:t>53 671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2695" y="299923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29A"/>
                </a:solidFill>
                <a:latin typeface="Arial"/>
              </a:rPr>
              <a:t>Вэб (TypeScript) · 182 файл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9815" y="343814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ЯАГААД ИЙМ БҮТЭЦТЭЙ ВЭ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79815" y="3657600"/>
            <a:ext cx="310896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79815" y="3822191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Давхарга тусдаа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өргөтгөл, засварт тэсвэртэй; багууд зэрэг хөгжүүлнэ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Хэрэглэгчийн сан салангид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нууц мэдээлэл бизнес өгөгдлөөс тусгаарлагдсан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ORM-гүй (pgx)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SQL-ийн бүрэн хяналт, өндөр гүйцэтгэл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Тооцоолол сан дотор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давхцал, талбай — үнэн зөвийн нэг эх сурвалж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Docker + compose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бүтэн орчин нэг командаар босно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Технологийн стек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Бүрэн нээлттэй эхийн, лицензийн зардалгүй, дэлхийд өргөн хэрэглэгддэг технологиуд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358231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554480"/>
            <a:ext cx="3582314" cy="329184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636776"/>
            <a:ext cx="32897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ВЭБ — 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0299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Next.js 14 · React 18 · TS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2212848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App Router, серверийн рендер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5328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Radix UI + Tailwind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715768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хүртээмжтэй UI, бараан горим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03580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React Query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2186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сервер өгөгдлийн кэш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353872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react-hook-form + zod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72160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маягт, төрөлтэй валидаци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04164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OpenLayers 10 · Cesium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22452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2D/3D интерактив газрын зураг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5445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exceljs · SheetJS · pdf-lib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472744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Excel импорт/экспорт, 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0474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docxtemplater · pdfmake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52303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DOCX албан маягт, PDF мэдэгдэл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4690" y="1554480"/>
            <a:ext cx="358231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4690" y="1554480"/>
            <a:ext cx="3582314" cy="3291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0994" y="1636776"/>
            <a:ext cx="32897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СЕРВЕР — BACKEND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9282" y="20299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Go 1.25 · Gin 1.10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9282" y="2212848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HTTP framework, өндөр хурд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9282" y="25328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pgx/v5 (ORM-гүй)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282" y="2715768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шууд SQL — гүйцэтгэлийн хяналт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9282" y="303580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golang-jwt/v5 · bcrypt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9282" y="32186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нэвтрэлт, нууц үгийн хэшлэлт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9282" y="353872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golang-migrate/v4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9282" y="372160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сангийн бүтцийн автомат хувилбарлалт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69282" y="404164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swaggo/swag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9282" y="422452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Swagger баримтжуулалт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9282" y="45445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testify + mock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69282" y="472744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давхаргажсан unit тест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9282" y="50474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Өөрсдөө бичсэн shapefile уншигч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9282" y="52303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ESRI .shp → WKT, гадны сангүй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06460" y="1554480"/>
            <a:ext cx="358231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06460" y="1554480"/>
            <a:ext cx="3582314" cy="329184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52764" y="1636776"/>
            <a:ext cx="328970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ДЭД БҮТЭЦ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1052" y="20299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PostgreSQL 16 + PostGIS 3.4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1052" y="2212848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реляц + орон зайн сан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1052" y="25328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GeoServer 2.25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1052" y="2715768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WMS/WFS үйлчилгээ, SLD загвар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1052" y="303580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MinIO (S3)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1052" y="32186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бүх файлын нэгдсэн хадгалалт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1052" y="353872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Docker + compose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1052" y="372160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контейнержуулалт, ижил орчин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1052" y="404164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SMTP · E-Mongolia · ХУР (XYP)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1052" y="422452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гадаад хүргэлт, лавлагааны гарц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1052" y="45445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systemd · Makefile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1052" y="472744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байршуулалт, автоматжуулсан командууд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1052" y="504748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E2440"/>
                </a:solidFill>
                <a:latin typeface="Arial"/>
              </a:rPr>
              <a:t>Nginx урд прокси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1052" y="5230367"/>
            <a:ext cx="325313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TLS, статик файл, урсгал хуваарилалт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74243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5560"/>
                </a:solidFill>
                <a:latin typeface="Arial"/>
              </a:rPr>
              <a:t>Бүх бүрэлдэхүүн нээлттэй эхийн бөгөөд идэвхтэй хөгжиж буй тул урт хугацаанд найдвартай, лицензийн төлбөргүй, нийлүүлэгчээс хараат бус.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Мэдээллийн сангийн бүтэц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Бизнесийн сан 69 хүснэгт (PostGIS) + хэрэглэгч, хүний нөөцийн сан 19 хүснэгт ·  11 GIS харагдац  ·  30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69796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БИЗНЕСИЙН САНГИЙН ХҮСНЭГТ — ДОМЭЙНЭЭР (69)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697961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93392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Нэгж талбар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62072" y="2007108"/>
            <a:ext cx="4327855" cy="182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3079" y="199339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08860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Газар чөлөөлөлт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62072" y="2322576"/>
            <a:ext cx="2545797" cy="182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1021" y="23088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24327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Үнэлгээ, олговор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62072" y="2638044"/>
            <a:ext cx="2545797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1021" y="262432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939795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Лавлах, тохиргоо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62072" y="2953511"/>
            <a:ext cx="2545797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1021" y="2939795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255263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Захирамжийн төсөл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62072" y="3268979"/>
            <a:ext cx="1527478" cy="182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702" y="3255263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570731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Аюулгүй байдал, байгууллага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62072" y="3584447"/>
            <a:ext cx="1272898" cy="182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8122" y="357073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886199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Захиргааны нэгж, GIS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2072" y="3899915"/>
            <a:ext cx="1018318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53542" y="3886199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201667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Мэдэгдэл, аудит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2072" y="4215383"/>
            <a:ext cx="1018318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53542" y="420166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517135"/>
            <a:ext cx="2240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Баримт, эзэмшигч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62072" y="4530851"/>
            <a:ext cx="763739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98963" y="4517135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905755"/>
            <a:ext cx="6979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29A"/>
                </a:solidFill>
                <a:latin typeface="Arial"/>
              </a:rPr>
              <a:t>Хэрэглэгч, эрх, хүний нөөцийн сан (ГУС-ийн схем): 19 хүснэгт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5415" y="155448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ОНЦЛОХ ДИЗАЙНЫ ШИЙДЛҮҮД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65415" y="1773936"/>
            <a:ext cx="402336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65415" y="19751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Газарзүйн багана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хил, давхцал, чөлөөлөх талбайг сан өөрөө UTM-ээр бодно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3 зэрэгцээ үнэлгээний урсгал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хөрөнгийн · хөндлөнгийн · 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Бүрэн түүхжүүлэлт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статус, хил, олговор, үнэлгээ бүр түүхийн хүснэгттэй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Цуцлалтын архив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хүчингүй болсон үнэлгээ бүтнээрээ хадгалагдана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SHA-256 дедупликаци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нэг Excel хоёр удаа орохоос сэргийлнэ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Token удирдлага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хүчингүйжүүлэх жагсаалт + session epoch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Хатуу устгалгүй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хүн, ажилтны бүртгэл идэвхгүй болно, устдаггүй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API интерфейс ба гадаад гарц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/api/v1 суурьтай 287 REST үйлдэл  ·  бүгд Swagger-ээр баримтжсан  ·  маршрутаас шууд тоологдсон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67510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ҮЙЛДЛҮҮД — БҮЛГЭЭР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675101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933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Газар чөлөөлөлт, талбар, үнэлгээ, олговор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93591" y="2007108"/>
            <a:ext cx="3367735" cy="1828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4479" y="199339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Мэргэжлийн байгууллагын портал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93591" y="2363724"/>
            <a:ext cx="1598823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5567" y="2350008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706624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Лавлах, тохиргооны модулиуд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93591" y="2720340"/>
            <a:ext cx="1088560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5304" y="2706624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063240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Нэвтрэлт, мэдэгдэл, тайлан, аудит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93591" y="3076956"/>
            <a:ext cx="1020525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7269" y="306324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9856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Хүний нөөц, байгууллагын бүртгэл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93591" y="3433572"/>
            <a:ext cx="918473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5217" y="341985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77647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Хэрэглэгч, роль, зөвшөөрөл, цэс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93591" y="3790188"/>
            <a:ext cx="884455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1199" y="377647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133087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Захирамжийн төсөл, төсөв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93591" y="4146804"/>
            <a:ext cx="850438" cy="18288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17182" y="413308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489703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Гадны байгууллагын гарц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93591" y="4503420"/>
            <a:ext cx="54864" cy="18288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7" y="4489703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36815" y="1554480"/>
            <a:ext cx="4251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ГАДАГШ НЭЭСЭН 3 СУВАГ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36815" y="1773936"/>
            <a:ext cx="4251960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36815" y="1975104"/>
            <a:ext cx="42519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36815" y="1975104"/>
            <a:ext cx="45720" cy="126187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7983" y="2103120"/>
            <a:ext cx="3886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Мэргэжлийн байгууллагын портал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7983" y="2359152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A78D6"/>
                </a:solidFill>
                <a:latin typeface="Arial"/>
              </a:rPr>
              <a:t>/api/v1/prof/*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7983" y="2596896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47 үйлдэлтэй ТУСГААРЛАГДСАН суваг — байгууллага зөвхөн өөрт оногдсон объектод, өөрийн үнэлгээний урсгалдаа ажиллана.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36815" y="3346704"/>
            <a:ext cx="42519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36815" y="3346704"/>
            <a:ext cx="45720" cy="1261872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7983" y="3474720"/>
            <a:ext cx="3886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Нөхөх олговрын REST API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7983" y="3730752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2C0CE"/>
                </a:solidFill>
                <a:latin typeface="Arial"/>
              </a:rPr>
              <a:t>/api/v1/external/compensations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983" y="3968496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Гадны системд зориулсан API key-тэй гарц (SHA-256) · 120 хүсэлт/мин · нэгж талбар, төлөвлөгөө, төлөвлөгөөний дугаараар 3 хэлбэрийн шүүлт.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36815" y="4718304"/>
            <a:ext cx="42519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436815" y="4718304"/>
            <a:ext cx="45720" cy="1261872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7983" y="4846320"/>
            <a:ext cx="3886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Нээлттэй GIS давхарга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983" y="5102352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8345"/>
                </a:solidFill>
                <a:latin typeface="Arial"/>
              </a:rPr>
              <a:t>land:v_parcel_public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37983" y="5340096"/>
            <a:ext cx="3886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16 давхаргын 1 нь эрх шалгахгүй нээлттэй · WMS/OWS/WFS · зөвхөн унших · QGIS, ArcGIS, Leaflet шууд холбоно.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Аюулгүй байдал, эрхийн удирдлага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JWT нэвтрэлт + нарийвчилсан зөвшөөрөл + объект түвшний хяналт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НЭВТРЭЛТ БА TOKEN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5464911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75104"/>
            <a:ext cx="5464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JWT (HS256)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access 15 мин + refresh 7 хоног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bcrypt хэшлэлт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нууц үг сэргээх — SHA-256 token, 1 цагийн хугацаатай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Token хүчингүйжүүлэлт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revocation list + session epoch — гарсан төхөөрөмж тасарна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resource:action зөвшөөрөл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JWT-д шингэсэн — DB хандалтгүй шалгалт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Хоёр эх сурвалжтай хэрэглэгч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дотоод ажилтан ба байгууллагын ажилтан тусдаа орон зайд — дугаар давхцахгүй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Файлын нэгдсэн гарц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бүх татаж авалт эрх шалгасны дараа хадгалалтаас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863" y="155448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4 ДАВХАР ХАМГААЛАЛТ (MIDDLEWARE)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1773936"/>
            <a:ext cx="5464911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863" y="1975104"/>
            <a:ext cx="5464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1. Зөвшөөрөл / роль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RequirePermission, RequireAnyRole…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2. Хуваарилалт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зөвхөн өөрт оногдсон чөлөөлөлт (эсвэл ахлах)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3. Түгжээ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батлагдсан чөлөөлөлт, үнэлгээг засахаас сэргийлнэ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4. Гишүүнчлэл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байгууллага зөвхөн өөрийн объектод хандана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Үүрэг тусгаарлалт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олговор батлах эрх ЗӨВХӨН санхүүд — админд ч байхгүй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950" b="1" i="0">
                <a:solidFill>
                  <a:srgbClr val="0E2440"/>
                </a:solidFill>
                <a:latin typeface="Arial"/>
              </a:rPr>
              <a:t>Эрх нэмэгдүүлэлтийн хамгаалалт</a:t>
            </a:r>
            <a:r>
              <a:rPr sz="950" b="0" i="0">
                <a:solidFill>
                  <a:srgbClr val="4A5560"/>
                </a:solidFill>
                <a:latin typeface="Arial"/>
              </a:rPr>
              <a:t> — өөрөөсөө дээгүүр роль олгох боломжгүй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864608"/>
            <a:ext cx="11185855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864608"/>
            <a:ext cx="45720" cy="859536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499262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6 РОЛЬ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" y="5266944"/>
            <a:ext cx="1755648" cy="310896"/>
          </a:xfrm>
          <a:prstGeom prst="rect">
            <a:avLst/>
          </a:prstGeom>
          <a:solidFill>
            <a:srgbClr val="E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534009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2440"/>
                </a:solidFill>
                <a:latin typeface="Arial"/>
              </a:rPr>
              <a:t>Админ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5266944"/>
            <a:ext cx="1755648" cy="310896"/>
          </a:xfrm>
          <a:prstGeom prst="rect">
            <a:avLst/>
          </a:prstGeom>
          <a:solidFill>
            <a:srgbClr val="E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534009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2440"/>
                </a:solidFill>
                <a:latin typeface="Arial"/>
              </a:rPr>
              <a:t>Ахлах мэргэжилтэн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5112" y="5266944"/>
            <a:ext cx="1755648" cy="310896"/>
          </a:xfrm>
          <a:prstGeom prst="rect">
            <a:avLst/>
          </a:prstGeom>
          <a:solidFill>
            <a:srgbClr val="E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534009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2440"/>
                </a:solidFill>
                <a:latin typeface="Arial"/>
              </a:rPr>
              <a:t>Мэргэжилтэн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35624" y="5266944"/>
            <a:ext cx="1755648" cy="310896"/>
          </a:xfrm>
          <a:prstGeom prst="rect">
            <a:avLst/>
          </a:prstGeom>
          <a:solidFill>
            <a:srgbClr val="E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5624" y="534009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2440"/>
                </a:solidFill>
                <a:latin typeface="Arial"/>
              </a:rPr>
              <a:t>Мэргэжлийн байгууллага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46136" y="5266944"/>
            <a:ext cx="1755648" cy="310896"/>
          </a:xfrm>
          <a:prstGeom prst="rect">
            <a:avLst/>
          </a:prstGeom>
          <a:solidFill>
            <a:srgbClr val="E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46136" y="534009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2440"/>
                </a:solidFill>
                <a:latin typeface="Arial"/>
              </a:rPr>
              <a:t>МИКА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56648" y="5266944"/>
            <a:ext cx="1755648" cy="310896"/>
          </a:xfrm>
          <a:prstGeom prst="rect">
            <a:avLst/>
          </a:prstGeom>
          <a:solidFill>
            <a:srgbClr val="E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6648" y="534009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2440"/>
                </a:solidFill>
                <a:latin typeface="Arial"/>
              </a:rPr>
              <a:t>Санхүүгийн мэргэжилтэн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Роль тус бүрийн цэсний хандалт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router.go ба access-policy.ts-ээс шууд гаргав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09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11185855" cy="438912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68249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ҮЙЛДЭЛ / ЦЭС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618488"/>
            <a:ext cx="117088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Админ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4329" y="1618488"/>
            <a:ext cx="117088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Ахлах мэргэжилтэн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5218" y="1618488"/>
            <a:ext cx="117088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Мэргэжилтэн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6107" y="1618488"/>
            <a:ext cx="117088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Мэрг. байгууллага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996" y="1618488"/>
            <a:ext cx="117088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МИКА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7886" y="1618488"/>
            <a:ext cx="117088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Санхүү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199339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6039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04825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Хяналтын самбар</a:t>
            </a:r>
          </a:p>
        </p:txBody>
      </p:sp>
      <p:sp>
        <p:nvSpPr>
          <p:cNvPr id="22" name="Oval 21"/>
          <p:cNvSpPr/>
          <p:nvPr/>
        </p:nvSpPr>
        <p:spPr>
          <a:xfrm>
            <a:off x="5196306" y="20871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67195" y="20871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38085" y="20871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08974" y="208711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79863" y="208711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50752" y="208711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226771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253471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" y="232257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Газар чөлөөлөлт</a:t>
            </a:r>
          </a:p>
        </p:txBody>
      </p:sp>
      <p:sp>
        <p:nvSpPr>
          <p:cNvPr id="31" name="Oval 30"/>
          <p:cNvSpPr/>
          <p:nvPr/>
        </p:nvSpPr>
        <p:spPr>
          <a:xfrm>
            <a:off x="5196306" y="236143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7195" y="236143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538085" y="236143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708974" y="236143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79863" y="236143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050752" y="236143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254203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280903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59689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Нэгж талбарын түүх</a:t>
            </a:r>
          </a:p>
        </p:txBody>
      </p:sp>
      <p:sp>
        <p:nvSpPr>
          <p:cNvPr id="40" name="Oval 39"/>
          <p:cNvSpPr/>
          <p:nvPr/>
        </p:nvSpPr>
        <p:spPr>
          <a:xfrm>
            <a:off x="5196306" y="263575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7195" y="263575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538085" y="263575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08517" y="26819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79406" y="26819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50295" y="26819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281635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308335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8" y="287121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Нөхөх олговрын түүх</a:t>
            </a:r>
          </a:p>
        </p:txBody>
      </p:sp>
      <p:sp>
        <p:nvSpPr>
          <p:cNvPr id="49" name="Oval 48"/>
          <p:cNvSpPr/>
          <p:nvPr/>
        </p:nvSpPr>
        <p:spPr>
          <a:xfrm>
            <a:off x="5196306" y="291007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67195" y="291007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538085" y="291007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08517" y="295625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79406" y="295625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050752" y="291007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309067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335767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2648" y="314553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Захирамжийн төсөл</a:t>
            </a:r>
          </a:p>
        </p:txBody>
      </p:sp>
      <p:sp>
        <p:nvSpPr>
          <p:cNvPr id="58" name="Oval 57"/>
          <p:cNvSpPr/>
          <p:nvPr/>
        </p:nvSpPr>
        <p:spPr>
          <a:xfrm>
            <a:off x="5196306" y="318439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367195" y="318439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538085" y="318439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708517" y="32305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79406" y="32305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050295" y="32305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336499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363199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648" y="341985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Газрын зураг</a:t>
            </a:r>
          </a:p>
        </p:txBody>
      </p:sp>
      <p:sp>
        <p:nvSpPr>
          <p:cNvPr id="67" name="Oval 66"/>
          <p:cNvSpPr/>
          <p:nvPr/>
        </p:nvSpPr>
        <p:spPr>
          <a:xfrm>
            <a:off x="5196306" y="34587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67195" y="34587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538085" y="34587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08517" y="35048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9406" y="35048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050295" y="35048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63931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2920" y="390631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" y="369417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Тайлан</a:t>
            </a:r>
          </a:p>
        </p:txBody>
      </p:sp>
      <p:sp>
        <p:nvSpPr>
          <p:cNvPr id="76" name="Oval 75"/>
          <p:cNvSpPr/>
          <p:nvPr/>
        </p:nvSpPr>
        <p:spPr>
          <a:xfrm>
            <a:off x="5196306" y="373303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67195" y="373303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538085" y="373303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08517" y="37792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879406" y="37792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050295" y="37792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2920" y="391363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2920" y="418063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2648" y="396849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Миний чөлөөлөлтүүд (портал)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195849" y="40535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66738" y="40535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537627" y="40535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708974" y="400735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879863" y="400735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050295" y="40535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02920" y="418795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2920" y="445495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2648" y="424281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Удирдлага → Хэрэглэгчид</a:t>
            </a:r>
          </a:p>
        </p:txBody>
      </p:sp>
      <p:sp>
        <p:nvSpPr>
          <p:cNvPr id="94" name="Oval 93"/>
          <p:cNvSpPr/>
          <p:nvPr/>
        </p:nvSpPr>
        <p:spPr>
          <a:xfrm>
            <a:off x="5196306" y="428167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67195" y="428167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537627" y="432785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708517" y="432785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879406" y="432785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1050295" y="432785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02920" y="446227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02920" y="472927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2648" y="451713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Удирдлага → Эрх, роль</a:t>
            </a:r>
          </a:p>
        </p:txBody>
      </p:sp>
      <p:sp>
        <p:nvSpPr>
          <p:cNvPr id="103" name="Oval 102"/>
          <p:cNvSpPr/>
          <p:nvPr/>
        </p:nvSpPr>
        <p:spPr>
          <a:xfrm>
            <a:off x="5196306" y="455599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66738" y="46021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537627" y="46021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708517" y="46021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79406" y="46021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50295" y="460217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02920" y="473659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02920" y="500359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2648" y="479145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Удирдлага → Хүний нөөц</a:t>
            </a:r>
          </a:p>
        </p:txBody>
      </p:sp>
      <p:sp>
        <p:nvSpPr>
          <p:cNvPr id="112" name="Oval 111"/>
          <p:cNvSpPr/>
          <p:nvPr/>
        </p:nvSpPr>
        <p:spPr>
          <a:xfrm>
            <a:off x="5196306" y="483031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367195" y="483031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537627" y="48764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708517" y="48764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79406" y="48764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1050295" y="487649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02920" y="501091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02920" y="527791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12648" y="506577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Тохиргооны лавлахууд</a:t>
            </a:r>
          </a:p>
        </p:txBody>
      </p:sp>
      <p:sp>
        <p:nvSpPr>
          <p:cNvPr id="121" name="Oval 120"/>
          <p:cNvSpPr/>
          <p:nvPr/>
        </p:nvSpPr>
        <p:spPr>
          <a:xfrm>
            <a:off x="5196306" y="510463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367195" y="510463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537627" y="51508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708517" y="51508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879406" y="51508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050295" y="515081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02920" y="5285231"/>
            <a:ext cx="11185855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02920" y="5552236"/>
            <a:ext cx="11185855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2648" y="5340095"/>
            <a:ext cx="39410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E2440"/>
                </a:solidFill>
                <a:latin typeface="Arial"/>
              </a:rPr>
              <a:t>Аудит лог</a:t>
            </a:r>
          </a:p>
        </p:txBody>
      </p:sp>
      <p:sp>
        <p:nvSpPr>
          <p:cNvPr id="130" name="Oval 129"/>
          <p:cNvSpPr/>
          <p:nvPr/>
        </p:nvSpPr>
        <p:spPr>
          <a:xfrm>
            <a:off x="5196306" y="5378957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367195" y="5378957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537627" y="54251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708517" y="54251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79406" y="54251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050295" y="5425135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0" y="5687567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29A"/>
                </a:solidFill>
                <a:latin typeface="Arial"/>
              </a:rPr>
              <a:t>Мэргэжлийн байгууллага, МИКА, санхүү нь дотоод цэсний оронд өөрийн хамрах хүрээний дэлгэцүүдийг хардаг. Ахлах мэргэжилтэн хэрэглэгчийн бүртгэлийг ЗӨВХӨН харна (users:read).</a:t>
            </a:r>
          </a:p>
        </p:txBody>
      </p:sp>
      <p:sp>
        <p:nvSpPr>
          <p:cNvPr id="137" name="Oval 136"/>
          <p:cNvSpPr/>
          <p:nvPr/>
        </p:nvSpPr>
        <p:spPr>
          <a:xfrm>
            <a:off x="514350" y="6073901"/>
            <a:ext cx="105156" cy="105156"/>
          </a:xfrm>
          <a:prstGeom prst="ellipse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85800" y="6044183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бүрэн эрх</a:t>
            </a:r>
          </a:p>
        </p:txBody>
      </p:sp>
      <p:sp>
        <p:nvSpPr>
          <p:cNvPr id="139" name="Oval 138"/>
          <p:cNvSpPr/>
          <p:nvPr/>
        </p:nvSpPr>
        <p:spPr>
          <a:xfrm>
            <a:off x="2205990" y="6073901"/>
            <a:ext cx="105156" cy="10515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377440" y="6044183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нөхцөлтэй / хязгаартай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897172" y="6120079"/>
            <a:ext cx="106070" cy="12801"/>
          </a:xfrm>
          <a:prstGeom prst="rect">
            <a:avLst/>
          </a:prstGeom>
          <a:solidFill>
            <a:srgbClr val="C3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69080" y="6044183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хандахгүй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Функциональ модулиуд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35 вэб хуудас  ·  16 багц модуль — үндсэн үйл ажиллагаа, тохиргоо, удирдлага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554480"/>
            <a:ext cx="2686735" cy="4572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719072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Хяналтын самбар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2048256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нэгтгэл, шүүлт, газрын зураг, ролиор хязгаарласан хамрах хүрээ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5959" y="1554480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5959" y="1554480"/>
            <a:ext cx="2686735" cy="4572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2263" y="1719072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Газар чөлөөлөлт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2263" y="2048256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shapefile хил, ангилал, явцын урсгал, хилийн түүх, санхүүжилт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8999" y="1554480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8999" y="1554480"/>
            <a:ext cx="2686735" cy="4572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5303" y="1719072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Нэгж талбар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5303" y="2048256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эзэмшигч, статус + түүх, баримт, барьцаа, төлбөр, дрон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2039" y="1554480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2039" y="1554480"/>
            <a:ext cx="2686735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8343" y="1719072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Үнэлгээ — 3 урсгал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8343" y="2048256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хөрөнгийн / хөндлөнгийн / МИКА · илгээх → батлах → цуцлах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596896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2596896"/>
            <a:ext cx="2686735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2761488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Байгууламж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3090672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тохируулгат хийц, тооцооллын үзүүлэлт, зураг →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5959" y="2596896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35959" y="2596896"/>
            <a:ext cx="2686735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82263" y="2761488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Excel импорт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2263" y="3090672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хөтөч дотор задлан, SHA-256 давхардлын шалгалт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8999" y="2596896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68999" y="2596896"/>
            <a:ext cx="2686735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5303" y="2761488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Нөхөх олговор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303" y="3090672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батлах/татгалзах, гэрээ, төлбөрийн гүйцэтгэл, архив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2039" y="2596896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02039" y="2596896"/>
            <a:ext cx="2686735" cy="4572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8343" y="2761488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Захирамжийн төсөл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8343" y="3090672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талбар холбох, төсөв, ажлын төрөл, DOCX/XLSX гаралт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639311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639311"/>
            <a:ext cx="2686735" cy="4572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" y="3803903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Нийгэм, эдийн засгийн судалгаа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4133087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зөвшөөрсөн/татгалзсан тоо, нэгтгэсэн PDF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35959" y="3639311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35959" y="3639311"/>
            <a:ext cx="2686735" cy="45720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82263" y="3803903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Мэдэгдэх хуудас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82263" y="4133087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PDF үүсгэж имэйл, E-Mongolia-гаар хүргүүлэх, түүхтэй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8999" y="3639311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68999" y="3639311"/>
            <a:ext cx="2686735" cy="4572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5303" y="3803903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Газрын зураг (GIS)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5303" y="4133087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WMS/WFS давхарга, статусын өнгө, CQL шүүлт, хэвлэх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2039" y="3639311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002039" y="3639311"/>
            <a:ext cx="2686735" cy="4572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8343" y="3803903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Тайлан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8343" y="4133087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SSE стрийм Excel, ГЧХ-2 ажлын мэдээ, чөлөөлөлтийн тайлан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681728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" y="4681728"/>
            <a:ext cx="2686735" cy="4572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9224" y="4846320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Эх хэвлэл (DOCX/XLSX)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9224" y="5175504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19 албан маягт мэдээллээ автоматаар бөглөнө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35959" y="4681728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5959" y="4681728"/>
            <a:ext cx="2686735" cy="4572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82263" y="4846320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Мэдэгдэл ба аудит лог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2263" y="5175504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10 үйл явдлын мэдэгдэл, 54 бүртгэх цэгийн мөрдлөг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68999" y="4681728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68999" y="4681728"/>
            <a:ext cx="2686735" cy="4572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5303" y="4846320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Мэрг. байгууллагын портал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15303" y="5175504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тусгаарлагдсан 47 үйлдэл, өөрийн объект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02039" y="4681728"/>
            <a:ext cx="2686735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002039" y="4681728"/>
            <a:ext cx="2686735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8343" y="4846320"/>
            <a:ext cx="2394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Тохиргоо, хүний нөөц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8343" y="5175504"/>
            <a:ext cx="23941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9A"/>
                </a:solidFill>
                <a:latin typeface="Arial"/>
              </a:rPr>
              <a:t>статус, ангилал, урсгал, ажилтан — кодгүй удирдлага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58155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29A"/>
                </a:solidFill>
                <a:latin typeface="Arial"/>
              </a:rPr>
              <a:t>Хуудасны бүтэц: үндсэн үйл ажиллагаа 13 · тохиргоо, лавлах 12 · хэрэглэгч, эрх, хүний нөөц 8 · системийн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Газар чөлөөлөлтийн гол урсгал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Төлөвлөгөө батлагдахаас газар чөлөөлөх хүртэл — систем дэх бодит дараалал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" y="1691639"/>
            <a:ext cx="329184" cy="329184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755648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17373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Төлөвлөгөө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1700784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ГУС-ийн жилийн төлөвлөгөөний зөвшилцсөн давхаргаас ангиллаар нь татаж чөлөөлөлт үүсгэнэ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" y="2350008"/>
            <a:ext cx="329184" cy="329184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414016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" y="239572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Нэгж талбар тодорхойлох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2359152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Хилийн дотор орох талбаруудыг кадастраас олж, давхцал ба чөлөөлөх талбайг PostGIS-ээр бодно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71215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" y="3008375"/>
            <a:ext cx="329184" cy="3291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3072384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" y="3054096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Судалгаа, мэдэгдэл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017520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Эзэмшигч, өмчлөл (УБЕГ), барьцаа, татвар, шүүхийн шийдвэр татагдаж, мэдэгдэх хуудас имэйл/E-Mongolia-гаар хүрнэ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29583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" y="3666744"/>
            <a:ext cx="329184" cy="32918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" y="3730751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" y="3712463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Үнэлгээ — 3 урсгал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675887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Хөрөнгийн, хөндлөнгийн, МИКА үнэлгээ зэрэг явж, тайлантайгаа илгээгдэнэ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187951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" y="4325112"/>
            <a:ext cx="329184" cy="329184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4389119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370831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Санхүүгийн хяналт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4334255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Санхүү нэг урсгалыг сонгон баталж үндсэн үнэлгээ болгоно; шаардлагатай бол буцаана эсвэл цуцалж архивлана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46319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9224" y="4983479"/>
            <a:ext cx="329184" cy="329184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" y="5047487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" y="5029199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Гэрээ, захирамж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86200" y="4992623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Гэрээ, акт, хяналтын карт автоматаар бөглөгдөж, захирамжийн төсөл бэлтгэгдэнэ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504687"/>
            <a:ext cx="11185855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9224" y="5641847"/>
            <a:ext cx="329184" cy="329184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" y="5705855"/>
            <a:ext cx="3291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" y="5687567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2440"/>
                </a:solidFill>
                <a:latin typeface="Arial"/>
              </a:rPr>
              <a:t>Олговор, чөлөөлөлт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5650991"/>
            <a:ext cx="757397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Төлбөрийн гүйцэтгэл бүртгэгдэж талбар «Чөлөөлсөн» төлөвт шилжинэ; үнийн мэдээ гадаад API-аар гарна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254495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A929A"/>
                </a:solidFill>
                <a:latin typeface="Arial"/>
              </a:rPr>
              <a:t>Үе шат бүрд төлөв, шалтгаан, хавсралт, хэн хэзээ өөрчилсөн нь түүхэнд үлдэж, холбогдох хүмүүст бодит цагт мэдэгдэнэ.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Ажлын даалгаврын биелэлт — 100%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plan.xlsx  ·  задаргаа түвшний 62 ажил  ·  нотолгоо нь эх кодоос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12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1645920"/>
            <a:ext cx="2194560" cy="2194560"/>
          </a:xfrm>
          <a:prstGeom prst="ellipse">
            <a:avLst/>
          </a:prstGeom>
          <a:noFill/>
          <a:ln w="139700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" y="1645920"/>
            <a:ext cx="2194560" cy="2194560"/>
          </a:xfrm>
          <a:prstGeom prst="ellipse">
            <a:avLst/>
          </a:prstGeom>
          <a:noFill/>
          <a:ln w="139700">
            <a:solidFill>
              <a:srgbClr val="02C0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48716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E2440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99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929A"/>
                </a:solidFill>
                <a:latin typeface="Arial"/>
              </a:rPr>
              <a:t>62 / 62 АЖИЛ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1554480"/>
            <a:ext cx="851580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2440"/>
                </a:solidFill>
                <a:latin typeface="Arial"/>
              </a:rPr>
              <a:t>Ажлын даалгаврын бүх ажил хийгдэж дууссан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1883664"/>
            <a:ext cx="851580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5560"/>
                </a:solidFill>
                <a:latin typeface="Arial"/>
              </a:rPr>
              <a:t>Хөгжүүлэлтийн 50 ажил (1, 2-р бүлэг) бүрэн хэрэгжиж, туршилт, суурилуулалт, сургалт, хаалтын 12 ажил (3–6-р бүлэг) хаагдсан. Хүлээгдэж буй ажил үлдээгүй.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2968" y="2468880"/>
            <a:ext cx="2032939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9272" y="2615184"/>
            <a:ext cx="45720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9272" y="2724912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2C0CE"/>
                </a:solidFill>
                <a:latin typeface="Arial"/>
              </a:rPr>
              <a:t>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9272" y="3017520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Хөгжүүлэлтийн ажил бүрэн хийгдсэн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3923" y="2468880"/>
            <a:ext cx="2032939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0227" y="2615184"/>
            <a:ext cx="4572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0227" y="2724912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A78D6"/>
                </a:solidFill>
                <a:latin typeface="Arial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0227" y="3017520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Туршилт, суурилуулалт, сургалт, хаалт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4879" y="2468880"/>
            <a:ext cx="2032939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41183" y="2615184"/>
            <a:ext cx="457200" cy="4114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1183" y="2724912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E8345"/>
                </a:solidFill>
                <a:latin typeface="Arial"/>
              </a:rPr>
              <a:t>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41183" y="3017520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Гадаад холболтын ажил бүрэн хаагдсан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5835" y="2468880"/>
            <a:ext cx="2032939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02139" y="2615184"/>
            <a:ext cx="457200" cy="41148"/>
          </a:xfrm>
          <a:prstGeom prst="rect">
            <a:avLst/>
          </a:prstGeom>
          <a:solidFill>
            <a:srgbClr val="8A9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02139" y="2724912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A929A"/>
                </a:solidFill>
                <a:latin typeface="Arial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2139" y="3017520"/>
            <a:ext cx="17403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5560"/>
                </a:solidFill>
                <a:latin typeface="Arial"/>
              </a:rPr>
              <a:t>Хүлээгдэж буй ажил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72968" y="3529584"/>
            <a:ext cx="8515807" cy="29260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64408" y="360273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БҮЛЭГ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9208" y="360273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АЖИЛ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7" y="3602736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БИЕЛЭЛТ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72968" y="3822192"/>
            <a:ext cx="8515807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72968" y="4107484"/>
            <a:ext cx="8515807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64408" y="387705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1. Системийн бичиг баримт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79208" y="387705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7" y="3877056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Архитектур, техникийн тодорхойлолт, тайлангууд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72968" y="4114800"/>
            <a:ext cx="8515807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72968" y="4400092"/>
            <a:ext cx="8515807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64408" y="416966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2. Систем хөгжүүлэлт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169664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3607" y="4169664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Бүх модуль, гадаад холболт ашиглалтад орсон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72968" y="4407408"/>
            <a:ext cx="8515807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72968" y="4692700"/>
            <a:ext cx="8515807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64408" y="44622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3. Туршилт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79208" y="4462272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93607" y="4462272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Туршилт, алдааны засвар, санал хэлэлцүүлэг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72968" y="4700016"/>
            <a:ext cx="8515807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72968" y="4985308"/>
            <a:ext cx="8515807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64408" y="475488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4. Суурилуулалт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79208" y="4754880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93607" y="4754880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Судалгаа, сүлжээ/сервер, програм хангамжийн тохиргоо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72968" y="4992624"/>
            <a:ext cx="8515807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172968" y="5277916"/>
            <a:ext cx="8515807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64408" y="504748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5. Сургалт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79208" y="5047488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93607" y="5047488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Хөтөлбөр, материал, сургалт — гарын авлага бэлэн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72968" y="5285232"/>
            <a:ext cx="8515807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72968" y="5570524"/>
            <a:ext cx="8515807" cy="731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264408" y="534009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6. Хүлээлцэх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79208" y="534009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93607" y="5340096"/>
            <a:ext cx="33037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5560"/>
                </a:solidFill>
                <a:latin typeface="Arial"/>
              </a:rPr>
              <a:t>Бичиг баримт, эх код, мэдээллийн сан хүлээлгэн өгөх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Ажлын даалгавраас гадуур хийгдсэн ажлууд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Иж бүрдэлд тусгагдаагүй боловч системийн бүрэн байдал, аюулгүй байдалд шаардлагатай гэж үзсэн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554480"/>
            <a:ext cx="45720" cy="102412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1691639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Excel-ээс үнэлгээ импортлох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1993391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Хөтөч дотор задлан шинжилж, SHA-256 хурууны хээгээр давхардлыг таслан зогсооно.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6402" y="1554480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86402" y="1554480"/>
            <a:ext cx="45720" cy="102412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7570" y="1691639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Мэргэжлийн байгууллагын портал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7570" y="1993391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47 үйлдэлтэй тусгаарлагдсан суваг — байгууллага зөвхөн өөрт оногдсон объектод ажиллана.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9884" y="1554480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9884" y="1554480"/>
            <a:ext cx="45720" cy="102412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1052" y="1691639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Үнэлгээний 3 зэрэгцээ урсгал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052" y="1993391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Нэг талбарыг гурван байгууллага хараат бусаар үнэлж, санхүү нэгийг нь үндсэн болгоно.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688336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688336"/>
            <a:ext cx="45720" cy="10241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2825496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Үнэлгээ цуцлах, архивлах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127248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Хүчингүй болсон үнэлгээ бүтнээрээ архивт үлдэж, түүхээс татагдана.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86402" y="2688336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6402" y="2688336"/>
            <a:ext cx="45720" cy="10241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7570" y="2825496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Бүрэн түүхжүүлэлт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7570" y="3127248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Статус, хил, олговор, үнэлгээ, захирамжийн явц бүр «хэн, хэзээ, яагаад» гэсэн бичилттэй.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69884" y="2688336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69884" y="2688336"/>
            <a:ext cx="45720" cy="102412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1052" y="2825496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Аюулгүй байдлын өргөтгөлүүд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1052" y="3127248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Token хүчингүйжүүлэлт, 4 давхар шалгалт, файл тус бүрийн эрхийн шалгалт.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822191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822191"/>
            <a:ext cx="45720" cy="102412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3959352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Бодит цагийн мэдэгдэл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4261104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SSE стрийм, хонх, toast — 10 төрлийн үйл явдал зөвхөн холбогдох хүмүүст.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86402" y="3822191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86402" y="3822191"/>
            <a:ext cx="45720" cy="102412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7570" y="3959352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Аудит лог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7570" y="4261104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54 бүртгэх цэг, 8 ресурсийн төрөл, IP ба төхөөрөмжийн мөрдлөг.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69884" y="3822191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69884" y="3822191"/>
            <a:ext cx="45720" cy="1024128"/>
          </a:xfrm>
          <a:prstGeom prst="rect">
            <a:avLst/>
          </a:prstGeom>
          <a:solidFill>
            <a:srgbClr val="0E8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1052" y="3959352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Дроны ортофото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1052" y="4261104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GeoTIFF-ийг COG болгож зурагт давхарга болгон нэмнэ.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956048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956048"/>
            <a:ext cx="45720" cy="102412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" y="5093208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Хэвлэх зориулалтын зураг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" y="5394960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Тусдаа SLD загвараар цэвэр хэвлэлийн зураг гаргана.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86402" y="4956048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86402" y="4956048"/>
            <a:ext cx="45720" cy="102412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7570" y="5093208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Захирамжийн төслийн модуль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7570" y="5394960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Талбар холбох, төсөв, ажлын төрөл, DOCX/XLSX гаралт, явцын түүх.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69884" y="4956048"/>
            <a:ext cx="361889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69884" y="4956048"/>
            <a:ext cx="45720" cy="102412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71052" y="5093208"/>
            <a:ext cx="325313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2440"/>
                </a:solidFill>
                <a:latin typeface="Arial"/>
              </a:rPr>
              <a:t>Хэрэглэгчийн гарын авлага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1052" y="5394960"/>
            <a:ext cx="325313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A5560"/>
                </a:solidFill>
                <a:latin typeface="Arial"/>
              </a:rPr>
              <a:t>Дэлгэц тус бүрийн зурагт заавар, нэр томьёоны тайлбар.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E2440"/>
                </a:solidFill>
                <a:latin typeface="Arial"/>
              </a:rPr>
              <a:t>Нэгдсэн дүгнэлт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29A"/>
                </a:solidFill>
                <a:latin typeface="Arial"/>
              </a:rPr>
              <a:t>Систем хийгдсэнээр гарсан үр дүн ба давуу талууд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29A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ГАРСАН ҮР ДҮН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5464911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75104"/>
            <a:ext cx="5464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Төлөвлөгөө батлагдахаас газар чөлөөлөх хүртэлх бүх үе шат цаасан бус, нэг хяналттай цахим урсгалд шилжсэн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Талбарын давхцал, чөлөөлөх талбай гараар хэмжихгүйгээр сан дотор автоматаар, ижил аргачлалаар бодогддог болсон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Нэг талбарыг 3 байгууллага хараат бусаар үнэлж, санхүүгийн хяналтаар баталгааждаг болсноор үнэлгээ бодитой, харьцуулагдахуйц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ГУС, УБЕГ, ТЕГ, ШШГЕГ, E-Mongolia-тай холбогдсоноор мэдээлэл давхардахгүй, иргэнд цахимаар хүрдэг болсон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23 албан баримт, тайлан мэдээллээ автоматаар бөглөж үүсдэг болсон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02C0CE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Гадны байгууллагууд тусгаарлагдсан портал, нээлттэй гарцаар хандана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863" y="155448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E2440"/>
                </a:solidFill>
                <a:latin typeface="Arial"/>
              </a:rPr>
              <a:t>ДАВУУ ТАЛУУД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1773936"/>
            <a:ext cx="5464911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863" y="1975104"/>
            <a:ext cx="54649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Цэвэр давхаргажилт — өргөтгөл, засварт тэсвэртэй, тестлэгдэхүйц бүтэц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Гүн хамгаалалт — 4 давхар эрхийн шалгалт, үүрэг тусгаарлалт, файлын хяналт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Урсгал тохиргоогоор — процесс өөрчлөгдөхөд код засах шаардлагагүй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Бүрэн аудитын мөр — өөрчлөлт бүр «хэн, хэзээ, яагаад» гэсэн түүхтэй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Нээлттэй эхийн стек — лицензийн зардалгүй, нийлүүлэгчээс хараат бус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</a:pPr>
            <a:r>
              <a:rPr sz="1000" b="1" i="0">
                <a:solidFill>
                  <a:srgbClr val="2A78D6"/>
                </a:solidFill>
                <a:latin typeface="Arial"/>
              </a:rPr>
              <a:t>▪  </a:t>
            </a:r>
            <a:r>
              <a:rPr sz="1000" b="0" i="0">
                <a:solidFill>
                  <a:srgbClr val="4A5560"/>
                </a:solidFill>
                <a:latin typeface="Arial"/>
              </a:rPr>
              <a:t>601 автомат тест — дараагийн хөгжүүлэлтэд эвдрэл шууд илэрнэ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937760"/>
            <a:ext cx="11185855" cy="93268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513892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2C0CE"/>
                </a:solidFill>
                <a:latin typeface="Arial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5138928"/>
            <a:ext cx="88541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Ажлын даалгаврын 62 ажил бүрэн хийгдэж дууслаа.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9CADC"/>
                </a:solidFill>
                <a:latin typeface="Arial"/>
              </a:rPr>
              <a:t>Хөгжүүлэлтийн 50 ажил, гадаад холболтын 27 ажил, туршилт, суурилуулалт, сургалт, хаалтын 12 ажил хаагдаж, систем ашиглалтад бэлэн боллоо.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21040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21040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0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70848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70848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70848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20656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20656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0656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70463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70463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70463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20272" y="640080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320272" y="1389888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20272" y="2139696"/>
            <a:ext cx="640080" cy="640080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20656" y="1389888"/>
            <a:ext cx="640080" cy="64008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0848" y="2139696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2560320"/>
            <a:ext cx="91440" cy="1280160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2542032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БАЯРЛАЛАА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38328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ADC"/>
                </a:solidFill>
                <a:latin typeface="Arial"/>
              </a:rPr>
              <a:t>Газар чөлөөлөлт, нөхөх олговрын нэгдсэн систем — техникийн тайлан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212080"/>
            <a:ext cx="12191695" cy="10972"/>
          </a:xfrm>
          <a:prstGeom prst="rect">
            <a:avLst/>
          </a:prstGeom>
          <a:solidFill>
            <a:srgbClr val="163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486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02C0CE"/>
                </a:solidFill>
                <a:latin typeface="Arial"/>
              </a:rPr>
              <a:t>Next.js (вэб)  ·  Go (сервер)  ·  PostgreSQL + PostGIS  ·  GeoServer  ·  MinIO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9CADC"/>
                </a:solidFill>
                <a:latin typeface="Arial"/>
              </a:rPr>
              <a:t>287 REST үйлдэл  ·  89 хүснэгт  ·  35 дэлгэц  ·  601 автомат тест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5486400"/>
            <a:ext cx="29077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2026-09-13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2C0CE"/>
                </a:solidFill>
                <a:latin typeface="Arial"/>
              </a:rPr>
              <a:t>62 / 62 ажил · 100%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658368" cy="65836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6583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365760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E2440"/>
                </a:solidFill>
                <a:latin typeface="Arial"/>
              </a:rPr>
              <a:t>Хуучин мэдээллийн импорт</a:t>
            </a:r>
          </a:p>
          <a:p>
            <a:pPr>
              <a:spcBef>
                <a:spcPts val="360"/>
              </a:spcBef>
            </a:pPr>
            <a:r>
              <a:rPr sz="1200" b="0">
                <a:solidFill>
                  <a:srgbClr val="8A929A"/>
                </a:solidFill>
                <a:latin typeface="Arial"/>
              </a:rPr>
              <a:t>Эх файл ба өгөгдлийн сангийн тоон харьцуулалт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11185855" cy="18288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822960" cy="41148"/>
          </a:xfrm>
          <a:prstGeom prst="rect">
            <a:avLst/>
          </a:prstGeom>
          <a:solidFill>
            <a:srgbClr val="02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E2440"/>
                </a:solidFill>
                <a:latin typeface="Arial"/>
              </a:rPr>
              <a:t>ЭХ ФАЙЛААС УНШСАН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5464911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75104"/>
            <a:ext cx="54649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Чөлөөлөлтийн зураг — </a:t>
            </a:r>
            <a:r>
              <a:rPr sz="1000" b="0">
                <a:solidFill>
                  <a:srgbClr val="4A5560"/>
                </a:solidFill>
                <a:latin typeface="Arial"/>
              </a:rPr>
              <a:t>1 shp файл, 26 хил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Нэгж талбарын зураг — </a:t>
            </a:r>
            <a:r>
              <a:rPr sz="1000" b="0">
                <a:solidFill>
                  <a:srgbClr val="4A5560"/>
                </a:solidFill>
                <a:latin typeface="Arial"/>
              </a:rPr>
              <a:t>15 shp файл, 6 329 объект, 5 896 өвөрмөц дугаар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Үнэлгээний тайлан — </a:t>
            </a:r>
            <a:r>
              <a:rPr sz="1000" b="0">
                <a:solidFill>
                  <a:srgbClr val="4A5560"/>
                </a:solidFill>
                <a:latin typeface="Arial"/>
              </a:rPr>
              <a:t>3 061 мөр, 780.1 тэрбум ₮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Архивын тайлан 2010–2025 — </a:t>
            </a:r>
            <a:r>
              <a:rPr sz="1000" b="0">
                <a:solidFill>
                  <a:srgbClr val="4A5560"/>
                </a:solidFill>
                <a:latin typeface="Arial"/>
              </a:rPr>
              <a:t>7 548 мөр, 1 257.3 тэрбум ₮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Хоёр тайланд давхцсан — </a:t>
            </a:r>
            <a:r>
              <a:rPr sz="1000" b="0">
                <a:solidFill>
                  <a:srgbClr val="4A5560"/>
                </a:solidFill>
                <a:latin typeface="Arial"/>
              </a:rPr>
              <a:t>2 301 нэгж талбар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02C0CE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Нийт эх мөр — </a:t>
            </a:r>
            <a:r>
              <a:rPr sz="1000" b="0">
                <a:solidFill>
                  <a:srgbClr val="4A5560"/>
                </a:solidFill>
                <a:latin typeface="Arial"/>
              </a:rPr>
              <a:t>10 473 (давхцлыг хассан 4 652 дугаартай талбар)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863" y="1554480"/>
            <a:ext cx="546491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0E2440"/>
                </a:solidFill>
                <a:latin typeface="Arial"/>
              </a:rPr>
              <a:t>ӨГӨГДЛИЙН САНД БҮРТГЭГДСЭН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863" y="1773936"/>
            <a:ext cx="5464911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863" y="1975104"/>
            <a:ext cx="546491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Чөлөөлөлт — </a:t>
            </a:r>
            <a:r>
              <a:rPr sz="1000" b="0">
                <a:solidFill>
                  <a:srgbClr val="4A5560"/>
                </a:solidFill>
                <a:latin typeface="Arial"/>
              </a:rPr>
              <a:t>745 (26 хилтэй, 719 архиваас)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Нэгж талбар — </a:t>
            </a:r>
            <a:r>
              <a:rPr sz="1000" b="0">
                <a:solidFill>
                  <a:srgbClr val="4A5560"/>
                </a:solidFill>
                <a:latin typeface="Arial"/>
              </a:rPr>
              <a:t>11 248 (9 743 бодит дугаар, 1 343 ERR, 162 D)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Газрын зурагт харагдах — </a:t>
            </a:r>
            <a:r>
              <a:rPr sz="1000" b="0">
                <a:solidFill>
                  <a:srgbClr val="4A5560"/>
                </a:solidFill>
                <a:latin typeface="Arial"/>
              </a:rPr>
              <a:t>9 886 талбар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Нөхөх олговор — </a:t>
            </a:r>
            <a:r>
              <a:rPr sz="1000" b="0">
                <a:solidFill>
                  <a:srgbClr val="4A5560"/>
                </a:solidFill>
                <a:latin typeface="Arial"/>
              </a:rPr>
              <a:t>25 886 бичилт, 7 896 нэгж талбарт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Захирамжийн төсөл — </a:t>
            </a:r>
            <a:r>
              <a:rPr sz="1000" b="0">
                <a:solidFill>
                  <a:srgbClr val="4A5560"/>
                </a:solidFill>
                <a:latin typeface="Arial"/>
              </a:rPr>
              <a:t>1 087, санхүүгийн эх үүсвэр 18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000" b="1">
                <a:solidFill>
                  <a:srgbClr val="2A78D6"/>
                </a:solidFill>
                <a:latin typeface="Arial"/>
              </a:rPr>
              <a:t>▪  </a:t>
            </a:r>
            <a:r>
              <a:rPr sz="1000" b="1">
                <a:solidFill>
                  <a:srgbClr val="0E2440"/>
                </a:solidFill>
                <a:latin typeface="Arial"/>
              </a:rPr>
              <a:t>Гараар залруулах — </a:t>
            </a:r>
            <a:r>
              <a:rPr sz="1000" b="0">
                <a:solidFill>
                  <a:srgbClr val="4A5560"/>
                </a:solidFill>
                <a:latin typeface="Arial"/>
              </a:rPr>
              <a:t>1 362 талбарын хил, 1 343 дугаар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37760"/>
            <a:ext cx="11185855" cy="932688"/>
          </a:xfrm>
          <a:prstGeom prst="rect">
            <a:avLst/>
          </a:prstGeom>
          <a:solidFill>
            <a:srgbClr val="0E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13892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02C0CE"/>
                </a:solidFill>
                <a:latin typeface="Arial"/>
              </a:rPr>
              <a:t>1 680</a:t>
            </a:r>
            <a:r>
              <a:rPr sz="1300" b="1">
                <a:solidFill>
                  <a:srgbClr val="02C0CE"/>
                </a:solidFill>
                <a:latin typeface="Arial"/>
              </a:rPr>
              <a:t> тэрбум 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138928"/>
            <a:ext cx="8213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2010–2025 оны хуучин мэдээлэл системд бүрэн шилжсэн.</a:t>
            </a:r>
          </a:p>
          <a:p>
            <a:pPr>
              <a:spcBef>
                <a:spcPts val="360"/>
              </a:spcBef>
            </a:pPr>
            <a:r>
              <a:rPr sz="1050" b="0">
                <a:solidFill>
                  <a:srgbClr val="B9CADC"/>
                </a:solidFill>
                <a:latin typeface="Arial"/>
              </a:rPr>
              <a:t>Эксэлийн мөр бүр газар, үл хөдлөх, эд хөрөнгийн үнэлгээгээр задарч бүртгэгдсэн тул бичилтийн тоо эх мөрөөс их байна.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455664"/>
            <a:ext cx="11185855" cy="10972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8A929A"/>
                </a:solidFill>
                <a:latin typeface="Arial"/>
              </a:rPr>
              <a:t>Газар чөлөөлөлт, нөхөх олговрын нэгдсэн систем  ·  Систем хөгжүүлэлтийн техникийн тайлан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>
                <a:solidFill>
                  <a:srgbClr val="8A929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