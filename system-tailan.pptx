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321040" y="640080"/>
            <a:ext cx="640080" cy="640080"/>
          </a:xfrm>
          <a:prstGeom prst="rect">
            <a:avLst/>
          </a:prstGeom>
          <a:solidFill>
            <a:srgbClr val="1636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321040" y="1389888"/>
            <a:ext cx="640080" cy="640080"/>
          </a:xfrm>
          <a:prstGeom prst="rect">
            <a:avLst/>
          </a:prstGeom>
          <a:solidFill>
            <a:srgbClr val="1636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321040" y="2139696"/>
            <a:ext cx="640080" cy="640080"/>
          </a:xfrm>
          <a:prstGeom prst="rect">
            <a:avLst/>
          </a:prstGeom>
          <a:solidFill>
            <a:srgbClr val="1636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070848" y="640080"/>
            <a:ext cx="640080" cy="640080"/>
          </a:xfrm>
          <a:prstGeom prst="rect">
            <a:avLst/>
          </a:prstGeom>
          <a:solidFill>
            <a:srgbClr val="1636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70848" y="1389888"/>
            <a:ext cx="640080" cy="640080"/>
          </a:xfrm>
          <a:prstGeom prst="rect">
            <a:avLst/>
          </a:prstGeom>
          <a:solidFill>
            <a:srgbClr val="1636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070848" y="2139696"/>
            <a:ext cx="640080" cy="640080"/>
          </a:xfrm>
          <a:prstGeom prst="rect">
            <a:avLst/>
          </a:prstGeom>
          <a:solidFill>
            <a:srgbClr val="1636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820656" y="640080"/>
            <a:ext cx="640080" cy="640080"/>
          </a:xfrm>
          <a:prstGeom prst="rect">
            <a:avLst/>
          </a:prstGeom>
          <a:solidFill>
            <a:srgbClr val="1636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820656" y="1389888"/>
            <a:ext cx="640080" cy="640080"/>
          </a:xfrm>
          <a:prstGeom prst="rect">
            <a:avLst/>
          </a:prstGeom>
          <a:solidFill>
            <a:srgbClr val="1636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820656" y="2139696"/>
            <a:ext cx="640080" cy="640080"/>
          </a:xfrm>
          <a:prstGeom prst="rect">
            <a:avLst/>
          </a:prstGeom>
          <a:solidFill>
            <a:srgbClr val="1636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570463" y="640080"/>
            <a:ext cx="640080" cy="640080"/>
          </a:xfrm>
          <a:prstGeom prst="rect">
            <a:avLst/>
          </a:prstGeom>
          <a:solidFill>
            <a:srgbClr val="1636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570463" y="1389888"/>
            <a:ext cx="640080" cy="640080"/>
          </a:xfrm>
          <a:prstGeom prst="rect">
            <a:avLst/>
          </a:prstGeom>
          <a:solidFill>
            <a:srgbClr val="1636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570463" y="2139696"/>
            <a:ext cx="640080" cy="640080"/>
          </a:xfrm>
          <a:prstGeom prst="rect">
            <a:avLst/>
          </a:prstGeom>
          <a:solidFill>
            <a:srgbClr val="1636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320272" y="640080"/>
            <a:ext cx="640080" cy="640080"/>
          </a:xfrm>
          <a:prstGeom prst="rect">
            <a:avLst/>
          </a:prstGeom>
          <a:solidFill>
            <a:srgbClr val="1636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320272" y="1389888"/>
            <a:ext cx="640080" cy="640080"/>
          </a:xfrm>
          <a:prstGeom prst="rect">
            <a:avLst/>
          </a:prstGeom>
          <a:solidFill>
            <a:srgbClr val="1636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320272" y="2139696"/>
            <a:ext cx="640080" cy="640080"/>
          </a:xfrm>
          <a:prstGeom prst="rect">
            <a:avLst/>
          </a:prstGeom>
          <a:solidFill>
            <a:srgbClr val="1636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820656" y="1389888"/>
            <a:ext cx="640080" cy="640080"/>
          </a:xfrm>
          <a:prstGeom prst="rect">
            <a:avLst/>
          </a:prstGeom>
          <a:solidFill>
            <a:srgbClr val="02C0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70848" y="2139696"/>
            <a:ext cx="640080" cy="64008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320272" y="640080"/>
            <a:ext cx="640080" cy="640080"/>
          </a:xfrm>
          <a:prstGeom prst="rect">
            <a:avLst/>
          </a:prstGeom>
          <a:solidFill>
            <a:srgbClr val="0E8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" y="1481328"/>
            <a:ext cx="91440" cy="2359152"/>
          </a:xfrm>
          <a:prstGeom prst="rect">
            <a:avLst/>
          </a:prstGeom>
          <a:solidFill>
            <a:srgbClr val="02C0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88720" y="1481328"/>
            <a:ext cx="7589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2C0CE"/>
                </a:solidFill>
                <a:latin typeface="Arial"/>
              </a:rPr>
              <a:t>СИСТЕМ ХӨГЖҮҮЛЭЛТИЙН ТЕХНИКИЙН ТАЙЛАН  ·  ЭЦСИЙН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1920240"/>
            <a:ext cx="72237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500" b="1" i="0">
                <a:solidFill>
                  <a:srgbClr val="FFFFFF"/>
                </a:solidFill>
                <a:latin typeface="Arial"/>
              </a:rPr>
              <a:t>Газар чөлөөлөлт,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500" b="1" i="0">
                <a:solidFill>
                  <a:srgbClr val="FFFFFF"/>
                </a:solidFill>
                <a:latin typeface="Arial"/>
              </a:rPr>
              <a:t>нөхөх олговрын нэгдсэн систем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3054096"/>
            <a:ext cx="6949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B9CADC"/>
                </a:solidFill>
                <a:latin typeface="Arial"/>
              </a:rPr>
              <a:t>Газрын удирдлагын нэгдсэн мэдээллийн системд (ГУС) суурилсан — төлөвлөгөө батлагдахаас нөхөх олговор олгож газар чөлөөлөх хүртэлх бүх үе шатыг нэг цахим урсгалд хяналттай удирдана.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88720" y="3968496"/>
            <a:ext cx="4069080" cy="475488"/>
          </a:xfrm>
          <a:prstGeom prst="rect">
            <a:avLst/>
          </a:prstGeom>
          <a:solidFill>
            <a:srgbClr val="02C0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720" y="4087368"/>
            <a:ext cx="4069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2440"/>
                </a:solidFill>
                <a:latin typeface="Arial"/>
              </a:rPr>
              <a:t>62 / 62 АЖИЛ БҮРЭН ХИЙГДСЭН  ·  100%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5212080"/>
            <a:ext cx="12191695" cy="10972"/>
          </a:xfrm>
          <a:prstGeom prst="rect">
            <a:avLst/>
          </a:prstGeom>
          <a:solidFill>
            <a:srgbClr val="1636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88720" y="5486400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2C0CE"/>
                </a:solidFill>
                <a:latin typeface="Arial"/>
              </a:rPr>
              <a:t>287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596188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B9CADC"/>
                </a:solidFill>
                <a:latin typeface="Arial"/>
              </a:rPr>
              <a:t>REST API үйлдэл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86200" y="5486400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2C0CE"/>
                </a:solidFill>
                <a:latin typeface="Arial"/>
              </a:rPr>
              <a:t>89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86200" y="596188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B9CADC"/>
                </a:solidFill>
                <a:latin typeface="Arial"/>
              </a:rPr>
              <a:t>өгөгдлийн хүснэгт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5486400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2C0CE"/>
                </a:solidFill>
                <a:latin typeface="Arial"/>
              </a:rPr>
              <a:t>35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596188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B9CADC"/>
                </a:solidFill>
                <a:latin typeface="Arial"/>
              </a:rPr>
              <a:t>вэб хуудас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81160" y="5486400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2C0CE"/>
                </a:solidFill>
                <a:latin typeface="Arial"/>
              </a:rPr>
              <a:t>601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81160" y="596188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B9CADC"/>
                </a:solidFill>
                <a:latin typeface="Arial"/>
              </a:rPr>
              <a:t>автомат тест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584448" y="5559552"/>
            <a:ext cx="10972" cy="777240"/>
          </a:xfrm>
          <a:prstGeom prst="rect">
            <a:avLst/>
          </a:prstGeom>
          <a:solidFill>
            <a:srgbClr val="1636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81928" y="5559552"/>
            <a:ext cx="10972" cy="777240"/>
          </a:xfrm>
          <a:prstGeom prst="rect">
            <a:avLst/>
          </a:prstGeom>
          <a:solidFill>
            <a:srgbClr val="1636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979408" y="5559552"/>
            <a:ext cx="10972" cy="777240"/>
          </a:xfrm>
          <a:prstGeom prst="rect">
            <a:avLst/>
          </a:prstGeom>
          <a:solidFill>
            <a:srgbClr val="1636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78240" y="6355080"/>
            <a:ext cx="2907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B9CADC"/>
                </a:solidFill>
                <a:latin typeface="Arial"/>
              </a:rPr>
              <a:t>2026-09-13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658368" cy="658368"/>
          </a:xfrm>
          <a:prstGeom prst="rect">
            <a:avLst/>
          </a:prstGeom>
          <a:solidFill>
            <a:srgbClr val="0E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6583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53312" y="365760"/>
            <a:ext cx="103327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0E2440"/>
                </a:solidFill>
                <a:latin typeface="Arial"/>
              </a:rPr>
              <a:t>Агуулга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A929A"/>
                </a:solidFill>
                <a:latin typeface="Arial"/>
              </a:rPr>
              <a:t>Ерөнхий мэдээлэл → архитектур, технологи → үйл ажиллагаа → биелэлт, дүгнэлт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61872"/>
            <a:ext cx="11185855" cy="18288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243584"/>
            <a:ext cx="822960" cy="41148"/>
          </a:xfrm>
          <a:prstGeom prst="rect">
            <a:avLst/>
          </a:prstGeom>
          <a:solidFill>
            <a:srgbClr val="02C0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6455664"/>
            <a:ext cx="11185855" cy="10972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47104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29A"/>
                </a:solidFill>
                <a:latin typeface="Arial"/>
              </a:rPr>
              <a:t>Газар чөлөөлөлт, нөхөх олговрын нэгдсэн систем  ·  Систем хөгжүүлэлтийн техникийн тайлан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74375" y="6547104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A929A"/>
                </a:solidFill>
                <a:latin typeface="Arial"/>
              </a:rPr>
              <a:t>02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554480"/>
            <a:ext cx="420624" cy="420624"/>
          </a:xfrm>
          <a:prstGeom prst="rect">
            <a:avLst/>
          </a:prstGeom>
          <a:solidFill>
            <a:srgbClr val="0E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664207"/>
            <a:ext cx="420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2C0CE"/>
                </a:solidFill>
                <a:latin typeface="Arial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1572768"/>
            <a:ext cx="472424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2440"/>
                </a:solidFill>
                <a:latin typeface="Arial"/>
              </a:rPr>
              <a:t>Системийн ерөнхий мэдээлэл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" y="1828800"/>
            <a:ext cx="472424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929A"/>
                </a:solidFill>
                <a:latin typeface="Arial"/>
              </a:rPr>
              <a:t>юу хийдэг систем · гол тоон үзүүлэлт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157984"/>
            <a:ext cx="5272887" cy="9144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2322576"/>
            <a:ext cx="420624" cy="420624"/>
          </a:xfrm>
          <a:prstGeom prst="rect">
            <a:avLst/>
          </a:prstGeom>
          <a:solidFill>
            <a:srgbClr val="0E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2432304"/>
            <a:ext cx="420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2C0CE"/>
                </a:solidFill>
                <a:latin typeface="Arial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" y="2340864"/>
            <a:ext cx="472424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2440"/>
                </a:solidFill>
                <a:latin typeface="Arial"/>
              </a:rPr>
              <a:t>Системийн архитектур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" y="2596896"/>
            <a:ext cx="472424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929A"/>
                </a:solidFill>
                <a:latin typeface="Arial"/>
              </a:rPr>
              <a:t>4 давхарга · үүрэг хуваарилалт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2926080"/>
            <a:ext cx="5272887" cy="9144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3090672"/>
            <a:ext cx="420624" cy="420624"/>
          </a:xfrm>
          <a:prstGeom prst="rect">
            <a:avLst/>
          </a:prstGeom>
          <a:solidFill>
            <a:srgbClr val="0E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3200400"/>
            <a:ext cx="420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2C0CE"/>
                </a:solidFill>
                <a:latin typeface="Arial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9848" y="3108960"/>
            <a:ext cx="472424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2440"/>
                </a:solidFill>
                <a:latin typeface="Arial"/>
              </a:rPr>
              <a:t>Технологийн стек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9848" y="3364991"/>
            <a:ext cx="472424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929A"/>
                </a:solidFill>
                <a:latin typeface="Arial"/>
              </a:rPr>
              <a:t>вэб · сервер · дэд бүтэц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3694176"/>
            <a:ext cx="5272887" cy="9144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3858768"/>
            <a:ext cx="420624" cy="420624"/>
          </a:xfrm>
          <a:prstGeom prst="rect">
            <a:avLst/>
          </a:prstGeom>
          <a:solidFill>
            <a:srgbClr val="0E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3968496"/>
            <a:ext cx="420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2C0CE"/>
                </a:solidFill>
                <a:latin typeface="Arial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9848" y="3877055"/>
            <a:ext cx="472424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2440"/>
                </a:solidFill>
                <a:latin typeface="Arial"/>
              </a:rPr>
              <a:t>Мэдээллийн сангийн бүтэц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9848" y="4133087"/>
            <a:ext cx="472424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929A"/>
                </a:solidFill>
                <a:latin typeface="Arial"/>
              </a:rPr>
              <a:t>89 хүснэгт · дизайны шийдлүүд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4462272"/>
            <a:ext cx="5272887" cy="9144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2920" y="4626864"/>
            <a:ext cx="420624" cy="420624"/>
          </a:xfrm>
          <a:prstGeom prst="rect">
            <a:avLst/>
          </a:prstGeom>
          <a:solidFill>
            <a:srgbClr val="0E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4736592"/>
            <a:ext cx="420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2C0CE"/>
                </a:solidFill>
                <a:latin typeface="Arial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" y="4645151"/>
            <a:ext cx="472424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2440"/>
                </a:solidFill>
                <a:latin typeface="Arial"/>
              </a:rPr>
              <a:t>API интерфейс ба гадаад гарц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9848" y="4901183"/>
            <a:ext cx="472424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929A"/>
                </a:solidFill>
                <a:latin typeface="Arial"/>
              </a:rPr>
              <a:t>287 үйлдэл · портал · нээлттэй гарц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5230368"/>
            <a:ext cx="5272887" cy="9144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" y="5394960"/>
            <a:ext cx="420624" cy="420624"/>
          </a:xfrm>
          <a:prstGeom prst="rect">
            <a:avLst/>
          </a:prstGeom>
          <a:solidFill>
            <a:srgbClr val="0E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5504688"/>
            <a:ext cx="420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2C0CE"/>
                </a:solidFill>
                <a:latin typeface="Arial"/>
              </a:rPr>
              <a:t>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9848" y="5413248"/>
            <a:ext cx="472424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2440"/>
                </a:solidFill>
                <a:latin typeface="Arial"/>
              </a:rPr>
              <a:t>Аюулгүй байдал, эрхийн удирдлага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9848" y="5669280"/>
            <a:ext cx="472424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929A"/>
                </a:solidFill>
                <a:latin typeface="Arial"/>
              </a:rPr>
              <a:t>JWT · 4 давхар шалгалт · 6 роль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" y="5998464"/>
            <a:ext cx="5272887" cy="9144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24447" y="1554480"/>
            <a:ext cx="420624" cy="420624"/>
          </a:xfrm>
          <a:prstGeom prst="rect">
            <a:avLst/>
          </a:prstGeom>
          <a:solidFill>
            <a:srgbClr val="0E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24447" y="1664207"/>
            <a:ext cx="420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2C0CE"/>
                </a:solidFill>
                <a:latin typeface="Arial"/>
              </a:rPr>
              <a:t>07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91375" y="1572768"/>
            <a:ext cx="472424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2440"/>
                </a:solidFill>
                <a:latin typeface="Arial"/>
              </a:rPr>
              <a:t>Роль тус бүрийн цэсний хандалт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91375" y="1828800"/>
            <a:ext cx="472424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929A"/>
                </a:solidFill>
                <a:latin typeface="Arial"/>
              </a:rPr>
              <a:t>эрхийн матриц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24447" y="2157984"/>
            <a:ext cx="5272887" cy="9144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324447" y="2322576"/>
            <a:ext cx="420624" cy="420624"/>
          </a:xfrm>
          <a:prstGeom prst="rect">
            <a:avLst/>
          </a:prstGeom>
          <a:solidFill>
            <a:srgbClr val="0E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24447" y="2432304"/>
            <a:ext cx="420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2C0CE"/>
                </a:solidFill>
                <a:latin typeface="Arial"/>
              </a:rPr>
              <a:t>08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91375" y="2340864"/>
            <a:ext cx="472424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2440"/>
                </a:solidFill>
                <a:latin typeface="Arial"/>
              </a:rPr>
              <a:t>Функциональ модулиуд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91375" y="2596896"/>
            <a:ext cx="472424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929A"/>
                </a:solidFill>
                <a:latin typeface="Arial"/>
              </a:rPr>
              <a:t>16 багц · 35 дэлгэц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324447" y="2926080"/>
            <a:ext cx="5272887" cy="9144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324447" y="3090672"/>
            <a:ext cx="420624" cy="420624"/>
          </a:xfrm>
          <a:prstGeom prst="rect">
            <a:avLst/>
          </a:prstGeom>
          <a:solidFill>
            <a:srgbClr val="0E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24447" y="3200400"/>
            <a:ext cx="420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2C0CE"/>
                </a:solidFill>
                <a:latin typeface="Arial"/>
              </a:rPr>
              <a:t>09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91375" y="3108960"/>
            <a:ext cx="472424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2440"/>
                </a:solidFill>
                <a:latin typeface="Arial"/>
              </a:rPr>
              <a:t>Ажлын гол урсгал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91375" y="3364991"/>
            <a:ext cx="472424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929A"/>
                </a:solidFill>
                <a:latin typeface="Arial"/>
              </a:rPr>
              <a:t>төлөвлөгөөнөөс чөлөөлөлт хүртэл 7 алхам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324447" y="3694176"/>
            <a:ext cx="5272887" cy="9144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324447" y="3858768"/>
            <a:ext cx="420624" cy="420624"/>
          </a:xfrm>
          <a:prstGeom prst="rect">
            <a:avLst/>
          </a:prstGeom>
          <a:solidFill>
            <a:srgbClr val="0E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324447" y="3968496"/>
            <a:ext cx="420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2C0CE"/>
                </a:solidFill>
                <a:latin typeface="Arial"/>
              </a:rPr>
              <a:t>10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91375" y="3877055"/>
            <a:ext cx="472424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2440"/>
                </a:solidFill>
                <a:latin typeface="Arial"/>
              </a:rPr>
              <a:t>Ажлын даалгаврын биелэлт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91375" y="4133087"/>
            <a:ext cx="472424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929A"/>
                </a:solidFill>
                <a:latin typeface="Arial"/>
              </a:rPr>
              <a:t>62 / 62 ажил — 100%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324447" y="4462272"/>
            <a:ext cx="5272887" cy="9144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324447" y="4626864"/>
            <a:ext cx="420624" cy="420624"/>
          </a:xfrm>
          <a:prstGeom prst="rect">
            <a:avLst/>
          </a:prstGeom>
          <a:solidFill>
            <a:srgbClr val="0E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324447" y="4736592"/>
            <a:ext cx="420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2C0CE"/>
                </a:solidFill>
                <a:latin typeface="Arial"/>
              </a:rPr>
              <a:t>11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891375" y="4645151"/>
            <a:ext cx="472424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2440"/>
                </a:solidFill>
                <a:latin typeface="Arial"/>
              </a:rPr>
              <a:t>Даалгавраас гадуур хийгдсэн ажлууд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891375" y="4901183"/>
            <a:ext cx="472424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929A"/>
                </a:solidFill>
                <a:latin typeface="Arial"/>
              </a:rPr>
              <a:t>нэмэлт 12 хэрэгжилт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324447" y="5230368"/>
            <a:ext cx="5272887" cy="9144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324447" y="5394960"/>
            <a:ext cx="420624" cy="420624"/>
          </a:xfrm>
          <a:prstGeom prst="rect">
            <a:avLst/>
          </a:prstGeom>
          <a:solidFill>
            <a:srgbClr val="0E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324447" y="5504688"/>
            <a:ext cx="420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2C0CE"/>
                </a:solidFill>
                <a:latin typeface="Arial"/>
              </a:rPr>
              <a:t>12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891375" y="5413248"/>
            <a:ext cx="472424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2440"/>
                </a:solidFill>
                <a:latin typeface="Arial"/>
              </a:rPr>
              <a:t>Нэгдсэн дүгнэлт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891375" y="5669280"/>
            <a:ext cx="472424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929A"/>
                </a:solidFill>
                <a:latin typeface="Arial"/>
              </a:rPr>
              <a:t>үр дүн ба давуу тал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324447" y="5998464"/>
            <a:ext cx="5272887" cy="9144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658368" cy="658368"/>
          </a:xfrm>
          <a:prstGeom prst="rect">
            <a:avLst/>
          </a:prstGeom>
          <a:solidFill>
            <a:srgbClr val="0E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6583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53312" y="365760"/>
            <a:ext cx="103327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0E2440"/>
                </a:solidFill>
                <a:latin typeface="Arial"/>
              </a:rPr>
              <a:t>Системийн ерөнхий мэдээлэл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A929A"/>
                </a:solidFill>
                <a:latin typeface="Arial"/>
              </a:rPr>
              <a:t>Бүх үзүүлэлт эх кодоос шууд тоологдсон  ·  2026-09-13-ны байдлаар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61872"/>
            <a:ext cx="11185855" cy="18288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243584"/>
            <a:ext cx="822960" cy="41148"/>
          </a:xfrm>
          <a:prstGeom prst="rect">
            <a:avLst/>
          </a:prstGeom>
          <a:solidFill>
            <a:srgbClr val="02C0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6455664"/>
            <a:ext cx="11185855" cy="10972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47104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29A"/>
                </a:solidFill>
                <a:latin typeface="Arial"/>
              </a:rPr>
              <a:t>Газар чөлөөлөлт, нөхөх олговрын нэгдсэн систем  ·  Систем хөгжүүлэлтийн техникийн тайлан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74375" y="6547104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A929A"/>
                </a:solidFill>
                <a:latin typeface="Arial"/>
              </a:rPr>
              <a:t>03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554480"/>
            <a:ext cx="11185855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1554480"/>
            <a:ext cx="45720" cy="786384"/>
          </a:xfrm>
          <a:prstGeom prst="rect">
            <a:avLst/>
          </a:prstGeom>
          <a:solidFill>
            <a:srgbClr val="02C0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" y="1691639"/>
            <a:ext cx="107286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A5560"/>
                </a:solidFill>
                <a:latin typeface="Arial"/>
              </a:rPr>
              <a:t>Систем нь дөрвөн хэсгээс бүтнэ — хөтөч дээр харагдах </a:t>
            </a:r>
            <a:r>
              <a:rPr sz="1150" b="1" i="0">
                <a:solidFill>
                  <a:srgbClr val="0E2440"/>
                </a:solidFill>
                <a:latin typeface="Arial"/>
              </a:rPr>
              <a:t>вэб хуудас</a:t>
            </a:r>
            <a:r>
              <a:rPr sz="1150" b="0" i="0">
                <a:solidFill>
                  <a:srgbClr val="4A5560"/>
                </a:solidFill>
                <a:latin typeface="Arial"/>
              </a:rPr>
              <a:t>, ард нь дүрэм шалгаж ажилладаг </a:t>
            </a:r>
            <a:r>
              <a:rPr sz="1150" b="1" i="0">
                <a:solidFill>
                  <a:srgbClr val="0E2440"/>
                </a:solidFill>
                <a:latin typeface="Arial"/>
              </a:rPr>
              <a:t>сервер</a:t>
            </a:r>
            <a:r>
              <a:rPr sz="1150" b="0" i="0">
                <a:solidFill>
                  <a:srgbClr val="4A5560"/>
                </a:solidFill>
                <a:latin typeface="Arial"/>
              </a:rPr>
              <a:t>, бүх мэдээллийг хадгалдаг </a:t>
            </a:r>
            <a:r>
              <a:rPr sz="1150" b="1" i="0">
                <a:solidFill>
                  <a:srgbClr val="0E2440"/>
                </a:solidFill>
                <a:latin typeface="Arial"/>
              </a:rPr>
              <a:t>өгөгдлийн сан</a:t>
            </a:r>
            <a:r>
              <a:rPr sz="1150" b="0" i="0">
                <a:solidFill>
                  <a:srgbClr val="4A5560"/>
                </a:solidFill>
                <a:latin typeface="Arial"/>
              </a:rPr>
              <a:t>, талбаруудыг зурагладаг </a:t>
            </a:r>
            <a:r>
              <a:rPr sz="1150" b="1" i="0">
                <a:solidFill>
                  <a:srgbClr val="0E2440"/>
                </a:solidFill>
                <a:latin typeface="Arial"/>
              </a:rPr>
              <a:t>газрын зургийн үйлчилгээ</a:t>
            </a:r>
            <a:r>
              <a:rPr sz="1150" b="0" i="0">
                <a:solidFill>
                  <a:srgbClr val="4A5560"/>
                </a:solidFill>
                <a:latin typeface="Arial"/>
              </a:rPr>
              <a:t>. Газар чөлөөлөх ажлыг төлөвлөгөө батлагдахаас нөхөх олговор олгож чөлөөлөх хүртэл нэг хяналттай цахим урсгалд явуулна.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487168"/>
            <a:ext cx="2686735" cy="969264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9224" y="2633472"/>
            <a:ext cx="457200" cy="41148"/>
          </a:xfrm>
          <a:prstGeom prst="rect">
            <a:avLst/>
          </a:prstGeom>
          <a:solidFill>
            <a:srgbClr val="02C0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" y="2761487"/>
            <a:ext cx="2394127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2C0CE"/>
                </a:solidFill>
                <a:latin typeface="Arial"/>
              </a:rPr>
              <a:t>287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" y="3108960"/>
            <a:ext cx="239412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2440"/>
                </a:solidFill>
                <a:latin typeface="Arial"/>
              </a:rPr>
              <a:t>REST API үйлдэл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" y="3273551"/>
            <a:ext cx="239412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29A"/>
                </a:solidFill>
                <a:latin typeface="Arial"/>
              </a:rPr>
              <a:t>/api/v1 · Swagger-ээр баримтжсан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35959" y="2487168"/>
            <a:ext cx="2686735" cy="969264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82263" y="2633472"/>
            <a:ext cx="457200" cy="41148"/>
          </a:xfrm>
          <a:prstGeom prst="rect">
            <a:avLst/>
          </a:prstGeom>
          <a:solidFill>
            <a:srgbClr val="0E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82263" y="2761487"/>
            <a:ext cx="2394127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E2440"/>
                </a:solidFill>
                <a:latin typeface="Arial"/>
              </a:rPr>
              <a:t>89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82263" y="3108960"/>
            <a:ext cx="239412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2440"/>
                </a:solidFill>
                <a:latin typeface="Arial"/>
              </a:rPr>
              <a:t>Өгөгдлийн сангийн хүснэгт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82263" y="3273551"/>
            <a:ext cx="239412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29A"/>
                </a:solidFill>
                <a:latin typeface="Arial"/>
              </a:rPr>
              <a:t>бизнес 69 + хэрэглэгч, ХН 19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68999" y="2487168"/>
            <a:ext cx="2686735" cy="969264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15303" y="2633472"/>
            <a:ext cx="457200" cy="41148"/>
          </a:xfrm>
          <a:prstGeom prst="rect">
            <a:avLst/>
          </a:prstGeom>
          <a:solidFill>
            <a:srgbClr val="0E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15303" y="2761487"/>
            <a:ext cx="2394127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E2440"/>
                </a:solidFill>
                <a:latin typeface="Arial"/>
              </a:rPr>
              <a:t>35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15303" y="3108960"/>
            <a:ext cx="239412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2440"/>
                </a:solidFill>
                <a:latin typeface="Arial"/>
              </a:rPr>
              <a:t>Вэб хуудас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15303" y="3273551"/>
            <a:ext cx="239412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29A"/>
                </a:solidFill>
                <a:latin typeface="Arial"/>
              </a:rPr>
              <a:t>+ 16 дотоод API маршрут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02039" y="2487168"/>
            <a:ext cx="2686735" cy="969264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148343" y="2633472"/>
            <a:ext cx="457200" cy="41148"/>
          </a:xfrm>
          <a:prstGeom prst="rect">
            <a:avLst/>
          </a:prstGeom>
          <a:solidFill>
            <a:srgbClr val="0E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8343" y="2761487"/>
            <a:ext cx="2394127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E2440"/>
                </a:solidFill>
                <a:latin typeface="Arial"/>
              </a:rPr>
              <a:t>16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8343" y="3108960"/>
            <a:ext cx="239412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2440"/>
                </a:solidFill>
                <a:latin typeface="Arial"/>
              </a:rPr>
              <a:t>Газрын зургийн давхарга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8343" y="3273551"/>
            <a:ext cx="239412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29A"/>
                </a:solidFill>
                <a:latin typeface="Arial"/>
              </a:rPr>
              <a:t>1 нь гадагш нээлттэй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3566159"/>
            <a:ext cx="2686735" cy="969264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9224" y="3712463"/>
            <a:ext cx="457200" cy="4114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" y="3840479"/>
            <a:ext cx="2394127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A78D6"/>
                </a:solidFill>
                <a:latin typeface="Arial"/>
              </a:rPr>
              <a:t>601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" y="4187951"/>
            <a:ext cx="239412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2440"/>
                </a:solidFill>
                <a:latin typeface="Arial"/>
              </a:rPr>
              <a:t>Автомат тест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" y="4352544"/>
            <a:ext cx="239412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29A"/>
                </a:solidFill>
                <a:latin typeface="Arial"/>
              </a:rPr>
              <a:t>сервер 533 · вэб 68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335959" y="3566159"/>
            <a:ext cx="2686735" cy="969264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482263" y="3712463"/>
            <a:ext cx="457200" cy="41148"/>
          </a:xfrm>
          <a:prstGeom prst="rect">
            <a:avLst/>
          </a:prstGeom>
          <a:solidFill>
            <a:srgbClr val="0E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82263" y="3840479"/>
            <a:ext cx="2394127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E2440"/>
                </a:solidFill>
                <a:latin typeface="Arial"/>
              </a:rPr>
              <a:t>23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82263" y="4187951"/>
            <a:ext cx="239412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2440"/>
                </a:solidFill>
                <a:latin typeface="Arial"/>
              </a:rPr>
              <a:t>Баримт, тайлангийн загвар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82263" y="4352544"/>
            <a:ext cx="239412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29A"/>
                </a:solidFill>
                <a:latin typeface="Arial"/>
              </a:rPr>
              <a:t>19 маягт + 4 тайлан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68999" y="3566159"/>
            <a:ext cx="2686735" cy="969264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315303" y="3712463"/>
            <a:ext cx="457200" cy="41148"/>
          </a:xfrm>
          <a:prstGeom prst="rect">
            <a:avLst/>
          </a:prstGeom>
          <a:solidFill>
            <a:srgbClr val="0E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15303" y="3840479"/>
            <a:ext cx="2394127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E2440"/>
                </a:solidFill>
                <a:latin typeface="Arial"/>
              </a:rPr>
              <a:t>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15303" y="4187951"/>
            <a:ext cx="239412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2440"/>
                </a:solidFill>
                <a:latin typeface="Arial"/>
              </a:rPr>
              <a:t>Хэрэглэгчийн роль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15303" y="4352544"/>
            <a:ext cx="239412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29A"/>
                </a:solidFill>
                <a:latin typeface="Arial"/>
              </a:rPr>
              <a:t>+ үнэлгээний байгууллагын портал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002039" y="3566159"/>
            <a:ext cx="2686735" cy="969264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148343" y="3712463"/>
            <a:ext cx="457200" cy="41148"/>
          </a:xfrm>
          <a:prstGeom prst="rect">
            <a:avLst/>
          </a:prstGeom>
          <a:solidFill>
            <a:srgbClr val="0E8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148343" y="3840479"/>
            <a:ext cx="2394127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E8345"/>
                </a:solidFill>
                <a:latin typeface="Arial"/>
              </a:rPr>
              <a:t>~100К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48343" y="4187951"/>
            <a:ext cx="239412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2440"/>
                </a:solidFill>
                <a:latin typeface="Arial"/>
              </a:rPr>
              <a:t>Кодын мөр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48343" y="4352544"/>
            <a:ext cx="239412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29A"/>
                </a:solidFill>
                <a:latin typeface="Arial"/>
              </a:rPr>
              <a:t>Go 46.6К + TypeScript 53.7К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02920" y="4700016"/>
            <a:ext cx="3631082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02920" y="4700016"/>
            <a:ext cx="45720" cy="10789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04088" y="4846320"/>
            <a:ext cx="326532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A78D6"/>
                </a:solidFill>
                <a:latin typeface="Arial"/>
              </a:rPr>
              <a:t>ҮР ДҮН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04088" y="5120640"/>
            <a:ext cx="3265322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A5560"/>
                </a:solidFill>
                <a:latin typeface="Arial"/>
              </a:rPr>
              <a:t>Төлөвлөгөөнөөс нөхөх олговор хүртэлх бүх үе шат цаасан бус, нэг хяналттай цахим урсгалд шилжсэн.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280306" y="4700016"/>
            <a:ext cx="3631082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280306" y="4700016"/>
            <a:ext cx="45720" cy="1078992"/>
          </a:xfrm>
          <a:prstGeom prst="rect">
            <a:avLst/>
          </a:prstGeom>
          <a:solidFill>
            <a:srgbClr val="0E8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481474" y="4846320"/>
            <a:ext cx="326532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E8345"/>
                </a:solidFill>
                <a:latin typeface="Arial"/>
              </a:rPr>
              <a:t>ДАВУУ ТАЛ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481474" y="5120640"/>
            <a:ext cx="3265322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A5560"/>
                </a:solidFill>
                <a:latin typeface="Arial"/>
              </a:rPr>
              <a:t>ГУС-ийн нэгдсэн бүртгэл, кадастр, үнэлгээний өгөгдөл дээр шууд суурилсан тул мэдээлэл давхардахгүй, нэг эх сурвалжтай.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057692" y="4700016"/>
            <a:ext cx="3631082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057692" y="4700016"/>
            <a:ext cx="45720" cy="1078992"/>
          </a:xfrm>
          <a:prstGeom prst="rect">
            <a:avLst/>
          </a:prstGeom>
          <a:solidFill>
            <a:srgbClr val="02C0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258860" y="4846320"/>
            <a:ext cx="326532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2C0CE"/>
                </a:solidFill>
                <a:latin typeface="Arial"/>
              </a:rPr>
              <a:t>ХАМРАХ ХҮРЭЭ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258860" y="5120640"/>
            <a:ext cx="3265322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A5560"/>
                </a:solidFill>
                <a:latin typeface="Arial"/>
              </a:rPr>
              <a:t>Дотоод 6 роль, үнэлгээний байгууллагууд, ГУС-ийн 5 дэд систем, УБЕГ, ТЕГ, ШШГЕГ, E-Mongolia.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658368" cy="658368"/>
          </a:xfrm>
          <a:prstGeom prst="rect">
            <a:avLst/>
          </a:prstGeom>
          <a:solidFill>
            <a:srgbClr val="0E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6583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53312" y="365760"/>
            <a:ext cx="103327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0E2440"/>
                </a:solidFill>
                <a:latin typeface="Arial"/>
              </a:rPr>
              <a:t>Системийн архитектур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A929A"/>
                </a:solidFill>
                <a:latin typeface="Arial"/>
              </a:rPr>
              <a:t>Давхарга бүр тодорхой үүрэгтэй — Clean Architecture зарчмаар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61872"/>
            <a:ext cx="11185855" cy="18288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243584"/>
            <a:ext cx="822960" cy="41148"/>
          </a:xfrm>
          <a:prstGeom prst="rect">
            <a:avLst/>
          </a:prstGeom>
          <a:solidFill>
            <a:srgbClr val="02C0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6455664"/>
            <a:ext cx="11185855" cy="10972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47104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29A"/>
                </a:solidFill>
                <a:latin typeface="Arial"/>
              </a:rPr>
              <a:t>Газар чөлөөлөлт, нөхөх олговрын нэгдсэн систем  ·  Систем хөгжүүлэлтийн техникийн тайлан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74375" y="6547104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A929A"/>
                </a:solidFill>
                <a:latin typeface="Arial"/>
              </a:rPr>
              <a:t>04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554480"/>
            <a:ext cx="7939735" cy="969264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1554480"/>
            <a:ext cx="45720" cy="969264"/>
          </a:xfrm>
          <a:prstGeom prst="rect">
            <a:avLst/>
          </a:prstGeom>
          <a:solidFill>
            <a:srgbClr val="02C0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04088" y="1828800"/>
            <a:ext cx="603504" cy="402336"/>
          </a:xfrm>
          <a:prstGeom prst="rect">
            <a:avLst/>
          </a:prstGeom>
          <a:solidFill>
            <a:srgbClr val="02C0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1920240"/>
            <a:ext cx="6035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UI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72184" y="1737360"/>
            <a:ext cx="67052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E2440"/>
                </a:solidFill>
                <a:latin typeface="Arial"/>
              </a:rPr>
              <a:t>Вэб апп — Next.js 14 (App Router)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72184" y="2029967"/>
            <a:ext cx="67052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A5560"/>
                </a:solidFill>
                <a:latin typeface="Arial"/>
              </a:rPr>
              <a:t>35 хуудас · газрын зургийн прокси · SSE Excel тайлан · DOCX/PDF загвар · React Query кэш · OpenLayers зураг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89907" y="2487168"/>
            <a:ext cx="365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29A"/>
                </a:solidFill>
                <a:latin typeface="Arial"/>
              </a:rPr>
              <a:t>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2633472"/>
            <a:ext cx="7939735" cy="969264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2633472"/>
            <a:ext cx="45720" cy="96926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04088" y="2907791"/>
            <a:ext cx="603504" cy="40233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4088" y="2999232"/>
            <a:ext cx="6035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API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72184" y="2816352"/>
            <a:ext cx="67052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E2440"/>
                </a:solidFill>
                <a:latin typeface="Arial"/>
              </a:rPr>
              <a:t>REST сервер — Go 1.25 / Gin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72184" y="3108960"/>
            <a:ext cx="67052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A5560"/>
                </a:solidFill>
                <a:latin typeface="Arial"/>
              </a:rPr>
              <a:t>Handler → Service → Repository 3 давхарга · JWT, эрх, хуваарилалт, түгжээ, rate-limit · Swagger баримт · 287 үйлдэл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89907" y="3566159"/>
            <a:ext cx="365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29A"/>
                </a:solidFill>
                <a:latin typeface="Arial"/>
              </a:rPr>
              <a:t>▼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3712463"/>
            <a:ext cx="7939735" cy="969264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3712463"/>
            <a:ext cx="45720" cy="969264"/>
          </a:xfrm>
          <a:prstGeom prst="rect">
            <a:avLst/>
          </a:prstGeom>
          <a:solidFill>
            <a:srgbClr val="0E8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04088" y="3986783"/>
            <a:ext cx="603504" cy="402336"/>
          </a:xfrm>
          <a:prstGeom prst="rect">
            <a:avLst/>
          </a:prstGeom>
          <a:solidFill>
            <a:srgbClr val="0E8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4088" y="4078224"/>
            <a:ext cx="6035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DB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72184" y="3895344"/>
            <a:ext cx="67052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E2440"/>
                </a:solidFill>
                <a:latin typeface="Arial"/>
              </a:rPr>
              <a:t>PostgreSQL 16 — хоёр сан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72184" y="4187952"/>
            <a:ext cx="67052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A5560"/>
                </a:solidFill>
                <a:latin typeface="Arial"/>
              </a:rPr>
              <a:t>Бизнесийн сан (69 хүснэгт, PostGIS геометр, 11 GIS харагдац) + хэрэглэгч, хүний нөөцийн сан (19 хүснэгт, ГУС-ийн схем)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89907" y="4645151"/>
            <a:ext cx="365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29A"/>
                </a:solidFill>
                <a:latin typeface="Arial"/>
              </a:rPr>
              <a:t>▼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4791455"/>
            <a:ext cx="7939735" cy="969264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02920" y="4791455"/>
            <a:ext cx="45720" cy="969264"/>
          </a:xfrm>
          <a:prstGeom prst="rect">
            <a:avLst/>
          </a:prstGeom>
          <a:solidFill>
            <a:srgbClr val="0E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04088" y="5065775"/>
            <a:ext cx="603504" cy="402336"/>
          </a:xfrm>
          <a:prstGeom prst="rect">
            <a:avLst/>
          </a:prstGeom>
          <a:solidFill>
            <a:srgbClr val="0E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4088" y="5157216"/>
            <a:ext cx="6035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GIS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72184" y="4974336"/>
            <a:ext cx="67052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E2440"/>
                </a:solidFill>
                <a:latin typeface="Arial"/>
              </a:rPr>
              <a:t>GeoServer 2.25 — WMS / WFS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72184" y="5266944"/>
            <a:ext cx="67052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A5560"/>
                </a:solidFill>
                <a:latin typeface="Arial"/>
              </a:rPr>
              <a:t>16 давхарга: захиргааны нэгж, төлөвлөгөө, чөлөөлөлтийн хил, талбарын статус s0–s5, зөвшилцсөн зураг · CQL шүүлт · 1 нь нээлттэй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79815" y="1554480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E2440"/>
                </a:solidFill>
                <a:latin typeface="Arial"/>
              </a:rPr>
              <a:t>КОДЫН ХЭМЖЭЭ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79815" y="1773936"/>
            <a:ext cx="3108960" cy="10972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579815" y="1938528"/>
            <a:ext cx="310896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579815" y="1938528"/>
            <a:ext cx="45720" cy="60350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62695" y="204825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A78D6"/>
                </a:solidFill>
                <a:latin typeface="Arial"/>
              </a:rPr>
              <a:t>46 644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62695" y="2304288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29A"/>
                </a:solidFill>
                <a:latin typeface="Arial"/>
              </a:rPr>
              <a:t>Сервер (Go) · 153 файл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579815" y="2633472"/>
            <a:ext cx="310896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579815" y="2633472"/>
            <a:ext cx="45720" cy="603504"/>
          </a:xfrm>
          <a:prstGeom prst="rect">
            <a:avLst/>
          </a:prstGeom>
          <a:solidFill>
            <a:srgbClr val="02C0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762695" y="274320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2C0CE"/>
                </a:solidFill>
                <a:latin typeface="Arial"/>
              </a:rPr>
              <a:t>53 671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62695" y="2999232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29A"/>
                </a:solidFill>
                <a:latin typeface="Arial"/>
              </a:rPr>
              <a:t>Вэб (TypeScript) · 182 файл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79815" y="3438144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E2440"/>
                </a:solidFill>
                <a:latin typeface="Arial"/>
              </a:rPr>
              <a:t>ЯАГААД ИЙМ БҮТЭЦТЭЙ ВЭ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579815" y="3657600"/>
            <a:ext cx="3108960" cy="10972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579815" y="3822191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950" b="1" i="0">
                <a:solidFill>
                  <a:srgbClr val="02C0CE"/>
                </a:solidFill>
                <a:latin typeface="Arial"/>
              </a:rPr>
              <a:t>▪  </a:t>
            </a:r>
            <a:r>
              <a:rPr sz="950" b="1" i="0">
                <a:solidFill>
                  <a:srgbClr val="0E2440"/>
                </a:solidFill>
                <a:latin typeface="Arial"/>
              </a:rPr>
              <a:t>Давхарга тусдаа</a:t>
            </a:r>
            <a:r>
              <a:rPr sz="950" b="0" i="0">
                <a:solidFill>
                  <a:srgbClr val="4A5560"/>
                </a:solidFill>
                <a:latin typeface="Arial"/>
              </a:rPr>
              <a:t> — өргөтгөл, засварт тэсвэртэй; багууд зэрэг хөгжүүлнэ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950" b="1" i="0">
                <a:solidFill>
                  <a:srgbClr val="02C0CE"/>
                </a:solidFill>
                <a:latin typeface="Arial"/>
              </a:rPr>
              <a:t>▪  </a:t>
            </a:r>
            <a:r>
              <a:rPr sz="950" b="1" i="0">
                <a:solidFill>
                  <a:srgbClr val="0E2440"/>
                </a:solidFill>
                <a:latin typeface="Arial"/>
              </a:rPr>
              <a:t>Хэрэглэгчийн сан салангид</a:t>
            </a:r>
            <a:r>
              <a:rPr sz="950" b="0" i="0">
                <a:solidFill>
                  <a:srgbClr val="4A5560"/>
                </a:solidFill>
                <a:latin typeface="Arial"/>
              </a:rPr>
              <a:t> — нууц мэдээлэл бизнес өгөгдлөөс тусгаарлагдсан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950" b="1" i="0">
                <a:solidFill>
                  <a:srgbClr val="02C0CE"/>
                </a:solidFill>
                <a:latin typeface="Arial"/>
              </a:rPr>
              <a:t>▪  </a:t>
            </a:r>
            <a:r>
              <a:rPr sz="950" b="1" i="0">
                <a:solidFill>
                  <a:srgbClr val="0E2440"/>
                </a:solidFill>
                <a:latin typeface="Arial"/>
              </a:rPr>
              <a:t>ORM-гүй (pgx)</a:t>
            </a:r>
            <a:r>
              <a:rPr sz="950" b="0" i="0">
                <a:solidFill>
                  <a:srgbClr val="4A5560"/>
                </a:solidFill>
                <a:latin typeface="Arial"/>
              </a:rPr>
              <a:t> — SQL-ийн бүрэн хяналт, өндөр гүйцэтгэл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950" b="1" i="0">
                <a:solidFill>
                  <a:srgbClr val="02C0CE"/>
                </a:solidFill>
                <a:latin typeface="Arial"/>
              </a:rPr>
              <a:t>▪  </a:t>
            </a:r>
            <a:r>
              <a:rPr sz="950" b="1" i="0">
                <a:solidFill>
                  <a:srgbClr val="0E2440"/>
                </a:solidFill>
                <a:latin typeface="Arial"/>
              </a:rPr>
              <a:t>Тооцоолол сан дотор</a:t>
            </a:r>
            <a:r>
              <a:rPr sz="950" b="0" i="0">
                <a:solidFill>
                  <a:srgbClr val="4A5560"/>
                </a:solidFill>
                <a:latin typeface="Arial"/>
              </a:rPr>
              <a:t> — давхцал, талбай — үнэн зөвийн нэг эх сурвалж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950" b="1" i="0">
                <a:solidFill>
                  <a:srgbClr val="02C0CE"/>
                </a:solidFill>
                <a:latin typeface="Arial"/>
              </a:rPr>
              <a:t>▪  </a:t>
            </a:r>
            <a:r>
              <a:rPr sz="950" b="1" i="0">
                <a:solidFill>
                  <a:srgbClr val="0E2440"/>
                </a:solidFill>
                <a:latin typeface="Arial"/>
              </a:rPr>
              <a:t>Docker + compose</a:t>
            </a:r>
            <a:r>
              <a:rPr sz="950" b="0" i="0">
                <a:solidFill>
                  <a:srgbClr val="4A5560"/>
                </a:solidFill>
                <a:latin typeface="Arial"/>
              </a:rPr>
              <a:t> — бүтэн орчин нэг командаар босно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658368" cy="658368"/>
          </a:xfrm>
          <a:prstGeom prst="rect">
            <a:avLst/>
          </a:prstGeom>
          <a:solidFill>
            <a:srgbClr val="0E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6583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53312" y="365760"/>
            <a:ext cx="103327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0E2440"/>
                </a:solidFill>
                <a:latin typeface="Arial"/>
              </a:rPr>
              <a:t>Технологийн стек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A929A"/>
                </a:solidFill>
                <a:latin typeface="Arial"/>
              </a:rPr>
              <a:t>Бүрэн нээлттэй эхийн, лицензийн зардалгүй, дэлхийд өргөн хэрэглэгддэг технологиуд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61872"/>
            <a:ext cx="11185855" cy="18288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243584"/>
            <a:ext cx="822960" cy="41148"/>
          </a:xfrm>
          <a:prstGeom prst="rect">
            <a:avLst/>
          </a:prstGeom>
          <a:solidFill>
            <a:srgbClr val="02C0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6455664"/>
            <a:ext cx="11185855" cy="10972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47104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29A"/>
                </a:solidFill>
                <a:latin typeface="Arial"/>
              </a:rPr>
              <a:t>Газар чөлөөлөлт, нөхөх олговрын нэгдсэн систем  ·  Систем хөгжүүлэлтийн техникийн тайлан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74375" y="6547104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A929A"/>
                </a:solidFill>
                <a:latin typeface="Arial"/>
              </a:rPr>
              <a:t>05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554480"/>
            <a:ext cx="3582314" cy="4041648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1554480"/>
            <a:ext cx="3582314" cy="329184"/>
          </a:xfrm>
          <a:prstGeom prst="rect">
            <a:avLst/>
          </a:prstGeom>
          <a:solidFill>
            <a:srgbClr val="02C0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" y="1636776"/>
            <a:ext cx="328970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Arial"/>
              </a:rPr>
              <a:t>ВЭБ — FRONTEND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" y="2029967"/>
            <a:ext cx="325313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2440"/>
                </a:solidFill>
                <a:latin typeface="Arial"/>
              </a:rPr>
              <a:t>Next.js 14 · React 18 · TS 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" y="2212848"/>
            <a:ext cx="325313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29A"/>
                </a:solidFill>
                <a:latin typeface="Arial"/>
              </a:rPr>
              <a:t>App Router, серверийн рендер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" y="2532887"/>
            <a:ext cx="325313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2440"/>
                </a:solidFill>
                <a:latin typeface="Arial"/>
              </a:rPr>
              <a:t>Radix UI + Tailwind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" y="2715768"/>
            <a:ext cx="325313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29A"/>
                </a:solidFill>
                <a:latin typeface="Arial"/>
              </a:rPr>
              <a:t>хүртээмжтэй UI, бараан горим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" y="3035807"/>
            <a:ext cx="325313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2440"/>
                </a:solidFill>
                <a:latin typeface="Arial"/>
              </a:rPr>
              <a:t>React Query 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" y="3218687"/>
            <a:ext cx="325313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29A"/>
                </a:solidFill>
                <a:latin typeface="Arial"/>
              </a:rPr>
              <a:t>сервер өгөгдлийн кэш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" y="3538727"/>
            <a:ext cx="325313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2440"/>
                </a:solidFill>
                <a:latin typeface="Arial"/>
              </a:rPr>
              <a:t>react-hook-form + zod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" y="3721607"/>
            <a:ext cx="325313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29A"/>
                </a:solidFill>
                <a:latin typeface="Arial"/>
              </a:rPr>
              <a:t>маягт, төрөлтэй валидаци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" y="4041647"/>
            <a:ext cx="325313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2440"/>
                </a:solidFill>
                <a:latin typeface="Arial"/>
              </a:rPr>
              <a:t>OpenLayers 10 · Cesium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" y="4224527"/>
            <a:ext cx="325313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29A"/>
                </a:solidFill>
                <a:latin typeface="Arial"/>
              </a:rPr>
              <a:t>2D/3D интерактив газрын зураг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" y="4544567"/>
            <a:ext cx="325313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2440"/>
                </a:solidFill>
                <a:latin typeface="Arial"/>
              </a:rPr>
              <a:t>exceljs · SheetJS · pdf-lib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" y="4727447"/>
            <a:ext cx="325313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29A"/>
                </a:solidFill>
                <a:latin typeface="Arial"/>
              </a:rPr>
              <a:t>Excel импорт/экспорт, PDF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" y="5047487"/>
            <a:ext cx="325313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2440"/>
                </a:solidFill>
                <a:latin typeface="Arial"/>
              </a:rPr>
              <a:t>docxtemplater · pdfmake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" y="5230367"/>
            <a:ext cx="325313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29A"/>
                </a:solidFill>
                <a:latin typeface="Arial"/>
              </a:rPr>
              <a:t>DOCX албан маягт, PDF мэдэгдэл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04690" y="1554480"/>
            <a:ext cx="3582314" cy="4041648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04690" y="1554480"/>
            <a:ext cx="3582314" cy="32918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50994" y="1636776"/>
            <a:ext cx="328970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Arial"/>
              </a:rPr>
              <a:t>СЕРВЕР — BACKEND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69282" y="2029967"/>
            <a:ext cx="325313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2440"/>
                </a:solidFill>
                <a:latin typeface="Arial"/>
              </a:rPr>
              <a:t>Go 1.25 · Gin 1.10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69282" y="2212848"/>
            <a:ext cx="325313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29A"/>
                </a:solidFill>
                <a:latin typeface="Arial"/>
              </a:rPr>
              <a:t>HTTP framework, өндөр хурд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69282" y="2532887"/>
            <a:ext cx="325313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2440"/>
                </a:solidFill>
                <a:latin typeface="Arial"/>
              </a:rPr>
              <a:t>pgx/v5 (ORM-гүй)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69282" y="2715768"/>
            <a:ext cx="325313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29A"/>
                </a:solidFill>
                <a:latin typeface="Arial"/>
              </a:rPr>
              <a:t>шууд SQL — гүйцэтгэлийн хяналт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69282" y="3035807"/>
            <a:ext cx="325313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2440"/>
                </a:solidFill>
                <a:latin typeface="Arial"/>
              </a:rPr>
              <a:t>golang-jwt/v5 · bcrypt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69282" y="3218687"/>
            <a:ext cx="325313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29A"/>
                </a:solidFill>
                <a:latin typeface="Arial"/>
              </a:rPr>
              <a:t>нэвтрэлт, нууц үгийн хэшлэлт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69282" y="3538727"/>
            <a:ext cx="325313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2440"/>
                </a:solidFill>
                <a:latin typeface="Arial"/>
              </a:rPr>
              <a:t>golang-migrate/v4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69282" y="3721607"/>
            <a:ext cx="325313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29A"/>
                </a:solidFill>
                <a:latin typeface="Arial"/>
              </a:rPr>
              <a:t>сангийн бүтцийн автомат хувилбарлалт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69282" y="4041647"/>
            <a:ext cx="325313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2440"/>
                </a:solidFill>
                <a:latin typeface="Arial"/>
              </a:rPr>
              <a:t>swaggo/swag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69282" y="4224527"/>
            <a:ext cx="325313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29A"/>
                </a:solidFill>
                <a:latin typeface="Arial"/>
              </a:rPr>
              <a:t>Swagger баримтжуулалт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69282" y="4544567"/>
            <a:ext cx="325313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2440"/>
                </a:solidFill>
                <a:latin typeface="Arial"/>
              </a:rPr>
              <a:t>testify + mock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69282" y="4727447"/>
            <a:ext cx="325313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29A"/>
                </a:solidFill>
                <a:latin typeface="Arial"/>
              </a:rPr>
              <a:t>давхаргажсан unit тест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69282" y="5047487"/>
            <a:ext cx="325313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2440"/>
                </a:solidFill>
                <a:latin typeface="Arial"/>
              </a:rPr>
              <a:t>Өөрсдөө бичсэн shapefile уншигч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69282" y="5230367"/>
            <a:ext cx="325313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29A"/>
                </a:solidFill>
                <a:latin typeface="Arial"/>
              </a:rPr>
              <a:t>ESRI .shp → WKT, гадны сангүй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106460" y="1554480"/>
            <a:ext cx="3582314" cy="4041648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106460" y="1554480"/>
            <a:ext cx="3582314" cy="329184"/>
          </a:xfrm>
          <a:prstGeom prst="rect">
            <a:avLst/>
          </a:prstGeom>
          <a:solidFill>
            <a:srgbClr val="0E8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52764" y="1636776"/>
            <a:ext cx="328970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Arial"/>
              </a:rPr>
              <a:t>ДЭД БҮТЭЦ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71052" y="2029967"/>
            <a:ext cx="325313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2440"/>
                </a:solidFill>
                <a:latin typeface="Arial"/>
              </a:rPr>
              <a:t>PostgreSQL 16 + PostGIS 3.4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71052" y="2212848"/>
            <a:ext cx="325313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29A"/>
                </a:solidFill>
                <a:latin typeface="Arial"/>
              </a:rPr>
              <a:t>реляц + орон зайн сан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71052" y="2532887"/>
            <a:ext cx="325313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2440"/>
                </a:solidFill>
                <a:latin typeface="Arial"/>
              </a:rPr>
              <a:t>GeoServer 2.25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71052" y="2715768"/>
            <a:ext cx="325313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29A"/>
                </a:solidFill>
                <a:latin typeface="Arial"/>
              </a:rPr>
              <a:t>WMS/WFS үйлчилгээ, SLD загвар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71052" y="3035807"/>
            <a:ext cx="325313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2440"/>
                </a:solidFill>
                <a:latin typeface="Arial"/>
              </a:rPr>
              <a:t>MinIO (S3)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71052" y="3218687"/>
            <a:ext cx="325313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29A"/>
                </a:solidFill>
                <a:latin typeface="Arial"/>
              </a:rPr>
              <a:t>бүх файлын нэгдсэн хадгалалт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71052" y="3538727"/>
            <a:ext cx="325313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2440"/>
                </a:solidFill>
                <a:latin typeface="Arial"/>
              </a:rPr>
              <a:t>Docker + compose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71052" y="3721607"/>
            <a:ext cx="325313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29A"/>
                </a:solidFill>
                <a:latin typeface="Arial"/>
              </a:rPr>
              <a:t>контейнержуулалт, ижил орчин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71052" y="4041647"/>
            <a:ext cx="325313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2440"/>
                </a:solidFill>
                <a:latin typeface="Arial"/>
              </a:rPr>
              <a:t>SMTP · E-Mongolia · ХУР (XYP)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71052" y="4224527"/>
            <a:ext cx="325313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29A"/>
                </a:solidFill>
                <a:latin typeface="Arial"/>
              </a:rPr>
              <a:t>гадаад хүргэлт, лавлагааны гарц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71052" y="4544567"/>
            <a:ext cx="325313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2440"/>
                </a:solidFill>
                <a:latin typeface="Arial"/>
              </a:rPr>
              <a:t>systemd · Makefile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71052" y="4727447"/>
            <a:ext cx="325313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29A"/>
                </a:solidFill>
                <a:latin typeface="Arial"/>
              </a:rPr>
              <a:t>байршуулалт, автоматжуулсан командууд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71052" y="5047487"/>
            <a:ext cx="325313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2440"/>
                </a:solidFill>
                <a:latin typeface="Arial"/>
              </a:rPr>
              <a:t>Nginx урд прокси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271052" y="5230367"/>
            <a:ext cx="325313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29A"/>
                </a:solidFill>
                <a:latin typeface="Arial"/>
              </a:rPr>
              <a:t>TLS, статик файл, урсгал хуваарилалт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02920" y="5742432"/>
            <a:ext cx="111858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A5560"/>
                </a:solidFill>
                <a:latin typeface="Arial"/>
              </a:rPr>
              <a:t>Бүх бүрэлдэхүүн нээлттэй эхийн бөгөөд идэвхтэй хөгжиж буй тул урт хугацаанд найдвартай, лицензийн төлбөргүй, нийлүүлэгчээс хараат бус.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658368" cy="658368"/>
          </a:xfrm>
          <a:prstGeom prst="rect">
            <a:avLst/>
          </a:prstGeom>
          <a:solidFill>
            <a:srgbClr val="0E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6583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53312" y="365760"/>
            <a:ext cx="103327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0E2440"/>
                </a:solidFill>
                <a:latin typeface="Arial"/>
              </a:rPr>
              <a:t>Мэдээллийн сангийн бүтэц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A929A"/>
                </a:solidFill>
                <a:latin typeface="Arial"/>
              </a:rPr>
              <a:t>Бизнесийн сан 69 хүснэгт (PostGIS) + хэрэглэгч, хүний нөөцийн сан 19 хүснэгт ·  11 GIS харагдац  ·  30 migration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61872"/>
            <a:ext cx="11185855" cy="18288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243584"/>
            <a:ext cx="822960" cy="41148"/>
          </a:xfrm>
          <a:prstGeom prst="rect">
            <a:avLst/>
          </a:prstGeom>
          <a:solidFill>
            <a:srgbClr val="02C0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6455664"/>
            <a:ext cx="11185855" cy="10972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47104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29A"/>
                </a:solidFill>
                <a:latin typeface="Arial"/>
              </a:rPr>
              <a:t>Газар чөлөөлөлт, нөхөх олговрын нэгдсэн систем  ·  Систем хөгжүүлэлтийн техникийн тайлан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74375" y="6547104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A929A"/>
                </a:solidFill>
                <a:latin typeface="Arial"/>
              </a:rPr>
              <a:t>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554480"/>
            <a:ext cx="697961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E2440"/>
                </a:solidFill>
                <a:latin typeface="Arial"/>
              </a:rPr>
              <a:t>БИЗНЕСИЙН САНГИЙН ХҮСНЭГТ — ДОМЭЙНЭЭР (69)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773936"/>
            <a:ext cx="6979615" cy="10972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993392"/>
            <a:ext cx="2240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A5560"/>
                </a:solidFill>
                <a:latin typeface="Arial"/>
              </a:rPr>
              <a:t>Нэгж талбар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62072" y="2007108"/>
            <a:ext cx="4327855" cy="182880"/>
          </a:xfrm>
          <a:prstGeom prst="rect">
            <a:avLst/>
          </a:prstGeom>
          <a:solidFill>
            <a:srgbClr val="02C0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63079" y="1993392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E2440"/>
                </a:solidFill>
                <a:latin typeface="Arial"/>
              </a:rPr>
              <a:t>17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308860"/>
            <a:ext cx="2240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A5560"/>
                </a:solidFill>
                <a:latin typeface="Arial"/>
              </a:rPr>
              <a:t>Газар чөлөөлөлт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62072" y="2322576"/>
            <a:ext cx="2545797" cy="182880"/>
          </a:xfrm>
          <a:prstGeom prst="rect">
            <a:avLst/>
          </a:prstGeom>
          <a:solidFill>
            <a:srgbClr val="02C0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1021" y="2308860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E2440"/>
                </a:solidFill>
                <a:latin typeface="Arial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2624327"/>
            <a:ext cx="2240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A5560"/>
                </a:solidFill>
                <a:latin typeface="Arial"/>
              </a:rPr>
              <a:t>Үнэлгээ, олговор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62072" y="2638044"/>
            <a:ext cx="2545797" cy="18288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1021" y="2624327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E2440"/>
                </a:solidFill>
                <a:latin typeface="Arial"/>
              </a:rPr>
              <a:t>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2939795"/>
            <a:ext cx="2240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A5560"/>
                </a:solidFill>
                <a:latin typeface="Arial"/>
              </a:rPr>
              <a:t>Лавлах, тохиргоо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862072" y="2953511"/>
            <a:ext cx="2545797" cy="18288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1021" y="2939795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E2440"/>
                </a:solidFill>
                <a:latin typeface="Arial"/>
              </a:rPr>
              <a:t>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3255263"/>
            <a:ext cx="2240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A5560"/>
                </a:solidFill>
                <a:latin typeface="Arial"/>
              </a:rPr>
              <a:t>Захирамжийн төсөл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862072" y="3268979"/>
            <a:ext cx="1527478" cy="182880"/>
          </a:xfrm>
          <a:prstGeom prst="rect">
            <a:avLst/>
          </a:prstGeom>
          <a:solidFill>
            <a:srgbClr val="0E8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62702" y="3255263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E2440"/>
                </a:solidFill>
                <a:latin typeface="Arial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3570731"/>
            <a:ext cx="2240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A5560"/>
                </a:solidFill>
                <a:latin typeface="Arial"/>
              </a:rPr>
              <a:t>Аюулгүй байдал, байгууллага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862072" y="3584447"/>
            <a:ext cx="1272898" cy="182880"/>
          </a:xfrm>
          <a:prstGeom prst="rect">
            <a:avLst/>
          </a:prstGeom>
          <a:solidFill>
            <a:srgbClr val="0E8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08122" y="3570731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E2440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3886199"/>
            <a:ext cx="2240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A5560"/>
                </a:solidFill>
                <a:latin typeface="Arial"/>
              </a:rPr>
              <a:t>Захиргааны нэгж, GIS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62072" y="3899915"/>
            <a:ext cx="1018318" cy="182880"/>
          </a:xfrm>
          <a:prstGeom prst="rect">
            <a:avLst/>
          </a:prstGeom>
          <a:solidFill>
            <a:srgbClr val="0E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53542" y="3886199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E2440"/>
                </a:solidFill>
                <a:latin typeface="Arial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4201667"/>
            <a:ext cx="2240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A5560"/>
                </a:solidFill>
                <a:latin typeface="Arial"/>
              </a:rPr>
              <a:t>Мэдэгдэл, аудит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862072" y="4215383"/>
            <a:ext cx="1018318" cy="182880"/>
          </a:xfrm>
          <a:prstGeom prst="rect">
            <a:avLst/>
          </a:prstGeom>
          <a:solidFill>
            <a:srgbClr val="0E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953542" y="4201667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E2440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4517135"/>
            <a:ext cx="2240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A5560"/>
                </a:solidFill>
                <a:latin typeface="Arial"/>
              </a:rPr>
              <a:t>Баримт, эзэмшигч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862072" y="4530851"/>
            <a:ext cx="763739" cy="182880"/>
          </a:xfrm>
          <a:prstGeom prst="rect">
            <a:avLst/>
          </a:prstGeom>
          <a:solidFill>
            <a:srgbClr val="0E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98963" y="4517135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E2440"/>
                </a:solidFill>
                <a:latin typeface="Arial"/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4905755"/>
            <a:ext cx="69796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A929A"/>
                </a:solidFill>
                <a:latin typeface="Arial"/>
              </a:rPr>
              <a:t>Хэрэглэгч, эрх, хүний нөөцийн сан (ГУС-ийн схем): 19 хүснэгт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65415" y="1554480"/>
            <a:ext cx="4023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E2440"/>
                </a:solidFill>
                <a:latin typeface="Arial"/>
              </a:rPr>
              <a:t>ОНЦЛОХ ДИЗАЙНЫ ШИЙДЛҮҮД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665415" y="1773936"/>
            <a:ext cx="4023360" cy="10972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65415" y="1975104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950" b="1" i="0">
                <a:solidFill>
                  <a:srgbClr val="02C0CE"/>
                </a:solidFill>
                <a:latin typeface="Arial"/>
              </a:rPr>
              <a:t>▪  </a:t>
            </a:r>
            <a:r>
              <a:rPr sz="950" b="1" i="0">
                <a:solidFill>
                  <a:srgbClr val="0E2440"/>
                </a:solidFill>
                <a:latin typeface="Arial"/>
              </a:rPr>
              <a:t>Газарзүйн багана</a:t>
            </a:r>
            <a:r>
              <a:rPr sz="950" b="0" i="0">
                <a:solidFill>
                  <a:srgbClr val="4A5560"/>
                </a:solidFill>
                <a:latin typeface="Arial"/>
              </a:rPr>
              <a:t> — хил, давхцал, чөлөөлөх талбайг сан өөрөө UTM-ээр бодно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950" b="1" i="0">
                <a:solidFill>
                  <a:srgbClr val="02C0CE"/>
                </a:solidFill>
                <a:latin typeface="Arial"/>
              </a:rPr>
              <a:t>▪  </a:t>
            </a:r>
            <a:r>
              <a:rPr sz="950" b="1" i="0">
                <a:solidFill>
                  <a:srgbClr val="0E2440"/>
                </a:solidFill>
                <a:latin typeface="Arial"/>
              </a:rPr>
              <a:t>3 зэрэгцээ үнэлгээний урсгал</a:t>
            </a:r>
            <a:r>
              <a:rPr sz="950" b="0" i="0">
                <a:solidFill>
                  <a:srgbClr val="4A5560"/>
                </a:solidFill>
                <a:latin typeface="Arial"/>
              </a:rPr>
              <a:t> — хөрөнгийн · хөндлөнгийн · МИКА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950" b="1" i="0">
                <a:solidFill>
                  <a:srgbClr val="02C0CE"/>
                </a:solidFill>
                <a:latin typeface="Arial"/>
              </a:rPr>
              <a:t>▪  </a:t>
            </a:r>
            <a:r>
              <a:rPr sz="950" b="1" i="0">
                <a:solidFill>
                  <a:srgbClr val="0E2440"/>
                </a:solidFill>
                <a:latin typeface="Arial"/>
              </a:rPr>
              <a:t>Бүрэн түүхжүүлэлт</a:t>
            </a:r>
            <a:r>
              <a:rPr sz="950" b="0" i="0">
                <a:solidFill>
                  <a:srgbClr val="4A5560"/>
                </a:solidFill>
                <a:latin typeface="Arial"/>
              </a:rPr>
              <a:t> — статус, хил, олговор, үнэлгээ бүр түүхийн хүснэгттэй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950" b="1" i="0">
                <a:solidFill>
                  <a:srgbClr val="02C0CE"/>
                </a:solidFill>
                <a:latin typeface="Arial"/>
              </a:rPr>
              <a:t>▪  </a:t>
            </a:r>
            <a:r>
              <a:rPr sz="950" b="1" i="0">
                <a:solidFill>
                  <a:srgbClr val="0E2440"/>
                </a:solidFill>
                <a:latin typeface="Arial"/>
              </a:rPr>
              <a:t>Цуцлалтын архив</a:t>
            </a:r>
            <a:r>
              <a:rPr sz="950" b="0" i="0">
                <a:solidFill>
                  <a:srgbClr val="4A5560"/>
                </a:solidFill>
                <a:latin typeface="Arial"/>
              </a:rPr>
              <a:t> — хүчингүй болсон үнэлгээ бүтнээрээ хадгалагдана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950" b="1" i="0">
                <a:solidFill>
                  <a:srgbClr val="02C0CE"/>
                </a:solidFill>
                <a:latin typeface="Arial"/>
              </a:rPr>
              <a:t>▪  </a:t>
            </a:r>
            <a:r>
              <a:rPr sz="950" b="1" i="0">
                <a:solidFill>
                  <a:srgbClr val="0E2440"/>
                </a:solidFill>
                <a:latin typeface="Arial"/>
              </a:rPr>
              <a:t>SHA-256 дедупликаци</a:t>
            </a:r>
            <a:r>
              <a:rPr sz="950" b="0" i="0">
                <a:solidFill>
                  <a:srgbClr val="4A5560"/>
                </a:solidFill>
                <a:latin typeface="Arial"/>
              </a:rPr>
              <a:t> — нэг Excel хоёр удаа орохоос сэргийлнэ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950" b="1" i="0">
                <a:solidFill>
                  <a:srgbClr val="02C0CE"/>
                </a:solidFill>
                <a:latin typeface="Arial"/>
              </a:rPr>
              <a:t>▪  </a:t>
            </a:r>
            <a:r>
              <a:rPr sz="950" b="1" i="0">
                <a:solidFill>
                  <a:srgbClr val="0E2440"/>
                </a:solidFill>
                <a:latin typeface="Arial"/>
              </a:rPr>
              <a:t>Token удирдлага</a:t>
            </a:r>
            <a:r>
              <a:rPr sz="950" b="0" i="0">
                <a:solidFill>
                  <a:srgbClr val="4A5560"/>
                </a:solidFill>
                <a:latin typeface="Arial"/>
              </a:rPr>
              <a:t> — хүчингүйжүүлэх жагсаалт + session epoch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950" b="1" i="0">
                <a:solidFill>
                  <a:srgbClr val="02C0CE"/>
                </a:solidFill>
                <a:latin typeface="Arial"/>
              </a:rPr>
              <a:t>▪  </a:t>
            </a:r>
            <a:r>
              <a:rPr sz="950" b="1" i="0">
                <a:solidFill>
                  <a:srgbClr val="0E2440"/>
                </a:solidFill>
                <a:latin typeface="Arial"/>
              </a:rPr>
              <a:t>Хатуу устгалгүй</a:t>
            </a:r>
            <a:r>
              <a:rPr sz="950" b="0" i="0">
                <a:solidFill>
                  <a:srgbClr val="4A5560"/>
                </a:solidFill>
                <a:latin typeface="Arial"/>
              </a:rPr>
              <a:t> — хүн, ажилтны бүртгэл идэвхгүй болно, устдаггүй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658368" cy="658368"/>
          </a:xfrm>
          <a:prstGeom prst="rect">
            <a:avLst/>
          </a:prstGeom>
          <a:solidFill>
            <a:srgbClr val="0E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6583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53312" y="365760"/>
            <a:ext cx="103327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0E2440"/>
                </a:solidFill>
                <a:latin typeface="Arial"/>
              </a:rPr>
              <a:t>API интерфейс ба гадаад гарц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A929A"/>
                </a:solidFill>
                <a:latin typeface="Arial"/>
              </a:rPr>
              <a:t>/api/v1 суурьтай 287 REST үйлдэл  ·  бүгд Swagger-ээр баримтжсан  ·  маршрутаас шууд тоологдсон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61872"/>
            <a:ext cx="11185855" cy="18288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243584"/>
            <a:ext cx="822960" cy="41148"/>
          </a:xfrm>
          <a:prstGeom prst="rect">
            <a:avLst/>
          </a:prstGeom>
          <a:solidFill>
            <a:srgbClr val="02C0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6455664"/>
            <a:ext cx="11185855" cy="10972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47104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29A"/>
                </a:solidFill>
                <a:latin typeface="Arial"/>
              </a:rPr>
              <a:t>Газар чөлөөлөлт, нөхөх олговрын нэгдсэн систем  ·  Систем хөгжүүлэлтийн техникийн тайлан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74375" y="6547104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A929A"/>
                </a:solidFill>
                <a:latin typeface="Arial"/>
              </a:rPr>
              <a:t>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554480"/>
            <a:ext cx="675101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E2440"/>
                </a:solidFill>
                <a:latin typeface="Arial"/>
              </a:rPr>
              <a:t>ҮЙЛДЛҮҮД — БҮЛГЭЭР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773936"/>
            <a:ext cx="6751015" cy="10972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993392"/>
            <a:ext cx="2971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A5560"/>
                </a:solidFill>
                <a:latin typeface="Arial"/>
              </a:rPr>
              <a:t>Газар чөлөөлөлт, талбар, үнэлгээ, олговор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93591" y="2007108"/>
            <a:ext cx="3367735" cy="182880"/>
          </a:xfrm>
          <a:prstGeom prst="rect">
            <a:avLst/>
          </a:prstGeom>
          <a:solidFill>
            <a:srgbClr val="02C0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34479" y="1993392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E2440"/>
                </a:solidFill>
                <a:latin typeface="Arial"/>
              </a:rPr>
              <a:t>99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350008"/>
            <a:ext cx="2971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A5560"/>
                </a:solidFill>
                <a:latin typeface="Arial"/>
              </a:rPr>
              <a:t>Мэргэжлийн байгууллагын портал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93591" y="2363724"/>
            <a:ext cx="1598823" cy="18288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65567" y="2350008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E2440"/>
                </a:solidFill>
                <a:latin typeface="Arial"/>
              </a:rPr>
              <a:t>47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2706624"/>
            <a:ext cx="2971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A5560"/>
                </a:solidFill>
                <a:latin typeface="Arial"/>
              </a:rPr>
              <a:t>Лавлах, тохиргооны модулиуд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93591" y="2720340"/>
            <a:ext cx="1088560" cy="182880"/>
          </a:xfrm>
          <a:prstGeom prst="rect">
            <a:avLst/>
          </a:prstGeom>
          <a:solidFill>
            <a:srgbClr val="0E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5304" y="2706624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E2440"/>
                </a:solidFill>
                <a:latin typeface="Arial"/>
              </a:rPr>
              <a:t>32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063240"/>
            <a:ext cx="2971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A5560"/>
                </a:solidFill>
                <a:latin typeface="Arial"/>
              </a:rPr>
              <a:t>Нэвтрэлт, мэдэгдэл, тайлан, аудит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593591" y="3076956"/>
            <a:ext cx="1020525" cy="182880"/>
          </a:xfrm>
          <a:prstGeom prst="rect">
            <a:avLst/>
          </a:prstGeom>
          <a:solidFill>
            <a:srgbClr val="0E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87269" y="3063240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E2440"/>
                </a:solidFill>
                <a:latin typeface="Arial"/>
              </a:rPr>
              <a:t>30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3419856"/>
            <a:ext cx="2971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A5560"/>
                </a:solidFill>
                <a:latin typeface="Arial"/>
              </a:rPr>
              <a:t>Хүний нөөц, байгууллагын бүртгэл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593591" y="3433572"/>
            <a:ext cx="918473" cy="182880"/>
          </a:xfrm>
          <a:prstGeom prst="rect">
            <a:avLst/>
          </a:prstGeom>
          <a:solidFill>
            <a:srgbClr val="0E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85217" y="3419856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E2440"/>
                </a:solidFill>
                <a:latin typeface="Arial"/>
              </a:rPr>
              <a:t>27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3776472"/>
            <a:ext cx="2971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A5560"/>
                </a:solidFill>
                <a:latin typeface="Arial"/>
              </a:rPr>
              <a:t>Хэрэглэгч, роль, зөвшөөрөл, цэс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593591" y="3790188"/>
            <a:ext cx="884455" cy="182880"/>
          </a:xfrm>
          <a:prstGeom prst="rect">
            <a:avLst/>
          </a:prstGeom>
          <a:solidFill>
            <a:srgbClr val="0E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51199" y="3776472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E2440"/>
                </a:solidFill>
                <a:latin typeface="Arial"/>
              </a:rPr>
              <a:t>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4133087"/>
            <a:ext cx="2971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A5560"/>
                </a:solidFill>
                <a:latin typeface="Arial"/>
              </a:rPr>
              <a:t>Захирамжийн төсөл, төсөв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593591" y="4146804"/>
            <a:ext cx="850438" cy="182880"/>
          </a:xfrm>
          <a:prstGeom prst="rect">
            <a:avLst/>
          </a:prstGeom>
          <a:solidFill>
            <a:srgbClr val="0E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17182" y="4133087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E2440"/>
                </a:solidFill>
                <a:latin typeface="Arial"/>
              </a:rPr>
              <a:t>25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4489703"/>
            <a:ext cx="2971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A5560"/>
                </a:solidFill>
                <a:latin typeface="Arial"/>
              </a:rPr>
              <a:t>Гадны байгууллагын гарц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93591" y="4503420"/>
            <a:ext cx="54864" cy="182880"/>
          </a:xfrm>
          <a:prstGeom prst="rect">
            <a:avLst/>
          </a:prstGeom>
          <a:solidFill>
            <a:srgbClr val="0E8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721607" y="4489703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E2440"/>
                </a:solidFill>
                <a:latin typeface="Arial"/>
              </a:rPr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36815" y="1554480"/>
            <a:ext cx="4251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E2440"/>
                </a:solidFill>
                <a:latin typeface="Arial"/>
              </a:rPr>
              <a:t>ГАДАГШ НЭЭСЭН 3 СУВАГ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36815" y="1773936"/>
            <a:ext cx="4251960" cy="10972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436815" y="1975104"/>
            <a:ext cx="4251960" cy="1261872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436815" y="1975104"/>
            <a:ext cx="45720" cy="126187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37983" y="2103120"/>
            <a:ext cx="3886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2440"/>
                </a:solidFill>
                <a:latin typeface="Arial"/>
              </a:rPr>
              <a:t>Мэргэжлийн байгууллагын портал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37983" y="2359152"/>
            <a:ext cx="3886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A78D6"/>
                </a:solidFill>
                <a:latin typeface="Arial"/>
              </a:rPr>
              <a:t>/api/v1/prof/*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37983" y="2596896"/>
            <a:ext cx="38862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A5560"/>
                </a:solidFill>
                <a:latin typeface="Arial"/>
              </a:rPr>
              <a:t>47 үйлдэлтэй ТУСГААРЛАГДСАН суваг — байгууллага зөвхөн өөрт оногдсон объектод, өөрийн үнэлгээний урсгалдаа ажиллана.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436815" y="3346704"/>
            <a:ext cx="4251960" cy="1261872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436815" y="3346704"/>
            <a:ext cx="45720" cy="1261872"/>
          </a:xfrm>
          <a:prstGeom prst="rect">
            <a:avLst/>
          </a:prstGeom>
          <a:solidFill>
            <a:srgbClr val="02C0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637983" y="3474720"/>
            <a:ext cx="3886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2440"/>
                </a:solidFill>
                <a:latin typeface="Arial"/>
              </a:rPr>
              <a:t>Нөхөх олговрын REST API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37983" y="3730752"/>
            <a:ext cx="3886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2C0CE"/>
                </a:solidFill>
                <a:latin typeface="Arial"/>
              </a:rPr>
              <a:t>/api/v1/external/compensations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37983" y="3968496"/>
            <a:ext cx="38862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A5560"/>
                </a:solidFill>
                <a:latin typeface="Arial"/>
              </a:rPr>
              <a:t>Гадны системд зориулсан API key-тэй гарц (SHA-256) · 120 хүсэлт/мин · нэгж талбар, төлөвлөгөө, төлөвлөгөөний дугаараар 3 хэлбэрийн шүүлт.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436815" y="4718304"/>
            <a:ext cx="4251960" cy="1261872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436815" y="4718304"/>
            <a:ext cx="45720" cy="1261872"/>
          </a:xfrm>
          <a:prstGeom prst="rect">
            <a:avLst/>
          </a:prstGeom>
          <a:solidFill>
            <a:srgbClr val="0E8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637983" y="4846320"/>
            <a:ext cx="3886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2440"/>
                </a:solidFill>
                <a:latin typeface="Arial"/>
              </a:rPr>
              <a:t>Нээлттэй GIS давхарга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37983" y="5102352"/>
            <a:ext cx="3886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E8345"/>
                </a:solidFill>
                <a:latin typeface="Arial"/>
              </a:rPr>
              <a:t>land:v_parcel_public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37983" y="5340096"/>
            <a:ext cx="38862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A5560"/>
                </a:solidFill>
                <a:latin typeface="Arial"/>
              </a:rPr>
              <a:t>16 давхаргын 1 нь эрх шалгахгүй нээлттэй · WMS/OWS/WFS · зөвхөн унших · QGIS, ArcGIS, Leaflet шууд холбоно.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658368" cy="658368"/>
          </a:xfrm>
          <a:prstGeom prst="rect">
            <a:avLst/>
          </a:prstGeom>
          <a:solidFill>
            <a:srgbClr val="0E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6583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53312" y="365760"/>
            <a:ext cx="103327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0E2440"/>
                </a:solidFill>
                <a:latin typeface="Arial"/>
              </a:rPr>
              <a:t>Аюулгүй байдал, эрхийн удирдлага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A929A"/>
                </a:solidFill>
                <a:latin typeface="Arial"/>
              </a:rPr>
              <a:t>JWT нэвтрэлт + нарийвчилсан зөвшөөрөл + объект түвшний хяналт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61872"/>
            <a:ext cx="11185855" cy="18288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243584"/>
            <a:ext cx="822960" cy="41148"/>
          </a:xfrm>
          <a:prstGeom prst="rect">
            <a:avLst/>
          </a:prstGeom>
          <a:solidFill>
            <a:srgbClr val="02C0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6455664"/>
            <a:ext cx="11185855" cy="10972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47104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29A"/>
                </a:solidFill>
                <a:latin typeface="Arial"/>
              </a:rPr>
              <a:t>Газар чөлөөлөлт, нөхөх олговрын нэгдсэн систем  ·  Систем хөгжүүлэлтийн техникийн тайлан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74375" y="6547104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A929A"/>
                </a:solidFill>
                <a:latin typeface="Arial"/>
              </a:rPr>
              <a:t>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554480"/>
            <a:ext cx="546491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E2440"/>
                </a:solidFill>
                <a:latin typeface="Arial"/>
              </a:rPr>
              <a:t>НЭВТРЭЛТ БА TOKEN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773936"/>
            <a:ext cx="5464911" cy="10972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975104"/>
            <a:ext cx="546491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950" b="1" i="0">
                <a:solidFill>
                  <a:srgbClr val="02C0CE"/>
                </a:solidFill>
                <a:latin typeface="Arial"/>
              </a:rPr>
              <a:t>▪  </a:t>
            </a:r>
            <a:r>
              <a:rPr sz="950" b="1" i="0">
                <a:solidFill>
                  <a:srgbClr val="0E2440"/>
                </a:solidFill>
                <a:latin typeface="Arial"/>
              </a:rPr>
              <a:t>JWT (HS256)</a:t>
            </a:r>
            <a:r>
              <a:rPr sz="950" b="0" i="0">
                <a:solidFill>
                  <a:srgbClr val="4A5560"/>
                </a:solidFill>
                <a:latin typeface="Arial"/>
              </a:rPr>
              <a:t> — access 15 мин + refresh 7 хоног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950" b="1" i="0">
                <a:solidFill>
                  <a:srgbClr val="02C0CE"/>
                </a:solidFill>
                <a:latin typeface="Arial"/>
              </a:rPr>
              <a:t>▪  </a:t>
            </a:r>
            <a:r>
              <a:rPr sz="950" b="1" i="0">
                <a:solidFill>
                  <a:srgbClr val="0E2440"/>
                </a:solidFill>
                <a:latin typeface="Arial"/>
              </a:rPr>
              <a:t>bcrypt хэшлэлт</a:t>
            </a:r>
            <a:r>
              <a:rPr sz="950" b="0" i="0">
                <a:solidFill>
                  <a:srgbClr val="4A5560"/>
                </a:solidFill>
                <a:latin typeface="Arial"/>
              </a:rPr>
              <a:t> — нууц үг сэргээх — SHA-256 token, 1 цагийн хугацаатай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950" b="1" i="0">
                <a:solidFill>
                  <a:srgbClr val="02C0CE"/>
                </a:solidFill>
                <a:latin typeface="Arial"/>
              </a:rPr>
              <a:t>▪  </a:t>
            </a:r>
            <a:r>
              <a:rPr sz="950" b="1" i="0">
                <a:solidFill>
                  <a:srgbClr val="0E2440"/>
                </a:solidFill>
                <a:latin typeface="Arial"/>
              </a:rPr>
              <a:t>Token хүчингүйжүүлэлт</a:t>
            </a:r>
            <a:r>
              <a:rPr sz="950" b="0" i="0">
                <a:solidFill>
                  <a:srgbClr val="4A5560"/>
                </a:solidFill>
                <a:latin typeface="Arial"/>
              </a:rPr>
              <a:t> — revocation list + session epoch — гарсан төхөөрөмж тасарна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950" b="1" i="0">
                <a:solidFill>
                  <a:srgbClr val="02C0CE"/>
                </a:solidFill>
                <a:latin typeface="Arial"/>
              </a:rPr>
              <a:t>▪  </a:t>
            </a:r>
            <a:r>
              <a:rPr sz="950" b="1" i="0">
                <a:solidFill>
                  <a:srgbClr val="0E2440"/>
                </a:solidFill>
                <a:latin typeface="Arial"/>
              </a:rPr>
              <a:t>resource:action зөвшөөрөл</a:t>
            </a:r>
            <a:r>
              <a:rPr sz="950" b="0" i="0">
                <a:solidFill>
                  <a:srgbClr val="4A5560"/>
                </a:solidFill>
                <a:latin typeface="Arial"/>
              </a:rPr>
              <a:t> — JWT-д шингэсэн — DB хандалтгүй шалгалт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950" b="1" i="0">
                <a:solidFill>
                  <a:srgbClr val="02C0CE"/>
                </a:solidFill>
                <a:latin typeface="Arial"/>
              </a:rPr>
              <a:t>▪  </a:t>
            </a:r>
            <a:r>
              <a:rPr sz="950" b="1" i="0">
                <a:solidFill>
                  <a:srgbClr val="0E2440"/>
                </a:solidFill>
                <a:latin typeface="Arial"/>
              </a:rPr>
              <a:t>Хоёр эх сурвалжтай хэрэглэгч</a:t>
            </a:r>
            <a:r>
              <a:rPr sz="950" b="0" i="0">
                <a:solidFill>
                  <a:srgbClr val="4A5560"/>
                </a:solidFill>
                <a:latin typeface="Arial"/>
              </a:rPr>
              <a:t> — дотоод ажилтан ба байгууллагын ажилтан тусдаа орон зайд — дугаар давхцахгүй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950" b="1" i="0">
                <a:solidFill>
                  <a:srgbClr val="02C0CE"/>
                </a:solidFill>
                <a:latin typeface="Arial"/>
              </a:rPr>
              <a:t>▪  </a:t>
            </a:r>
            <a:r>
              <a:rPr sz="950" b="1" i="0">
                <a:solidFill>
                  <a:srgbClr val="0E2440"/>
                </a:solidFill>
                <a:latin typeface="Arial"/>
              </a:rPr>
              <a:t>Файлын нэгдсэн гарц</a:t>
            </a:r>
            <a:r>
              <a:rPr sz="950" b="0" i="0">
                <a:solidFill>
                  <a:srgbClr val="4A5560"/>
                </a:solidFill>
                <a:latin typeface="Arial"/>
              </a:rPr>
              <a:t> — бүх татаж авалт эрх шалгасны дараа хадгалалтаас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23863" y="1554480"/>
            <a:ext cx="546491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E2440"/>
                </a:solidFill>
                <a:latin typeface="Arial"/>
              </a:rPr>
              <a:t>4 ДАВХАР ХАМГААЛАЛТ (MIDDLEWARE)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23863" y="1773936"/>
            <a:ext cx="5464911" cy="10972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23863" y="1975104"/>
            <a:ext cx="546491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950" b="1" i="0">
                <a:solidFill>
                  <a:srgbClr val="2A78D6"/>
                </a:solidFill>
                <a:latin typeface="Arial"/>
              </a:rPr>
              <a:t>▪  </a:t>
            </a:r>
            <a:r>
              <a:rPr sz="950" b="1" i="0">
                <a:solidFill>
                  <a:srgbClr val="0E2440"/>
                </a:solidFill>
                <a:latin typeface="Arial"/>
              </a:rPr>
              <a:t>1. Зөвшөөрөл / роль</a:t>
            </a:r>
            <a:r>
              <a:rPr sz="950" b="0" i="0">
                <a:solidFill>
                  <a:srgbClr val="4A5560"/>
                </a:solidFill>
                <a:latin typeface="Arial"/>
              </a:rPr>
              <a:t> — RequirePermission, RequireAnyRole…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950" b="1" i="0">
                <a:solidFill>
                  <a:srgbClr val="2A78D6"/>
                </a:solidFill>
                <a:latin typeface="Arial"/>
              </a:rPr>
              <a:t>▪  </a:t>
            </a:r>
            <a:r>
              <a:rPr sz="950" b="1" i="0">
                <a:solidFill>
                  <a:srgbClr val="0E2440"/>
                </a:solidFill>
                <a:latin typeface="Arial"/>
              </a:rPr>
              <a:t>2. Хуваарилалт</a:t>
            </a:r>
            <a:r>
              <a:rPr sz="950" b="0" i="0">
                <a:solidFill>
                  <a:srgbClr val="4A5560"/>
                </a:solidFill>
                <a:latin typeface="Arial"/>
              </a:rPr>
              <a:t> — зөвхөн өөрт оногдсон чөлөөлөлт (эсвэл ахлах)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950" b="1" i="0">
                <a:solidFill>
                  <a:srgbClr val="2A78D6"/>
                </a:solidFill>
                <a:latin typeface="Arial"/>
              </a:rPr>
              <a:t>▪  </a:t>
            </a:r>
            <a:r>
              <a:rPr sz="950" b="1" i="0">
                <a:solidFill>
                  <a:srgbClr val="0E2440"/>
                </a:solidFill>
                <a:latin typeface="Arial"/>
              </a:rPr>
              <a:t>3. Түгжээ</a:t>
            </a:r>
            <a:r>
              <a:rPr sz="950" b="0" i="0">
                <a:solidFill>
                  <a:srgbClr val="4A5560"/>
                </a:solidFill>
                <a:latin typeface="Arial"/>
              </a:rPr>
              <a:t> — батлагдсан чөлөөлөлт, үнэлгээг засахаас сэргийлнэ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950" b="1" i="0">
                <a:solidFill>
                  <a:srgbClr val="2A78D6"/>
                </a:solidFill>
                <a:latin typeface="Arial"/>
              </a:rPr>
              <a:t>▪  </a:t>
            </a:r>
            <a:r>
              <a:rPr sz="950" b="1" i="0">
                <a:solidFill>
                  <a:srgbClr val="0E2440"/>
                </a:solidFill>
                <a:latin typeface="Arial"/>
              </a:rPr>
              <a:t>4. Гишүүнчлэл</a:t>
            </a:r>
            <a:r>
              <a:rPr sz="950" b="0" i="0">
                <a:solidFill>
                  <a:srgbClr val="4A5560"/>
                </a:solidFill>
                <a:latin typeface="Arial"/>
              </a:rPr>
              <a:t> — байгууллага зөвхөн өөрийн объектод хандана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950" b="1" i="0">
                <a:solidFill>
                  <a:srgbClr val="2A78D6"/>
                </a:solidFill>
                <a:latin typeface="Arial"/>
              </a:rPr>
              <a:t>▪  </a:t>
            </a:r>
            <a:r>
              <a:rPr sz="950" b="1" i="0">
                <a:solidFill>
                  <a:srgbClr val="0E2440"/>
                </a:solidFill>
                <a:latin typeface="Arial"/>
              </a:rPr>
              <a:t>Үүрэг тусгаарлалт</a:t>
            </a:r>
            <a:r>
              <a:rPr sz="950" b="0" i="0">
                <a:solidFill>
                  <a:srgbClr val="4A5560"/>
                </a:solidFill>
                <a:latin typeface="Arial"/>
              </a:rPr>
              <a:t> — олговор батлах эрх ЗӨВХӨН санхүүд — админд ч байхгүй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950" b="1" i="0">
                <a:solidFill>
                  <a:srgbClr val="2A78D6"/>
                </a:solidFill>
                <a:latin typeface="Arial"/>
              </a:rPr>
              <a:t>▪  </a:t>
            </a:r>
            <a:r>
              <a:rPr sz="950" b="1" i="0">
                <a:solidFill>
                  <a:srgbClr val="0E2440"/>
                </a:solidFill>
                <a:latin typeface="Arial"/>
              </a:rPr>
              <a:t>Эрх нэмэгдүүлэлтийн хамгаалалт</a:t>
            </a:r>
            <a:r>
              <a:rPr sz="950" b="0" i="0">
                <a:solidFill>
                  <a:srgbClr val="4A5560"/>
                </a:solidFill>
                <a:latin typeface="Arial"/>
              </a:rPr>
              <a:t> — өөрөөсөө дээгүүр роль олгох боломжгүй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864608"/>
            <a:ext cx="11185855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4864608"/>
            <a:ext cx="45720" cy="859536"/>
          </a:xfrm>
          <a:prstGeom prst="rect">
            <a:avLst/>
          </a:prstGeom>
          <a:solidFill>
            <a:srgbClr val="02C0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" y="4992624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E2440"/>
                </a:solidFill>
                <a:latin typeface="Arial"/>
              </a:rPr>
              <a:t>6 РОЛЬ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4088" y="5266944"/>
            <a:ext cx="1755648" cy="310896"/>
          </a:xfrm>
          <a:prstGeom prst="rect">
            <a:avLst/>
          </a:prstGeom>
          <a:solidFill>
            <a:srgbClr val="E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4088" y="5340096"/>
            <a:ext cx="17556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E2440"/>
                </a:solidFill>
                <a:latin typeface="Arial"/>
              </a:rPr>
              <a:t>Админ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14600" y="5266944"/>
            <a:ext cx="1755648" cy="310896"/>
          </a:xfrm>
          <a:prstGeom prst="rect">
            <a:avLst/>
          </a:prstGeom>
          <a:solidFill>
            <a:srgbClr val="E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14600" y="5340096"/>
            <a:ext cx="17556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E2440"/>
                </a:solidFill>
                <a:latin typeface="Arial"/>
              </a:rPr>
              <a:t>Ахлах мэргэжилтэн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25112" y="5266944"/>
            <a:ext cx="1755648" cy="310896"/>
          </a:xfrm>
          <a:prstGeom prst="rect">
            <a:avLst/>
          </a:prstGeom>
          <a:solidFill>
            <a:srgbClr val="E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25112" y="5340096"/>
            <a:ext cx="17556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E2440"/>
                </a:solidFill>
                <a:latin typeface="Arial"/>
              </a:rPr>
              <a:t>Мэргэжилтэн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35624" y="5266944"/>
            <a:ext cx="1755648" cy="310896"/>
          </a:xfrm>
          <a:prstGeom prst="rect">
            <a:avLst/>
          </a:prstGeom>
          <a:solidFill>
            <a:srgbClr val="E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35624" y="5340096"/>
            <a:ext cx="17556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E2440"/>
                </a:solidFill>
                <a:latin typeface="Arial"/>
              </a:rPr>
              <a:t>Мэргэжлийн байгууллага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46136" y="5266944"/>
            <a:ext cx="1755648" cy="310896"/>
          </a:xfrm>
          <a:prstGeom prst="rect">
            <a:avLst/>
          </a:prstGeom>
          <a:solidFill>
            <a:srgbClr val="E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46136" y="5340096"/>
            <a:ext cx="17556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E2440"/>
                </a:solidFill>
                <a:latin typeface="Arial"/>
              </a:rPr>
              <a:t>МИКА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756648" y="5266944"/>
            <a:ext cx="1755648" cy="310896"/>
          </a:xfrm>
          <a:prstGeom prst="rect">
            <a:avLst/>
          </a:prstGeom>
          <a:solidFill>
            <a:srgbClr val="E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56648" y="5340096"/>
            <a:ext cx="17556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E2440"/>
                </a:solidFill>
                <a:latin typeface="Arial"/>
              </a:rPr>
              <a:t>Санхүүгийн мэргэжилтэн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658368" cy="658368"/>
          </a:xfrm>
          <a:prstGeom prst="rect">
            <a:avLst/>
          </a:prstGeom>
          <a:solidFill>
            <a:srgbClr val="0E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6583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53312" y="365760"/>
            <a:ext cx="103327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0E2440"/>
                </a:solidFill>
                <a:latin typeface="Arial"/>
              </a:rPr>
              <a:t>Роль тус бүрийн цэсний хандалт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A929A"/>
                </a:solidFill>
                <a:latin typeface="Arial"/>
              </a:rPr>
              <a:t>router.go ба access-policy.ts-ээс шууд гаргав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61872"/>
            <a:ext cx="11185855" cy="18288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243584"/>
            <a:ext cx="822960" cy="41148"/>
          </a:xfrm>
          <a:prstGeom prst="rect">
            <a:avLst/>
          </a:prstGeom>
          <a:solidFill>
            <a:srgbClr val="02C0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6455664"/>
            <a:ext cx="11185855" cy="10972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47104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29A"/>
                </a:solidFill>
                <a:latin typeface="Arial"/>
              </a:rPr>
              <a:t>Газар чөлөөлөлт, нөхөх олговрын нэгдсэн систем  ·  Систем хөгжүүлэлтийн техникийн тайлан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74375" y="6547104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A929A"/>
                </a:solidFill>
                <a:latin typeface="Arial"/>
              </a:rPr>
              <a:t>09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554480"/>
            <a:ext cx="11185855" cy="438912"/>
          </a:xfrm>
          <a:prstGeom prst="rect">
            <a:avLst/>
          </a:prstGeom>
          <a:solidFill>
            <a:srgbClr val="0E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1682495"/>
            <a:ext cx="39410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ҮЙЛДЭЛ / ЦЭС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1618488"/>
            <a:ext cx="11708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Админ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34329" y="1618488"/>
            <a:ext cx="11708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Ахлах мэргэжилтэн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05218" y="1618488"/>
            <a:ext cx="11708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Мэргэжилтэн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76107" y="1618488"/>
            <a:ext cx="11708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Мэрг. байгууллага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46996" y="1618488"/>
            <a:ext cx="11708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МИКА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7886" y="1618488"/>
            <a:ext cx="11708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Санхүү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1993391"/>
            <a:ext cx="11185855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2260396"/>
            <a:ext cx="11185855" cy="7315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" y="2048255"/>
            <a:ext cx="39410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E2440"/>
                </a:solidFill>
                <a:latin typeface="Arial"/>
              </a:rPr>
              <a:t>Хяналтын самбар</a:t>
            </a:r>
          </a:p>
        </p:txBody>
      </p:sp>
      <p:sp>
        <p:nvSpPr>
          <p:cNvPr id="22" name="Oval 21"/>
          <p:cNvSpPr/>
          <p:nvPr/>
        </p:nvSpPr>
        <p:spPr>
          <a:xfrm>
            <a:off x="5196306" y="2087117"/>
            <a:ext cx="105156" cy="105156"/>
          </a:xfrm>
          <a:prstGeom prst="ellipse">
            <a:avLst/>
          </a:prstGeom>
          <a:solidFill>
            <a:srgbClr val="02C0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67195" y="2087117"/>
            <a:ext cx="105156" cy="105156"/>
          </a:xfrm>
          <a:prstGeom prst="ellipse">
            <a:avLst/>
          </a:prstGeom>
          <a:solidFill>
            <a:srgbClr val="02C0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538085" y="2087117"/>
            <a:ext cx="105156" cy="105156"/>
          </a:xfrm>
          <a:prstGeom prst="ellipse">
            <a:avLst/>
          </a:prstGeom>
          <a:solidFill>
            <a:srgbClr val="02C0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708974" y="2087117"/>
            <a:ext cx="105156" cy="10515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879863" y="2087117"/>
            <a:ext cx="105156" cy="10515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050752" y="2087117"/>
            <a:ext cx="105156" cy="10515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2920" y="2267711"/>
            <a:ext cx="11185855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2920" y="2534716"/>
            <a:ext cx="11185855" cy="7315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2648" y="2322575"/>
            <a:ext cx="39410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E2440"/>
                </a:solidFill>
                <a:latin typeface="Arial"/>
              </a:rPr>
              <a:t>Газар чөлөөлөлт</a:t>
            </a:r>
          </a:p>
        </p:txBody>
      </p:sp>
      <p:sp>
        <p:nvSpPr>
          <p:cNvPr id="31" name="Oval 30"/>
          <p:cNvSpPr/>
          <p:nvPr/>
        </p:nvSpPr>
        <p:spPr>
          <a:xfrm>
            <a:off x="5196306" y="2361437"/>
            <a:ext cx="105156" cy="105156"/>
          </a:xfrm>
          <a:prstGeom prst="ellipse">
            <a:avLst/>
          </a:prstGeom>
          <a:solidFill>
            <a:srgbClr val="02C0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367195" y="2361437"/>
            <a:ext cx="105156" cy="105156"/>
          </a:xfrm>
          <a:prstGeom prst="ellipse">
            <a:avLst/>
          </a:prstGeom>
          <a:solidFill>
            <a:srgbClr val="02C0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538085" y="2361437"/>
            <a:ext cx="105156" cy="10515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708974" y="2361437"/>
            <a:ext cx="105156" cy="10515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879863" y="2361437"/>
            <a:ext cx="105156" cy="10515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1050752" y="2361437"/>
            <a:ext cx="105156" cy="10515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02920" y="2542031"/>
            <a:ext cx="11185855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02920" y="2809036"/>
            <a:ext cx="11185855" cy="7315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2648" y="2596895"/>
            <a:ext cx="39410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E2440"/>
                </a:solidFill>
                <a:latin typeface="Arial"/>
              </a:rPr>
              <a:t>Нэгж талбарын түүх</a:t>
            </a:r>
          </a:p>
        </p:txBody>
      </p:sp>
      <p:sp>
        <p:nvSpPr>
          <p:cNvPr id="40" name="Oval 39"/>
          <p:cNvSpPr/>
          <p:nvPr/>
        </p:nvSpPr>
        <p:spPr>
          <a:xfrm>
            <a:off x="5196306" y="2635757"/>
            <a:ext cx="105156" cy="105156"/>
          </a:xfrm>
          <a:prstGeom prst="ellipse">
            <a:avLst/>
          </a:prstGeom>
          <a:solidFill>
            <a:srgbClr val="02C0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367195" y="2635757"/>
            <a:ext cx="105156" cy="105156"/>
          </a:xfrm>
          <a:prstGeom prst="ellipse">
            <a:avLst/>
          </a:prstGeom>
          <a:solidFill>
            <a:srgbClr val="02C0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7538085" y="2635757"/>
            <a:ext cx="105156" cy="105156"/>
          </a:xfrm>
          <a:prstGeom prst="ellipse">
            <a:avLst/>
          </a:prstGeom>
          <a:solidFill>
            <a:srgbClr val="02C0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708517" y="2681935"/>
            <a:ext cx="106070" cy="12801"/>
          </a:xfrm>
          <a:prstGeom prst="rect">
            <a:avLst/>
          </a:prstGeom>
          <a:solidFill>
            <a:srgbClr val="C3C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879406" y="2681935"/>
            <a:ext cx="106070" cy="12801"/>
          </a:xfrm>
          <a:prstGeom prst="rect">
            <a:avLst/>
          </a:prstGeom>
          <a:solidFill>
            <a:srgbClr val="C3C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1050295" y="2681935"/>
            <a:ext cx="106070" cy="12801"/>
          </a:xfrm>
          <a:prstGeom prst="rect">
            <a:avLst/>
          </a:prstGeom>
          <a:solidFill>
            <a:srgbClr val="C3C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02920" y="2816351"/>
            <a:ext cx="11185855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02920" y="3083356"/>
            <a:ext cx="11185855" cy="7315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12648" y="2871215"/>
            <a:ext cx="39410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E2440"/>
                </a:solidFill>
                <a:latin typeface="Arial"/>
              </a:rPr>
              <a:t>Нөхөх олговрын түүх</a:t>
            </a:r>
          </a:p>
        </p:txBody>
      </p:sp>
      <p:sp>
        <p:nvSpPr>
          <p:cNvPr id="49" name="Oval 48"/>
          <p:cNvSpPr/>
          <p:nvPr/>
        </p:nvSpPr>
        <p:spPr>
          <a:xfrm>
            <a:off x="5196306" y="2910077"/>
            <a:ext cx="105156" cy="105156"/>
          </a:xfrm>
          <a:prstGeom prst="ellipse">
            <a:avLst/>
          </a:prstGeom>
          <a:solidFill>
            <a:srgbClr val="02C0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367195" y="2910077"/>
            <a:ext cx="105156" cy="105156"/>
          </a:xfrm>
          <a:prstGeom prst="ellipse">
            <a:avLst/>
          </a:prstGeom>
          <a:solidFill>
            <a:srgbClr val="02C0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538085" y="2910077"/>
            <a:ext cx="105156" cy="105156"/>
          </a:xfrm>
          <a:prstGeom prst="ellipse">
            <a:avLst/>
          </a:prstGeom>
          <a:solidFill>
            <a:srgbClr val="02C0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708517" y="2956255"/>
            <a:ext cx="106070" cy="12801"/>
          </a:xfrm>
          <a:prstGeom prst="rect">
            <a:avLst/>
          </a:prstGeom>
          <a:solidFill>
            <a:srgbClr val="C3C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879406" y="2956255"/>
            <a:ext cx="106070" cy="12801"/>
          </a:xfrm>
          <a:prstGeom prst="rect">
            <a:avLst/>
          </a:prstGeom>
          <a:solidFill>
            <a:srgbClr val="C3C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1050752" y="2910077"/>
            <a:ext cx="105156" cy="105156"/>
          </a:xfrm>
          <a:prstGeom prst="ellipse">
            <a:avLst/>
          </a:prstGeom>
          <a:solidFill>
            <a:srgbClr val="02C0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02920" y="3090671"/>
            <a:ext cx="11185855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02920" y="3357676"/>
            <a:ext cx="11185855" cy="7315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12648" y="3145535"/>
            <a:ext cx="39410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E2440"/>
                </a:solidFill>
                <a:latin typeface="Arial"/>
              </a:rPr>
              <a:t>Захирамжийн төсөл</a:t>
            </a:r>
          </a:p>
        </p:txBody>
      </p:sp>
      <p:sp>
        <p:nvSpPr>
          <p:cNvPr id="58" name="Oval 57"/>
          <p:cNvSpPr/>
          <p:nvPr/>
        </p:nvSpPr>
        <p:spPr>
          <a:xfrm>
            <a:off x="5196306" y="3184397"/>
            <a:ext cx="105156" cy="105156"/>
          </a:xfrm>
          <a:prstGeom prst="ellipse">
            <a:avLst/>
          </a:prstGeom>
          <a:solidFill>
            <a:srgbClr val="02C0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6367195" y="3184397"/>
            <a:ext cx="105156" cy="105156"/>
          </a:xfrm>
          <a:prstGeom prst="ellipse">
            <a:avLst/>
          </a:prstGeom>
          <a:solidFill>
            <a:srgbClr val="02C0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538085" y="3184397"/>
            <a:ext cx="105156" cy="10515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708517" y="3230575"/>
            <a:ext cx="106070" cy="12801"/>
          </a:xfrm>
          <a:prstGeom prst="rect">
            <a:avLst/>
          </a:prstGeom>
          <a:solidFill>
            <a:srgbClr val="C3C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879406" y="3230575"/>
            <a:ext cx="106070" cy="12801"/>
          </a:xfrm>
          <a:prstGeom prst="rect">
            <a:avLst/>
          </a:prstGeom>
          <a:solidFill>
            <a:srgbClr val="C3C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1050295" y="3230575"/>
            <a:ext cx="106070" cy="12801"/>
          </a:xfrm>
          <a:prstGeom prst="rect">
            <a:avLst/>
          </a:prstGeom>
          <a:solidFill>
            <a:srgbClr val="C3C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02920" y="3364991"/>
            <a:ext cx="11185855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02920" y="3631996"/>
            <a:ext cx="11185855" cy="7315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12648" y="3419855"/>
            <a:ext cx="39410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E2440"/>
                </a:solidFill>
                <a:latin typeface="Arial"/>
              </a:rPr>
              <a:t>Газрын зураг</a:t>
            </a:r>
          </a:p>
        </p:txBody>
      </p:sp>
      <p:sp>
        <p:nvSpPr>
          <p:cNvPr id="67" name="Oval 66"/>
          <p:cNvSpPr/>
          <p:nvPr/>
        </p:nvSpPr>
        <p:spPr>
          <a:xfrm>
            <a:off x="5196306" y="3458717"/>
            <a:ext cx="105156" cy="105156"/>
          </a:xfrm>
          <a:prstGeom prst="ellipse">
            <a:avLst/>
          </a:prstGeom>
          <a:solidFill>
            <a:srgbClr val="02C0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6367195" y="3458717"/>
            <a:ext cx="105156" cy="105156"/>
          </a:xfrm>
          <a:prstGeom prst="ellipse">
            <a:avLst/>
          </a:prstGeom>
          <a:solidFill>
            <a:srgbClr val="02C0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7538085" y="3458717"/>
            <a:ext cx="105156" cy="105156"/>
          </a:xfrm>
          <a:prstGeom prst="ellipse">
            <a:avLst/>
          </a:prstGeom>
          <a:solidFill>
            <a:srgbClr val="02C0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8708517" y="3504895"/>
            <a:ext cx="106070" cy="12801"/>
          </a:xfrm>
          <a:prstGeom prst="rect">
            <a:avLst/>
          </a:prstGeom>
          <a:solidFill>
            <a:srgbClr val="C3C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879406" y="3504895"/>
            <a:ext cx="106070" cy="12801"/>
          </a:xfrm>
          <a:prstGeom prst="rect">
            <a:avLst/>
          </a:prstGeom>
          <a:solidFill>
            <a:srgbClr val="C3C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1050295" y="3504895"/>
            <a:ext cx="106070" cy="12801"/>
          </a:xfrm>
          <a:prstGeom prst="rect">
            <a:avLst/>
          </a:prstGeom>
          <a:solidFill>
            <a:srgbClr val="C3C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502920" y="3639311"/>
            <a:ext cx="11185855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502920" y="3906316"/>
            <a:ext cx="11185855" cy="7315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12648" y="3694175"/>
            <a:ext cx="39410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E2440"/>
                </a:solidFill>
                <a:latin typeface="Arial"/>
              </a:rPr>
              <a:t>Тайлан</a:t>
            </a:r>
          </a:p>
        </p:txBody>
      </p:sp>
      <p:sp>
        <p:nvSpPr>
          <p:cNvPr id="76" name="Oval 75"/>
          <p:cNvSpPr/>
          <p:nvPr/>
        </p:nvSpPr>
        <p:spPr>
          <a:xfrm>
            <a:off x="5196306" y="3733037"/>
            <a:ext cx="105156" cy="105156"/>
          </a:xfrm>
          <a:prstGeom prst="ellipse">
            <a:avLst/>
          </a:prstGeom>
          <a:solidFill>
            <a:srgbClr val="02C0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6367195" y="3733037"/>
            <a:ext cx="105156" cy="105156"/>
          </a:xfrm>
          <a:prstGeom prst="ellipse">
            <a:avLst/>
          </a:prstGeom>
          <a:solidFill>
            <a:srgbClr val="02C0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7538085" y="3733037"/>
            <a:ext cx="105156" cy="105156"/>
          </a:xfrm>
          <a:prstGeom prst="ellipse">
            <a:avLst/>
          </a:prstGeom>
          <a:solidFill>
            <a:srgbClr val="02C0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708517" y="3779215"/>
            <a:ext cx="106070" cy="12801"/>
          </a:xfrm>
          <a:prstGeom prst="rect">
            <a:avLst/>
          </a:prstGeom>
          <a:solidFill>
            <a:srgbClr val="C3C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9879406" y="3779215"/>
            <a:ext cx="106070" cy="12801"/>
          </a:xfrm>
          <a:prstGeom prst="rect">
            <a:avLst/>
          </a:prstGeom>
          <a:solidFill>
            <a:srgbClr val="C3C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11050295" y="3779215"/>
            <a:ext cx="106070" cy="12801"/>
          </a:xfrm>
          <a:prstGeom prst="rect">
            <a:avLst/>
          </a:prstGeom>
          <a:solidFill>
            <a:srgbClr val="C3C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502920" y="3913631"/>
            <a:ext cx="11185855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502920" y="4180636"/>
            <a:ext cx="11185855" cy="7315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12648" y="3968495"/>
            <a:ext cx="39410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E2440"/>
                </a:solidFill>
                <a:latin typeface="Arial"/>
              </a:rPr>
              <a:t>Миний чөлөөлөлтүүд (портал)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195849" y="4053535"/>
            <a:ext cx="106070" cy="12801"/>
          </a:xfrm>
          <a:prstGeom prst="rect">
            <a:avLst/>
          </a:prstGeom>
          <a:solidFill>
            <a:srgbClr val="C3C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366738" y="4053535"/>
            <a:ext cx="106070" cy="12801"/>
          </a:xfrm>
          <a:prstGeom prst="rect">
            <a:avLst/>
          </a:prstGeom>
          <a:solidFill>
            <a:srgbClr val="C3C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537627" y="4053535"/>
            <a:ext cx="106070" cy="12801"/>
          </a:xfrm>
          <a:prstGeom prst="rect">
            <a:avLst/>
          </a:prstGeom>
          <a:solidFill>
            <a:srgbClr val="C3C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8708974" y="4007357"/>
            <a:ext cx="105156" cy="105156"/>
          </a:xfrm>
          <a:prstGeom prst="ellipse">
            <a:avLst/>
          </a:prstGeom>
          <a:solidFill>
            <a:srgbClr val="02C0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9879863" y="4007357"/>
            <a:ext cx="105156" cy="105156"/>
          </a:xfrm>
          <a:prstGeom prst="ellipse">
            <a:avLst/>
          </a:prstGeom>
          <a:solidFill>
            <a:srgbClr val="02C0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11050295" y="4053535"/>
            <a:ext cx="106070" cy="12801"/>
          </a:xfrm>
          <a:prstGeom prst="rect">
            <a:avLst/>
          </a:prstGeom>
          <a:solidFill>
            <a:srgbClr val="C3C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502920" y="4187951"/>
            <a:ext cx="11185855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502920" y="4454956"/>
            <a:ext cx="11185855" cy="7315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12648" y="4242815"/>
            <a:ext cx="39410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E2440"/>
                </a:solidFill>
                <a:latin typeface="Arial"/>
              </a:rPr>
              <a:t>Удирдлага → Хэрэглэгчид</a:t>
            </a:r>
          </a:p>
        </p:txBody>
      </p:sp>
      <p:sp>
        <p:nvSpPr>
          <p:cNvPr id="94" name="Oval 93"/>
          <p:cNvSpPr/>
          <p:nvPr/>
        </p:nvSpPr>
        <p:spPr>
          <a:xfrm>
            <a:off x="5196306" y="4281677"/>
            <a:ext cx="105156" cy="105156"/>
          </a:xfrm>
          <a:prstGeom prst="ellipse">
            <a:avLst/>
          </a:prstGeom>
          <a:solidFill>
            <a:srgbClr val="02C0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6367195" y="4281677"/>
            <a:ext cx="105156" cy="10515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7537627" y="4327855"/>
            <a:ext cx="106070" cy="12801"/>
          </a:xfrm>
          <a:prstGeom prst="rect">
            <a:avLst/>
          </a:prstGeom>
          <a:solidFill>
            <a:srgbClr val="C3C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708517" y="4327855"/>
            <a:ext cx="106070" cy="12801"/>
          </a:xfrm>
          <a:prstGeom prst="rect">
            <a:avLst/>
          </a:prstGeom>
          <a:solidFill>
            <a:srgbClr val="C3C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9879406" y="4327855"/>
            <a:ext cx="106070" cy="12801"/>
          </a:xfrm>
          <a:prstGeom prst="rect">
            <a:avLst/>
          </a:prstGeom>
          <a:solidFill>
            <a:srgbClr val="C3C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11050295" y="4327855"/>
            <a:ext cx="106070" cy="12801"/>
          </a:xfrm>
          <a:prstGeom prst="rect">
            <a:avLst/>
          </a:prstGeom>
          <a:solidFill>
            <a:srgbClr val="C3C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502920" y="4462271"/>
            <a:ext cx="11185855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502920" y="4729276"/>
            <a:ext cx="11185855" cy="7315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612648" y="4517135"/>
            <a:ext cx="39410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E2440"/>
                </a:solidFill>
                <a:latin typeface="Arial"/>
              </a:rPr>
              <a:t>Удирдлага → Эрх, роль</a:t>
            </a:r>
          </a:p>
        </p:txBody>
      </p:sp>
      <p:sp>
        <p:nvSpPr>
          <p:cNvPr id="103" name="Oval 102"/>
          <p:cNvSpPr/>
          <p:nvPr/>
        </p:nvSpPr>
        <p:spPr>
          <a:xfrm>
            <a:off x="5196306" y="4555997"/>
            <a:ext cx="105156" cy="105156"/>
          </a:xfrm>
          <a:prstGeom prst="ellipse">
            <a:avLst/>
          </a:prstGeom>
          <a:solidFill>
            <a:srgbClr val="02C0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6366738" y="4602175"/>
            <a:ext cx="106070" cy="12801"/>
          </a:xfrm>
          <a:prstGeom prst="rect">
            <a:avLst/>
          </a:prstGeom>
          <a:solidFill>
            <a:srgbClr val="C3C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7537627" y="4602175"/>
            <a:ext cx="106070" cy="12801"/>
          </a:xfrm>
          <a:prstGeom prst="rect">
            <a:avLst/>
          </a:prstGeom>
          <a:solidFill>
            <a:srgbClr val="C3C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8708517" y="4602175"/>
            <a:ext cx="106070" cy="12801"/>
          </a:xfrm>
          <a:prstGeom prst="rect">
            <a:avLst/>
          </a:prstGeom>
          <a:solidFill>
            <a:srgbClr val="C3C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879406" y="4602175"/>
            <a:ext cx="106070" cy="12801"/>
          </a:xfrm>
          <a:prstGeom prst="rect">
            <a:avLst/>
          </a:prstGeom>
          <a:solidFill>
            <a:srgbClr val="C3C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11050295" y="4602175"/>
            <a:ext cx="106070" cy="12801"/>
          </a:xfrm>
          <a:prstGeom prst="rect">
            <a:avLst/>
          </a:prstGeom>
          <a:solidFill>
            <a:srgbClr val="C3C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502920" y="4736591"/>
            <a:ext cx="11185855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502920" y="5003596"/>
            <a:ext cx="11185855" cy="7315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12648" y="4791455"/>
            <a:ext cx="39410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E2440"/>
                </a:solidFill>
                <a:latin typeface="Arial"/>
              </a:rPr>
              <a:t>Удирдлага → Хүний нөөц</a:t>
            </a:r>
          </a:p>
        </p:txBody>
      </p:sp>
      <p:sp>
        <p:nvSpPr>
          <p:cNvPr id="112" name="Oval 111"/>
          <p:cNvSpPr/>
          <p:nvPr/>
        </p:nvSpPr>
        <p:spPr>
          <a:xfrm>
            <a:off x="5196306" y="4830317"/>
            <a:ext cx="105156" cy="105156"/>
          </a:xfrm>
          <a:prstGeom prst="ellipse">
            <a:avLst/>
          </a:prstGeom>
          <a:solidFill>
            <a:srgbClr val="02C0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6367195" y="4830317"/>
            <a:ext cx="105156" cy="10515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7537627" y="4876495"/>
            <a:ext cx="106070" cy="12801"/>
          </a:xfrm>
          <a:prstGeom prst="rect">
            <a:avLst/>
          </a:prstGeom>
          <a:solidFill>
            <a:srgbClr val="C3C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8708517" y="4876495"/>
            <a:ext cx="106070" cy="12801"/>
          </a:xfrm>
          <a:prstGeom prst="rect">
            <a:avLst/>
          </a:prstGeom>
          <a:solidFill>
            <a:srgbClr val="C3C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9879406" y="4876495"/>
            <a:ext cx="106070" cy="12801"/>
          </a:xfrm>
          <a:prstGeom prst="rect">
            <a:avLst/>
          </a:prstGeom>
          <a:solidFill>
            <a:srgbClr val="C3C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11050295" y="4876495"/>
            <a:ext cx="106070" cy="12801"/>
          </a:xfrm>
          <a:prstGeom prst="rect">
            <a:avLst/>
          </a:prstGeom>
          <a:solidFill>
            <a:srgbClr val="C3C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502920" y="5010911"/>
            <a:ext cx="11185855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502920" y="5277916"/>
            <a:ext cx="11185855" cy="7315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612648" y="5065775"/>
            <a:ext cx="39410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E2440"/>
                </a:solidFill>
                <a:latin typeface="Arial"/>
              </a:rPr>
              <a:t>Тохиргооны лавлахууд</a:t>
            </a:r>
          </a:p>
        </p:txBody>
      </p:sp>
      <p:sp>
        <p:nvSpPr>
          <p:cNvPr id="121" name="Oval 120"/>
          <p:cNvSpPr/>
          <p:nvPr/>
        </p:nvSpPr>
        <p:spPr>
          <a:xfrm>
            <a:off x="5196306" y="5104637"/>
            <a:ext cx="105156" cy="105156"/>
          </a:xfrm>
          <a:prstGeom prst="ellipse">
            <a:avLst/>
          </a:prstGeom>
          <a:solidFill>
            <a:srgbClr val="02C0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6367195" y="5104637"/>
            <a:ext cx="105156" cy="10515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7537627" y="5150815"/>
            <a:ext cx="106070" cy="12801"/>
          </a:xfrm>
          <a:prstGeom prst="rect">
            <a:avLst/>
          </a:prstGeom>
          <a:solidFill>
            <a:srgbClr val="C3C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8708517" y="5150815"/>
            <a:ext cx="106070" cy="12801"/>
          </a:xfrm>
          <a:prstGeom prst="rect">
            <a:avLst/>
          </a:prstGeom>
          <a:solidFill>
            <a:srgbClr val="C3C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9879406" y="5150815"/>
            <a:ext cx="106070" cy="12801"/>
          </a:xfrm>
          <a:prstGeom prst="rect">
            <a:avLst/>
          </a:prstGeom>
          <a:solidFill>
            <a:srgbClr val="C3C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11050295" y="5150815"/>
            <a:ext cx="106070" cy="12801"/>
          </a:xfrm>
          <a:prstGeom prst="rect">
            <a:avLst/>
          </a:prstGeom>
          <a:solidFill>
            <a:srgbClr val="C3C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502920" y="5285231"/>
            <a:ext cx="11185855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502920" y="5552236"/>
            <a:ext cx="11185855" cy="7315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612648" y="5340095"/>
            <a:ext cx="39410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E2440"/>
                </a:solidFill>
                <a:latin typeface="Arial"/>
              </a:rPr>
              <a:t>Аудит лог</a:t>
            </a:r>
          </a:p>
        </p:txBody>
      </p:sp>
      <p:sp>
        <p:nvSpPr>
          <p:cNvPr id="130" name="Oval 129"/>
          <p:cNvSpPr/>
          <p:nvPr/>
        </p:nvSpPr>
        <p:spPr>
          <a:xfrm>
            <a:off x="5196306" y="5378957"/>
            <a:ext cx="105156" cy="105156"/>
          </a:xfrm>
          <a:prstGeom prst="ellipse">
            <a:avLst/>
          </a:prstGeom>
          <a:solidFill>
            <a:srgbClr val="02C0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6367195" y="5378957"/>
            <a:ext cx="105156" cy="10515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7537627" y="5425135"/>
            <a:ext cx="106070" cy="12801"/>
          </a:xfrm>
          <a:prstGeom prst="rect">
            <a:avLst/>
          </a:prstGeom>
          <a:solidFill>
            <a:srgbClr val="C3C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8708517" y="5425135"/>
            <a:ext cx="106070" cy="12801"/>
          </a:xfrm>
          <a:prstGeom prst="rect">
            <a:avLst/>
          </a:prstGeom>
          <a:solidFill>
            <a:srgbClr val="C3C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9879406" y="5425135"/>
            <a:ext cx="106070" cy="12801"/>
          </a:xfrm>
          <a:prstGeom prst="rect">
            <a:avLst/>
          </a:prstGeom>
          <a:solidFill>
            <a:srgbClr val="C3C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11050295" y="5425135"/>
            <a:ext cx="106070" cy="12801"/>
          </a:xfrm>
          <a:prstGeom prst="rect">
            <a:avLst/>
          </a:prstGeom>
          <a:solidFill>
            <a:srgbClr val="C3C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502920" y="5687567"/>
            <a:ext cx="111858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29A"/>
                </a:solidFill>
                <a:latin typeface="Arial"/>
              </a:rPr>
              <a:t>Мэргэжлийн байгууллага, МИКА, санхүү нь дотоод цэсний оронд өөрийн хамрах хүрээний дэлгэцүүдийг хардаг. Ахлах мэргэжилтэн хэрэглэгчийн бүртгэлийг ЗӨВХӨН харна (users:read).</a:t>
            </a:r>
          </a:p>
        </p:txBody>
      </p:sp>
      <p:sp>
        <p:nvSpPr>
          <p:cNvPr id="137" name="Oval 136"/>
          <p:cNvSpPr/>
          <p:nvPr/>
        </p:nvSpPr>
        <p:spPr>
          <a:xfrm>
            <a:off x="514350" y="6073901"/>
            <a:ext cx="105156" cy="105156"/>
          </a:xfrm>
          <a:prstGeom prst="ellipse">
            <a:avLst/>
          </a:prstGeom>
          <a:solidFill>
            <a:srgbClr val="02C0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685800" y="6044183"/>
            <a:ext cx="1737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A5560"/>
                </a:solidFill>
                <a:latin typeface="Arial"/>
              </a:rPr>
              <a:t>бүрэн эрх</a:t>
            </a:r>
          </a:p>
        </p:txBody>
      </p:sp>
      <p:sp>
        <p:nvSpPr>
          <p:cNvPr id="139" name="Oval 138"/>
          <p:cNvSpPr/>
          <p:nvPr/>
        </p:nvSpPr>
        <p:spPr>
          <a:xfrm>
            <a:off x="2205990" y="6073901"/>
            <a:ext cx="105156" cy="10515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2377440" y="6044183"/>
            <a:ext cx="1737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A5560"/>
                </a:solidFill>
                <a:latin typeface="Arial"/>
              </a:rPr>
              <a:t>нөхцөлтэй / хязгаартай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3897172" y="6120079"/>
            <a:ext cx="106070" cy="12801"/>
          </a:xfrm>
          <a:prstGeom prst="rect">
            <a:avLst/>
          </a:prstGeom>
          <a:solidFill>
            <a:srgbClr val="C3C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4069080" y="6044183"/>
            <a:ext cx="1737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A5560"/>
                </a:solidFill>
                <a:latin typeface="Arial"/>
              </a:rPr>
              <a:t>хандахгүй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658368" cy="658368"/>
          </a:xfrm>
          <a:prstGeom prst="rect">
            <a:avLst/>
          </a:prstGeom>
          <a:solidFill>
            <a:srgbClr val="0E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6583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53312" y="365760"/>
            <a:ext cx="103327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0E2440"/>
                </a:solidFill>
                <a:latin typeface="Arial"/>
              </a:rPr>
              <a:t>Функциональ модулиуд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A929A"/>
                </a:solidFill>
                <a:latin typeface="Arial"/>
              </a:rPr>
              <a:t>35 вэб хуудас  ·  16 багц модуль — үндсэн үйл ажиллагаа, тохиргоо, удирдлага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61872"/>
            <a:ext cx="11185855" cy="18288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243584"/>
            <a:ext cx="822960" cy="41148"/>
          </a:xfrm>
          <a:prstGeom prst="rect">
            <a:avLst/>
          </a:prstGeom>
          <a:solidFill>
            <a:srgbClr val="02C0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6455664"/>
            <a:ext cx="11185855" cy="10972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47104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29A"/>
                </a:solidFill>
                <a:latin typeface="Arial"/>
              </a:rPr>
              <a:t>Газар чөлөөлөлт, нөхөх олговрын нэгдсэн систем  ·  Систем хөгжүүлэлтийн техникийн тайлан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74375" y="6547104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A929A"/>
                </a:solidFill>
                <a:latin typeface="Arial"/>
              </a:rPr>
              <a:t>10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554480"/>
            <a:ext cx="2686735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1554480"/>
            <a:ext cx="2686735" cy="45720"/>
          </a:xfrm>
          <a:prstGeom prst="rect">
            <a:avLst/>
          </a:prstGeom>
          <a:solidFill>
            <a:srgbClr val="02C0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" y="1719072"/>
            <a:ext cx="239412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2440"/>
                </a:solidFill>
                <a:latin typeface="Arial"/>
              </a:rPr>
              <a:t>Хяналтын самбар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" y="2048256"/>
            <a:ext cx="2394127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29A"/>
                </a:solidFill>
                <a:latin typeface="Arial"/>
              </a:rPr>
              <a:t>нэгтгэл, шүүлт, газрын зураг, ролиор хязгаарласан хамрах хүрээ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35959" y="1554480"/>
            <a:ext cx="2686735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35959" y="1554480"/>
            <a:ext cx="2686735" cy="45720"/>
          </a:xfrm>
          <a:prstGeom prst="rect">
            <a:avLst/>
          </a:prstGeom>
          <a:solidFill>
            <a:srgbClr val="02C0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82263" y="1719072"/>
            <a:ext cx="239412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2440"/>
                </a:solidFill>
                <a:latin typeface="Arial"/>
              </a:rPr>
              <a:t>Газар чөлөөлөлт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82263" y="2048256"/>
            <a:ext cx="2394127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29A"/>
                </a:solidFill>
                <a:latin typeface="Arial"/>
              </a:rPr>
              <a:t>shapefile хил, ангилал, явцын урсгал, хилийн түүх, санхүүжилт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68999" y="1554480"/>
            <a:ext cx="2686735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68999" y="1554480"/>
            <a:ext cx="2686735" cy="45720"/>
          </a:xfrm>
          <a:prstGeom prst="rect">
            <a:avLst/>
          </a:prstGeom>
          <a:solidFill>
            <a:srgbClr val="02C0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15303" y="1719072"/>
            <a:ext cx="239412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2440"/>
                </a:solidFill>
                <a:latin typeface="Arial"/>
              </a:rPr>
              <a:t>Нэгж талбар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15303" y="2048256"/>
            <a:ext cx="2394127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29A"/>
                </a:solidFill>
                <a:latin typeface="Arial"/>
              </a:rPr>
              <a:t>эзэмшигч, статус + түүх, баримт, барьцаа, төлбөр, дрон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02039" y="1554480"/>
            <a:ext cx="2686735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02039" y="1554480"/>
            <a:ext cx="2686735" cy="457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8343" y="1719072"/>
            <a:ext cx="239412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2440"/>
                </a:solidFill>
                <a:latin typeface="Arial"/>
              </a:rPr>
              <a:t>Үнэлгээ — 3 урсгал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8343" y="2048256"/>
            <a:ext cx="2394127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29A"/>
                </a:solidFill>
                <a:latin typeface="Arial"/>
              </a:rPr>
              <a:t>хөрөнгийн / хөндлөнгийн / МИКА · илгээх → батлах → цуцлах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2596896"/>
            <a:ext cx="2686735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2920" y="2596896"/>
            <a:ext cx="2686735" cy="457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" y="2761488"/>
            <a:ext cx="239412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2440"/>
                </a:solidFill>
                <a:latin typeface="Arial"/>
              </a:rPr>
              <a:t>Байгууламж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" y="3090672"/>
            <a:ext cx="2394127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29A"/>
                </a:solidFill>
                <a:latin typeface="Arial"/>
              </a:rPr>
              <a:t>тохируулгат хийц, тооцооллын үзүүлэлт, зураг → PDF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35959" y="2596896"/>
            <a:ext cx="2686735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335959" y="2596896"/>
            <a:ext cx="2686735" cy="457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82263" y="2761488"/>
            <a:ext cx="239412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2440"/>
                </a:solidFill>
                <a:latin typeface="Arial"/>
              </a:rPr>
              <a:t>Excel импорт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82263" y="3090672"/>
            <a:ext cx="2394127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29A"/>
                </a:solidFill>
                <a:latin typeface="Arial"/>
              </a:rPr>
              <a:t>хөтөч дотор задлан, SHA-256 давхардлын шалгалт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68999" y="2596896"/>
            <a:ext cx="2686735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68999" y="2596896"/>
            <a:ext cx="2686735" cy="457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15303" y="2761488"/>
            <a:ext cx="239412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2440"/>
                </a:solidFill>
                <a:latin typeface="Arial"/>
              </a:rPr>
              <a:t>Нөхөх олговор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15303" y="3090672"/>
            <a:ext cx="2394127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29A"/>
                </a:solidFill>
                <a:latin typeface="Arial"/>
              </a:rPr>
              <a:t>батлах/татгалзах, гэрээ, төлбөрийн гүйцэтгэл, архив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002039" y="2596896"/>
            <a:ext cx="2686735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002039" y="2596896"/>
            <a:ext cx="2686735" cy="45720"/>
          </a:xfrm>
          <a:prstGeom prst="rect">
            <a:avLst/>
          </a:prstGeom>
          <a:solidFill>
            <a:srgbClr val="0E8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8343" y="2761488"/>
            <a:ext cx="239412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2440"/>
                </a:solidFill>
                <a:latin typeface="Arial"/>
              </a:rPr>
              <a:t>Захирамжийн төсөл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8343" y="3090672"/>
            <a:ext cx="2394127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29A"/>
                </a:solidFill>
                <a:latin typeface="Arial"/>
              </a:rPr>
              <a:t>талбар холбох, төсөв, ажлын төрөл, DOCX/XLSX гаралт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" y="3639311"/>
            <a:ext cx="2686735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02920" y="3639311"/>
            <a:ext cx="2686735" cy="45720"/>
          </a:xfrm>
          <a:prstGeom prst="rect">
            <a:avLst/>
          </a:prstGeom>
          <a:solidFill>
            <a:srgbClr val="0E8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9224" y="3803903"/>
            <a:ext cx="239412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2440"/>
                </a:solidFill>
                <a:latin typeface="Arial"/>
              </a:rPr>
              <a:t>Нийгэм, эдийн засгийн судалгаа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9224" y="4133087"/>
            <a:ext cx="2394127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29A"/>
                </a:solidFill>
                <a:latin typeface="Arial"/>
              </a:rPr>
              <a:t>зөвшөөрсөн/татгалзсан тоо, нэгтгэсэн PDF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335959" y="3639311"/>
            <a:ext cx="2686735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335959" y="3639311"/>
            <a:ext cx="2686735" cy="45720"/>
          </a:xfrm>
          <a:prstGeom prst="rect">
            <a:avLst/>
          </a:prstGeom>
          <a:solidFill>
            <a:srgbClr val="0E8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482263" y="3803903"/>
            <a:ext cx="239412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2440"/>
                </a:solidFill>
                <a:latin typeface="Arial"/>
              </a:rPr>
              <a:t>Мэдэгдэх хуудас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482263" y="4133087"/>
            <a:ext cx="2394127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29A"/>
                </a:solidFill>
                <a:latin typeface="Arial"/>
              </a:rPr>
              <a:t>PDF үүсгэж имэйл, E-Mongolia-гаар хүргүүлэх, түүхтэй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68999" y="3639311"/>
            <a:ext cx="2686735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168999" y="3639311"/>
            <a:ext cx="2686735" cy="45720"/>
          </a:xfrm>
          <a:prstGeom prst="rect">
            <a:avLst/>
          </a:prstGeom>
          <a:solidFill>
            <a:srgbClr val="0E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15303" y="3803903"/>
            <a:ext cx="239412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2440"/>
                </a:solidFill>
                <a:latin typeface="Arial"/>
              </a:rPr>
              <a:t>Газрын зураг (GIS)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15303" y="4133087"/>
            <a:ext cx="2394127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29A"/>
                </a:solidFill>
                <a:latin typeface="Arial"/>
              </a:rPr>
              <a:t>WMS/WFS давхарга, статусын өнгө, CQL шүүлт, хэвлэх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002039" y="3639311"/>
            <a:ext cx="2686735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002039" y="3639311"/>
            <a:ext cx="2686735" cy="45720"/>
          </a:xfrm>
          <a:prstGeom prst="rect">
            <a:avLst/>
          </a:prstGeom>
          <a:solidFill>
            <a:srgbClr val="0E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148343" y="3803903"/>
            <a:ext cx="239412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2440"/>
                </a:solidFill>
                <a:latin typeface="Arial"/>
              </a:rPr>
              <a:t>Тайлан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148343" y="4133087"/>
            <a:ext cx="2394127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29A"/>
                </a:solidFill>
                <a:latin typeface="Arial"/>
              </a:rPr>
              <a:t>SSE стрийм Excel, ГЧХ-2 ажлын мэдээ, чөлөөлөлтийн тайлан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02920" y="4681728"/>
            <a:ext cx="2686735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02920" y="4681728"/>
            <a:ext cx="2686735" cy="45720"/>
          </a:xfrm>
          <a:prstGeom prst="rect">
            <a:avLst/>
          </a:prstGeom>
          <a:solidFill>
            <a:srgbClr val="0E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9224" y="4846320"/>
            <a:ext cx="239412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2440"/>
                </a:solidFill>
                <a:latin typeface="Arial"/>
              </a:rPr>
              <a:t>Эх хэвлэл (DOCX/XLSX)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9224" y="5175504"/>
            <a:ext cx="2394127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29A"/>
                </a:solidFill>
                <a:latin typeface="Arial"/>
              </a:rPr>
              <a:t>19 албан маягт мэдээллээ автоматаар бөглөнө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335959" y="4681728"/>
            <a:ext cx="2686735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3335959" y="4681728"/>
            <a:ext cx="2686735" cy="45720"/>
          </a:xfrm>
          <a:prstGeom prst="rect">
            <a:avLst/>
          </a:prstGeom>
          <a:solidFill>
            <a:srgbClr val="0E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482263" y="4846320"/>
            <a:ext cx="239412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2440"/>
                </a:solidFill>
                <a:latin typeface="Arial"/>
              </a:rPr>
              <a:t>Мэдэгдэл ба аудит лог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482263" y="5175504"/>
            <a:ext cx="2394127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29A"/>
                </a:solidFill>
                <a:latin typeface="Arial"/>
              </a:rPr>
              <a:t>10 үйл явдлын мэдэгдэл, 54 бүртгэх цэгийн мөрдлөг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168999" y="4681728"/>
            <a:ext cx="2686735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168999" y="4681728"/>
            <a:ext cx="2686735" cy="45720"/>
          </a:xfrm>
          <a:prstGeom prst="rect">
            <a:avLst/>
          </a:prstGeom>
          <a:solidFill>
            <a:srgbClr val="02C0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315303" y="4846320"/>
            <a:ext cx="239412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2440"/>
                </a:solidFill>
                <a:latin typeface="Arial"/>
              </a:rPr>
              <a:t>Мэрг. байгууллагын портал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15303" y="5175504"/>
            <a:ext cx="2394127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29A"/>
                </a:solidFill>
                <a:latin typeface="Arial"/>
              </a:rPr>
              <a:t>тусгаарлагдсан 47 үйлдэл, өөрийн объект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002039" y="4681728"/>
            <a:ext cx="2686735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9002039" y="4681728"/>
            <a:ext cx="2686735" cy="457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148343" y="4846320"/>
            <a:ext cx="239412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2440"/>
                </a:solidFill>
                <a:latin typeface="Arial"/>
              </a:rPr>
              <a:t>Тохиргоо, хүний нөөц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148343" y="5175504"/>
            <a:ext cx="2394127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29A"/>
                </a:solidFill>
                <a:latin typeface="Arial"/>
              </a:rPr>
              <a:t>статус, ангилал, урсгал, ажилтан — кодгүй удирдлага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02920" y="5815584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A929A"/>
                </a:solidFill>
                <a:latin typeface="Arial"/>
              </a:rPr>
              <a:t>Хуудасны бүтэц: үндсэн үйл ажиллагаа 13 · тохиргоо, лавлах 12 · хэрэглэгч, эрх, хүний нөөц 8 · системийн 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658368" cy="658368"/>
          </a:xfrm>
          <a:prstGeom prst="rect">
            <a:avLst/>
          </a:prstGeom>
          <a:solidFill>
            <a:srgbClr val="0E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6583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53312" y="365760"/>
            <a:ext cx="103327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0E2440"/>
                </a:solidFill>
                <a:latin typeface="Arial"/>
              </a:rPr>
              <a:t>Газар чөлөөлөлтийн гол урсгал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A929A"/>
                </a:solidFill>
                <a:latin typeface="Arial"/>
              </a:rPr>
              <a:t>Төлөвлөгөө батлагдахаас газар чөлөөлөх хүртэл — систем дэх бодит дараалал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61872"/>
            <a:ext cx="11185855" cy="18288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243584"/>
            <a:ext cx="822960" cy="41148"/>
          </a:xfrm>
          <a:prstGeom prst="rect">
            <a:avLst/>
          </a:prstGeom>
          <a:solidFill>
            <a:srgbClr val="02C0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6455664"/>
            <a:ext cx="11185855" cy="10972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47104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29A"/>
                </a:solidFill>
                <a:latin typeface="Arial"/>
              </a:rPr>
              <a:t>Газар чөлөөлөлт, нөхөх олговрын нэгдсэн систем  ·  Систем хөгжүүлэлтийн техникийн тайлан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74375" y="6547104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A929A"/>
                </a:solidFill>
                <a:latin typeface="Arial"/>
              </a:rPr>
              <a:t>11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554480"/>
            <a:ext cx="11185855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9224" y="1691639"/>
            <a:ext cx="329184" cy="329184"/>
          </a:xfrm>
          <a:prstGeom prst="rect">
            <a:avLst/>
          </a:prstGeom>
          <a:solidFill>
            <a:srgbClr val="02C0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" y="1755648"/>
            <a:ext cx="3291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" y="1737360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2440"/>
                </a:solidFill>
                <a:latin typeface="Arial"/>
              </a:rPr>
              <a:t>Төлөвлөгөө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86200" y="1700784"/>
            <a:ext cx="7573975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A5560"/>
                </a:solidFill>
                <a:latin typeface="Arial"/>
              </a:rPr>
              <a:t>ГУС-ийн жилийн төлөвлөгөөний зөвшилцсөн давхаргаас ангиллаар нь татаж чөлөөлөлт үүсгэнэ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212848"/>
            <a:ext cx="11185855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9224" y="2350008"/>
            <a:ext cx="329184" cy="329184"/>
          </a:xfrm>
          <a:prstGeom prst="rect">
            <a:avLst/>
          </a:prstGeom>
          <a:solidFill>
            <a:srgbClr val="02C0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2414016"/>
            <a:ext cx="3291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" y="2395728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2440"/>
                </a:solidFill>
                <a:latin typeface="Arial"/>
              </a:rPr>
              <a:t>Нэгж талбар тодорхойлох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86200" y="2359152"/>
            <a:ext cx="7573975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A5560"/>
                </a:solidFill>
                <a:latin typeface="Arial"/>
              </a:rPr>
              <a:t>Хилийн дотор орох талбаруудыг кадастраас олж, давхцал ба чөлөөлөх талбайг PostGIS-ээр бодно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2871215"/>
            <a:ext cx="11185855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9224" y="3008375"/>
            <a:ext cx="329184" cy="32918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" y="3072384"/>
            <a:ext cx="3291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" y="3054096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2440"/>
                </a:solidFill>
                <a:latin typeface="Arial"/>
              </a:rPr>
              <a:t>Судалгаа, мэдэгдэл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86200" y="3017520"/>
            <a:ext cx="7573975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A5560"/>
                </a:solidFill>
                <a:latin typeface="Arial"/>
              </a:rPr>
              <a:t>Эзэмшигч, өмчлөл (УБЕГ), барьцаа, татвар, шүүхийн шийдвэр татагдаж, мэдэгдэх хуудас имэйл/E-Mongolia-гаар хүрнэ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3529583"/>
            <a:ext cx="11185855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9224" y="3666744"/>
            <a:ext cx="329184" cy="32918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" y="3730751"/>
            <a:ext cx="3291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6424" y="3712463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2440"/>
                </a:solidFill>
                <a:latin typeface="Arial"/>
              </a:rPr>
              <a:t>Үнэлгээ — 3 урсгал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86200" y="3675887"/>
            <a:ext cx="7573975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A5560"/>
                </a:solidFill>
                <a:latin typeface="Arial"/>
              </a:rPr>
              <a:t>Хөрөнгийн, хөндлөнгийн, МИКА үнэлгээ зэрэг явж, тайлантайгаа илгээгдэнэ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4187951"/>
            <a:ext cx="11185855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9224" y="4325112"/>
            <a:ext cx="329184" cy="329184"/>
          </a:xfrm>
          <a:prstGeom prst="rect">
            <a:avLst/>
          </a:prstGeom>
          <a:solidFill>
            <a:srgbClr val="0E8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" y="4389119"/>
            <a:ext cx="3291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Arial"/>
              </a:rP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6424" y="4370831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2440"/>
                </a:solidFill>
                <a:latin typeface="Arial"/>
              </a:rPr>
              <a:t>Санхүүгийн хяналт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86200" y="4334255"/>
            <a:ext cx="7573975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A5560"/>
                </a:solidFill>
                <a:latin typeface="Arial"/>
              </a:rPr>
              <a:t>Санхүү нэг урсгалыг сонгон баталж үндсэн үнэлгээ болгоно; шаардлагатай бол буцаана эсвэл цуцалж архивлана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4846319"/>
            <a:ext cx="11185855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9224" y="4983479"/>
            <a:ext cx="329184" cy="329184"/>
          </a:xfrm>
          <a:prstGeom prst="rect">
            <a:avLst/>
          </a:prstGeom>
          <a:solidFill>
            <a:srgbClr val="0E8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9224" y="5047487"/>
            <a:ext cx="3291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Arial"/>
              </a:rPr>
              <a:t>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6424" y="5029199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2440"/>
                </a:solidFill>
                <a:latin typeface="Arial"/>
              </a:rPr>
              <a:t>Гэрээ, захирамж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86200" y="4992623"/>
            <a:ext cx="7573975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A5560"/>
                </a:solidFill>
                <a:latin typeface="Arial"/>
              </a:rPr>
              <a:t>Гэрээ, акт, хяналтын карт автоматаар бөглөгдөж, захирамжийн төсөл бэлтгэгдэнэ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5504687"/>
            <a:ext cx="11185855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49224" y="5641847"/>
            <a:ext cx="329184" cy="329184"/>
          </a:xfrm>
          <a:prstGeom prst="rect">
            <a:avLst/>
          </a:prstGeom>
          <a:solidFill>
            <a:srgbClr val="0E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9224" y="5705855"/>
            <a:ext cx="3291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Arial"/>
              </a:rPr>
              <a:t>07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06424" y="5687567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2440"/>
                </a:solidFill>
                <a:latin typeface="Arial"/>
              </a:rPr>
              <a:t>Олговор, чөлөөлөлт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886200" y="5650991"/>
            <a:ext cx="7573975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A5560"/>
                </a:solidFill>
                <a:latin typeface="Arial"/>
              </a:rPr>
              <a:t>Төлбөрийн гүйцэтгэл бүртгэгдэж талбар «Чөлөөлсөн» төлөвт шилжинэ; үнийн мэдээ гадаад API-аар гарна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6254495"/>
            <a:ext cx="111858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929A"/>
                </a:solidFill>
                <a:latin typeface="Arial"/>
              </a:rPr>
              <a:t>Үе шат бүрд төлөв, шалтгаан, хавсралт, хэн хэзээ өөрчилсөн нь түүхэнд үлдэж, холбогдох хүмүүст бодит цагт мэдэгдэнэ.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658368" cy="658368"/>
          </a:xfrm>
          <a:prstGeom prst="rect">
            <a:avLst/>
          </a:prstGeom>
          <a:solidFill>
            <a:srgbClr val="0E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6583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53312" y="365760"/>
            <a:ext cx="103327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0E2440"/>
                </a:solidFill>
                <a:latin typeface="Arial"/>
              </a:rPr>
              <a:t>Ажлын даалгаврын биелэлт — 100%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A929A"/>
                </a:solidFill>
                <a:latin typeface="Arial"/>
              </a:rPr>
              <a:t>plan.xlsx  ·  задаргаа түвшний 62 ажил  ·  нотолгоо нь эх кодоос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61872"/>
            <a:ext cx="11185855" cy="18288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243584"/>
            <a:ext cx="822960" cy="41148"/>
          </a:xfrm>
          <a:prstGeom prst="rect">
            <a:avLst/>
          </a:prstGeom>
          <a:solidFill>
            <a:srgbClr val="02C0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6455664"/>
            <a:ext cx="11185855" cy="10972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47104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29A"/>
                </a:solidFill>
                <a:latin typeface="Arial"/>
              </a:rPr>
              <a:t>Газар чөлөөлөлт, нөхөх олговрын нэгдсэн систем  ·  Систем хөгжүүлэлтийн техникийн тайлан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74375" y="6547104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A929A"/>
                </a:solidFill>
                <a:latin typeface="Arial"/>
              </a:rPr>
              <a:t>12</a:t>
            </a:r>
          </a:p>
        </p:txBody>
      </p:sp>
      <p:sp>
        <p:nvSpPr>
          <p:cNvPr id="11" name="Oval 10"/>
          <p:cNvSpPr/>
          <p:nvPr/>
        </p:nvSpPr>
        <p:spPr>
          <a:xfrm>
            <a:off x="502920" y="1645920"/>
            <a:ext cx="2194560" cy="2194560"/>
          </a:xfrm>
          <a:prstGeom prst="ellipse">
            <a:avLst/>
          </a:prstGeom>
          <a:noFill/>
          <a:ln w="139700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02920" y="1645920"/>
            <a:ext cx="2194560" cy="2194560"/>
          </a:xfrm>
          <a:prstGeom prst="ellipse">
            <a:avLst/>
          </a:prstGeom>
          <a:noFill/>
          <a:ln w="139700">
            <a:solidFill>
              <a:srgbClr val="02C0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487168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0E2440"/>
                </a:solidFill>
                <a:latin typeface="Arial"/>
              </a:rPr>
              <a:t>100%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99923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8A929A"/>
                </a:solidFill>
                <a:latin typeface="Arial"/>
              </a:rPr>
              <a:t>62 / 62 АЖИЛ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72968" y="1554480"/>
            <a:ext cx="851580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E2440"/>
                </a:solidFill>
                <a:latin typeface="Arial"/>
              </a:rPr>
              <a:t>Ажлын даалгаврын бүх ажил хийгдэж дууссан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72968" y="1883664"/>
            <a:ext cx="851580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A5560"/>
                </a:solidFill>
                <a:latin typeface="Arial"/>
              </a:rPr>
              <a:t>Хөгжүүлэлтийн 50 ажил (1, 2-р бүлэг) бүрэн хэрэгжиж, туршилт, суурилуулалт, сургалт, хаалтын 12 ажил (3–6-р бүлэг) хаагдсан. Хүлээгдэж буй ажил үлдээгүй.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72968" y="2468880"/>
            <a:ext cx="2032939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19272" y="2615184"/>
            <a:ext cx="457200" cy="41148"/>
          </a:xfrm>
          <a:prstGeom prst="rect">
            <a:avLst/>
          </a:prstGeom>
          <a:solidFill>
            <a:srgbClr val="02C0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19272" y="2724912"/>
            <a:ext cx="17403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2C0CE"/>
                </a:solidFill>
                <a:latin typeface="Arial"/>
              </a:rPr>
              <a:t>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19272" y="3017520"/>
            <a:ext cx="17403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A5560"/>
                </a:solidFill>
                <a:latin typeface="Arial"/>
              </a:rPr>
              <a:t>Хөгжүүлэлтийн ажил бүрэн хийгдсэн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33923" y="2468880"/>
            <a:ext cx="2032939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0227" y="2615184"/>
            <a:ext cx="457200" cy="4114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0227" y="2724912"/>
            <a:ext cx="17403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A78D6"/>
                </a:solidFill>
                <a:latin typeface="Arial"/>
              </a:rPr>
              <a:t>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0227" y="3017520"/>
            <a:ext cx="17403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A5560"/>
                </a:solidFill>
                <a:latin typeface="Arial"/>
              </a:rPr>
              <a:t>Туршилт, суурилуулалт, сургалт, хаалт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94879" y="2468880"/>
            <a:ext cx="2032939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41183" y="2615184"/>
            <a:ext cx="457200" cy="41148"/>
          </a:xfrm>
          <a:prstGeom prst="rect">
            <a:avLst/>
          </a:prstGeom>
          <a:solidFill>
            <a:srgbClr val="0E8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41183" y="2724912"/>
            <a:ext cx="17403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E8345"/>
                </a:solidFill>
                <a:latin typeface="Arial"/>
              </a:rPr>
              <a:t>27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41183" y="3017520"/>
            <a:ext cx="17403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A5560"/>
                </a:solidFill>
                <a:latin typeface="Arial"/>
              </a:rPr>
              <a:t>Гадаад холболтын ажил бүрэн хаагдсан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55835" y="2468880"/>
            <a:ext cx="2032939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802139" y="2615184"/>
            <a:ext cx="457200" cy="41148"/>
          </a:xfrm>
          <a:prstGeom prst="rect">
            <a:avLst/>
          </a:prstGeom>
          <a:solidFill>
            <a:srgbClr val="8A92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02139" y="2724912"/>
            <a:ext cx="17403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8A929A"/>
                </a:solidFill>
                <a:latin typeface="Arial"/>
              </a:rPr>
              <a:t>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02139" y="3017520"/>
            <a:ext cx="17403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A5560"/>
                </a:solidFill>
                <a:latin typeface="Arial"/>
              </a:rPr>
              <a:t>Хүлээгдэж буй ажил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172968" y="3529584"/>
            <a:ext cx="8515807" cy="292608"/>
          </a:xfrm>
          <a:prstGeom prst="rect">
            <a:avLst/>
          </a:prstGeom>
          <a:solidFill>
            <a:srgbClr val="0E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64408" y="3602736"/>
            <a:ext cx="3931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БҮЛЭГ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79208" y="3602736"/>
            <a:ext cx="731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АЖИЛ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93607" y="3602736"/>
            <a:ext cx="330372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БИЕЛЭЛТ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72968" y="3822192"/>
            <a:ext cx="8515807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172968" y="4107484"/>
            <a:ext cx="8515807" cy="7315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64408" y="3877056"/>
            <a:ext cx="3931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E2440"/>
                </a:solidFill>
                <a:latin typeface="Arial"/>
              </a:rPr>
              <a:t>1. Системийн бичиг баримт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79208" y="3877056"/>
            <a:ext cx="731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A5560"/>
                </a:solidFill>
                <a:latin typeface="Arial"/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93607" y="3877056"/>
            <a:ext cx="330372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A5560"/>
                </a:solidFill>
                <a:latin typeface="Arial"/>
              </a:rPr>
              <a:t>Архитектур, техникийн тодорхойлолт, тайлангууд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172968" y="4114800"/>
            <a:ext cx="8515807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172968" y="4400092"/>
            <a:ext cx="8515807" cy="7315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264408" y="4169664"/>
            <a:ext cx="3931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E2440"/>
                </a:solidFill>
                <a:latin typeface="Arial"/>
              </a:rPr>
              <a:t>2. Систем хөгжүүлэлт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79208" y="4169664"/>
            <a:ext cx="731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A5560"/>
                </a:solidFill>
                <a:latin typeface="Arial"/>
              </a:rPr>
              <a:t>48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93607" y="4169664"/>
            <a:ext cx="330372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A5560"/>
                </a:solidFill>
                <a:latin typeface="Arial"/>
              </a:rPr>
              <a:t>Бүх модуль, гадаад холболт ашиглалтад орсон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172968" y="4407408"/>
            <a:ext cx="8515807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172968" y="4692700"/>
            <a:ext cx="8515807" cy="7315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264408" y="4462272"/>
            <a:ext cx="3931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E2440"/>
                </a:solidFill>
                <a:latin typeface="Arial"/>
              </a:rPr>
              <a:t>3. Туршилт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79208" y="4462272"/>
            <a:ext cx="731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A5560"/>
                </a:solidFill>
                <a:latin typeface="Arial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93607" y="4462272"/>
            <a:ext cx="330372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A5560"/>
                </a:solidFill>
                <a:latin typeface="Arial"/>
              </a:rPr>
              <a:t>Туршилт, алдааны засвар, санал хэлэлцүүлэг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172968" y="4700016"/>
            <a:ext cx="8515807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172968" y="4985308"/>
            <a:ext cx="8515807" cy="7315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264408" y="4754880"/>
            <a:ext cx="3931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E2440"/>
                </a:solidFill>
                <a:latin typeface="Arial"/>
              </a:rPr>
              <a:t>4. Суурилуулалт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79208" y="4754880"/>
            <a:ext cx="731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A5560"/>
                </a:solidFill>
                <a:latin typeface="Arial"/>
              </a:rPr>
              <a:t>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93607" y="4754880"/>
            <a:ext cx="330372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A5560"/>
                </a:solidFill>
                <a:latin typeface="Arial"/>
              </a:rPr>
              <a:t>Судалгаа, сүлжээ/сервер, програм хангамжийн тохиргоо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172968" y="4992624"/>
            <a:ext cx="8515807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172968" y="5277916"/>
            <a:ext cx="8515807" cy="7315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264408" y="5047488"/>
            <a:ext cx="3931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E2440"/>
                </a:solidFill>
                <a:latin typeface="Arial"/>
              </a:rPr>
              <a:t>5. Сургалт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379208" y="5047488"/>
            <a:ext cx="731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A5560"/>
                </a:solidFill>
                <a:latin typeface="Arial"/>
              </a:rPr>
              <a:t>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293607" y="5047488"/>
            <a:ext cx="330372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A5560"/>
                </a:solidFill>
                <a:latin typeface="Arial"/>
              </a:rPr>
              <a:t>Хөтөлбөр, материал, сургалт — гарын авлага бэлэн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172968" y="5285232"/>
            <a:ext cx="8515807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3172968" y="5570524"/>
            <a:ext cx="8515807" cy="7315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264408" y="5340096"/>
            <a:ext cx="3931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E2440"/>
                </a:solidFill>
                <a:latin typeface="Arial"/>
              </a:rPr>
              <a:t>6. Хүлээлцэх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379208" y="5340096"/>
            <a:ext cx="731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A5560"/>
                </a:solidFill>
                <a:latin typeface="Arial"/>
              </a:rPr>
              <a:t>3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293607" y="5340096"/>
            <a:ext cx="330372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A5560"/>
                </a:solidFill>
                <a:latin typeface="Arial"/>
              </a:rPr>
              <a:t>Бичиг баримт, эх код, мэдээллийн сан хүлээлгэн өгөх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658368" cy="658368"/>
          </a:xfrm>
          <a:prstGeom prst="rect">
            <a:avLst/>
          </a:prstGeom>
          <a:solidFill>
            <a:srgbClr val="0E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6583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53312" y="365760"/>
            <a:ext cx="103327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0E2440"/>
                </a:solidFill>
                <a:latin typeface="Arial"/>
              </a:rPr>
              <a:t>Ажлын даалгавраас гадуур хийгдсэн ажлууд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A929A"/>
                </a:solidFill>
                <a:latin typeface="Arial"/>
              </a:rPr>
              <a:t>Иж бүрдэлд тусгагдаагүй боловч системийн бүрэн байдал, аюулгүй байдалд шаардлагатай гэж үзсэн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61872"/>
            <a:ext cx="11185855" cy="18288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243584"/>
            <a:ext cx="822960" cy="41148"/>
          </a:xfrm>
          <a:prstGeom prst="rect">
            <a:avLst/>
          </a:prstGeom>
          <a:solidFill>
            <a:srgbClr val="02C0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6455664"/>
            <a:ext cx="11185855" cy="10972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47104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29A"/>
                </a:solidFill>
                <a:latin typeface="Arial"/>
              </a:rPr>
              <a:t>Газар чөлөөлөлт, нөхөх олговрын нэгдсэн систем  ·  Систем хөгжүүлэлтийн техникийн тайлан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74375" y="6547104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A929A"/>
                </a:solidFill>
                <a:latin typeface="Arial"/>
              </a:rPr>
              <a:t>13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554480"/>
            <a:ext cx="3618890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1554480"/>
            <a:ext cx="45720" cy="1024128"/>
          </a:xfrm>
          <a:prstGeom prst="rect">
            <a:avLst/>
          </a:prstGeom>
          <a:solidFill>
            <a:srgbClr val="02C0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" y="1691639"/>
            <a:ext cx="325313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2440"/>
                </a:solidFill>
                <a:latin typeface="Arial"/>
              </a:rPr>
              <a:t>Excel-ээс үнэлгээ импортлох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1993391"/>
            <a:ext cx="325313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4A5560"/>
                </a:solidFill>
                <a:latin typeface="Arial"/>
              </a:rPr>
              <a:t>Хөтөч дотор задлан шинжилж, SHA-256 хурууны хээгээр давхардлыг таслан зогсооно.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86402" y="1554480"/>
            <a:ext cx="3618890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86402" y="1554480"/>
            <a:ext cx="45720" cy="1024128"/>
          </a:xfrm>
          <a:prstGeom prst="rect">
            <a:avLst/>
          </a:prstGeom>
          <a:solidFill>
            <a:srgbClr val="02C0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7570" y="1691639"/>
            <a:ext cx="325313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2440"/>
                </a:solidFill>
                <a:latin typeface="Arial"/>
              </a:rPr>
              <a:t>Мэргэжлийн байгууллагын портал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7570" y="1993391"/>
            <a:ext cx="325313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4A5560"/>
                </a:solidFill>
                <a:latin typeface="Arial"/>
              </a:rPr>
              <a:t>47 үйлдэлтэй тусгаарлагдсан суваг — байгууллага зөвхөн өөрт оногдсон объектод ажиллана.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69884" y="1554480"/>
            <a:ext cx="3618890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69884" y="1554480"/>
            <a:ext cx="45720" cy="1024128"/>
          </a:xfrm>
          <a:prstGeom prst="rect">
            <a:avLst/>
          </a:prstGeom>
          <a:solidFill>
            <a:srgbClr val="02C0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1052" y="1691639"/>
            <a:ext cx="325313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2440"/>
                </a:solidFill>
                <a:latin typeface="Arial"/>
              </a:rPr>
              <a:t>Үнэлгээний 3 зэрэгцээ урсгал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1052" y="1993391"/>
            <a:ext cx="325313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4A5560"/>
                </a:solidFill>
                <a:latin typeface="Arial"/>
              </a:rPr>
              <a:t>Нэг талбарыг гурван байгууллага хараат бусаар үнэлж, санхүү нэгийг нь үндсэн болгоно.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2688336"/>
            <a:ext cx="3618890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2688336"/>
            <a:ext cx="45720" cy="102412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088" y="2825496"/>
            <a:ext cx="325313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2440"/>
                </a:solidFill>
                <a:latin typeface="Arial"/>
              </a:rPr>
              <a:t>Үнэлгээ цуцлах, архивлах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" y="3127248"/>
            <a:ext cx="325313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4A5560"/>
                </a:solidFill>
                <a:latin typeface="Arial"/>
              </a:rPr>
              <a:t>Хүчингүй болсон үнэлгээ бүтнээрээ архивт үлдэж, түүхээс татагдана.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86402" y="2688336"/>
            <a:ext cx="3618890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86402" y="2688336"/>
            <a:ext cx="45720" cy="102412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87570" y="2825496"/>
            <a:ext cx="325313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2440"/>
                </a:solidFill>
                <a:latin typeface="Arial"/>
              </a:rPr>
              <a:t>Бүрэн түүхжүүлэлт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7570" y="3127248"/>
            <a:ext cx="325313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4A5560"/>
                </a:solidFill>
                <a:latin typeface="Arial"/>
              </a:rPr>
              <a:t>Статус, хил, олговор, үнэлгээ, захирамжийн явц бүр «хэн, хэзээ, яагаад» гэсэн бичилттэй.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69884" y="2688336"/>
            <a:ext cx="3618890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69884" y="2688336"/>
            <a:ext cx="45720" cy="102412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71052" y="2825496"/>
            <a:ext cx="325313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2440"/>
                </a:solidFill>
                <a:latin typeface="Arial"/>
              </a:rPr>
              <a:t>Аюулгүй байдлын өргөтгөлүүд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71052" y="3127248"/>
            <a:ext cx="325313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4A5560"/>
                </a:solidFill>
                <a:latin typeface="Arial"/>
              </a:rPr>
              <a:t>Token хүчингүйжүүлэлт, 4 давхар шалгалт, файл тус бүрийн эрхийн шалгалт.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3822191"/>
            <a:ext cx="3618890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" y="3822191"/>
            <a:ext cx="45720" cy="1024128"/>
          </a:xfrm>
          <a:prstGeom prst="rect">
            <a:avLst/>
          </a:prstGeom>
          <a:solidFill>
            <a:srgbClr val="0E8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04088" y="3959352"/>
            <a:ext cx="325313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2440"/>
                </a:solidFill>
                <a:latin typeface="Arial"/>
              </a:rPr>
              <a:t>Бодит цагийн мэдэгдэл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4088" y="4261104"/>
            <a:ext cx="325313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4A5560"/>
                </a:solidFill>
                <a:latin typeface="Arial"/>
              </a:rPr>
              <a:t>SSE стрийм, хонх, toast — 10 төрлийн үйл явдал зөвхөн холбогдох хүмүүст.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86402" y="3822191"/>
            <a:ext cx="3618890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286402" y="3822191"/>
            <a:ext cx="45720" cy="1024128"/>
          </a:xfrm>
          <a:prstGeom prst="rect">
            <a:avLst/>
          </a:prstGeom>
          <a:solidFill>
            <a:srgbClr val="0E8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87570" y="3959352"/>
            <a:ext cx="325313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2440"/>
                </a:solidFill>
                <a:latin typeface="Arial"/>
              </a:rPr>
              <a:t>Аудит лог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87570" y="4261104"/>
            <a:ext cx="325313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4A5560"/>
                </a:solidFill>
                <a:latin typeface="Arial"/>
              </a:rPr>
              <a:t>54 бүртгэх цэг, 8 ресурсийн төрөл, IP ба төхөөрөмжийн мөрдлөг.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69884" y="3822191"/>
            <a:ext cx="3618890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69884" y="3822191"/>
            <a:ext cx="45720" cy="1024128"/>
          </a:xfrm>
          <a:prstGeom prst="rect">
            <a:avLst/>
          </a:prstGeom>
          <a:solidFill>
            <a:srgbClr val="0E8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71052" y="3959352"/>
            <a:ext cx="325313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2440"/>
                </a:solidFill>
                <a:latin typeface="Arial"/>
              </a:rPr>
              <a:t>Дроны ортофото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71052" y="4261104"/>
            <a:ext cx="325313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4A5560"/>
                </a:solidFill>
                <a:latin typeface="Arial"/>
              </a:rPr>
              <a:t>GeoTIFF-ийг COG болгож зурагт давхарга болгон нэмнэ.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2920" y="4956048"/>
            <a:ext cx="3618890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2920" y="4956048"/>
            <a:ext cx="45720" cy="1024128"/>
          </a:xfrm>
          <a:prstGeom prst="rect">
            <a:avLst/>
          </a:prstGeom>
          <a:solidFill>
            <a:srgbClr val="0E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04088" y="5093208"/>
            <a:ext cx="325313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2440"/>
                </a:solidFill>
                <a:latin typeface="Arial"/>
              </a:rPr>
              <a:t>Хэвлэх зориулалтын зураг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4088" y="5394960"/>
            <a:ext cx="325313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4A5560"/>
                </a:solidFill>
                <a:latin typeface="Arial"/>
              </a:rPr>
              <a:t>Тусдаа SLD загвараар цэвэр хэвлэлийн зураг гаргана.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286402" y="4956048"/>
            <a:ext cx="3618890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286402" y="4956048"/>
            <a:ext cx="45720" cy="1024128"/>
          </a:xfrm>
          <a:prstGeom prst="rect">
            <a:avLst/>
          </a:prstGeom>
          <a:solidFill>
            <a:srgbClr val="0E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487570" y="5093208"/>
            <a:ext cx="325313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2440"/>
                </a:solidFill>
                <a:latin typeface="Arial"/>
              </a:rPr>
              <a:t>Захирамжийн төслийн модуль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487570" y="5394960"/>
            <a:ext cx="325313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4A5560"/>
                </a:solidFill>
                <a:latin typeface="Arial"/>
              </a:rPr>
              <a:t>Талбар холбох, төсөв, ажлын төрөл, DOCX/XLSX гаралт, явцын түүх.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069884" y="4956048"/>
            <a:ext cx="3618890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069884" y="4956048"/>
            <a:ext cx="45720" cy="1024128"/>
          </a:xfrm>
          <a:prstGeom prst="rect">
            <a:avLst/>
          </a:prstGeom>
          <a:solidFill>
            <a:srgbClr val="0E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271052" y="5093208"/>
            <a:ext cx="325313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2440"/>
                </a:solidFill>
                <a:latin typeface="Arial"/>
              </a:rPr>
              <a:t>Хэрэглэгчийн гарын авлага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71052" y="5394960"/>
            <a:ext cx="325313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4A5560"/>
                </a:solidFill>
                <a:latin typeface="Arial"/>
              </a:rPr>
              <a:t>Дэлгэц тус бүрийн зурагт заавар, нэр томьёоны тайлбар.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658368" cy="658368"/>
          </a:xfrm>
          <a:prstGeom prst="rect">
            <a:avLst/>
          </a:prstGeom>
          <a:solidFill>
            <a:srgbClr val="0E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6583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53312" y="365760"/>
            <a:ext cx="103327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0E2440"/>
                </a:solidFill>
                <a:latin typeface="Arial"/>
              </a:rPr>
              <a:t>Нэгдсэн дүгнэлт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A929A"/>
                </a:solidFill>
                <a:latin typeface="Arial"/>
              </a:rPr>
              <a:t>Систем хийгдсэнээр гарсан үр дүн ба давуу талууд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61872"/>
            <a:ext cx="11185855" cy="18288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243584"/>
            <a:ext cx="822960" cy="41148"/>
          </a:xfrm>
          <a:prstGeom prst="rect">
            <a:avLst/>
          </a:prstGeom>
          <a:solidFill>
            <a:srgbClr val="02C0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6455664"/>
            <a:ext cx="11185855" cy="10972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47104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29A"/>
                </a:solidFill>
                <a:latin typeface="Arial"/>
              </a:rPr>
              <a:t>Газар чөлөөлөлт, нөхөх олговрын нэгдсэн систем  ·  Систем хөгжүүлэлтийн техникийн тайлан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74375" y="6547104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A929A"/>
                </a:solidFill>
                <a:latin typeface="Arial"/>
              </a:rPr>
              <a:t>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554480"/>
            <a:ext cx="546491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E2440"/>
                </a:solidFill>
                <a:latin typeface="Arial"/>
              </a:rPr>
              <a:t>ГАРСАН ҮР ДҮН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773936"/>
            <a:ext cx="5464911" cy="10972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975104"/>
            <a:ext cx="546491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900"/>
              </a:spcAft>
            </a:pPr>
            <a:r>
              <a:rPr sz="1000" b="1" i="0">
                <a:solidFill>
                  <a:srgbClr val="02C0CE"/>
                </a:solidFill>
                <a:latin typeface="Arial"/>
              </a:rPr>
              <a:t>▪  </a:t>
            </a:r>
            <a:r>
              <a:rPr sz="1000" b="0" i="0">
                <a:solidFill>
                  <a:srgbClr val="4A5560"/>
                </a:solidFill>
                <a:latin typeface="Arial"/>
              </a:rPr>
              <a:t>Төлөвлөгөө батлагдахаас газар чөлөөлөх хүртэлх бүх үе шат цаасан бус, нэг хяналттай цахим урсгалд шилжсэн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900"/>
              </a:spcAft>
            </a:pPr>
            <a:r>
              <a:rPr sz="1000" b="1" i="0">
                <a:solidFill>
                  <a:srgbClr val="02C0CE"/>
                </a:solidFill>
                <a:latin typeface="Arial"/>
              </a:rPr>
              <a:t>▪  </a:t>
            </a:r>
            <a:r>
              <a:rPr sz="1000" b="0" i="0">
                <a:solidFill>
                  <a:srgbClr val="4A5560"/>
                </a:solidFill>
                <a:latin typeface="Arial"/>
              </a:rPr>
              <a:t>Талбарын давхцал, чөлөөлөх талбай гараар хэмжихгүйгээр сан дотор автоматаар, ижил аргачлалаар бодогддог болсон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900"/>
              </a:spcAft>
            </a:pPr>
            <a:r>
              <a:rPr sz="1000" b="1" i="0">
                <a:solidFill>
                  <a:srgbClr val="02C0CE"/>
                </a:solidFill>
                <a:latin typeface="Arial"/>
              </a:rPr>
              <a:t>▪  </a:t>
            </a:r>
            <a:r>
              <a:rPr sz="1000" b="0" i="0">
                <a:solidFill>
                  <a:srgbClr val="4A5560"/>
                </a:solidFill>
                <a:latin typeface="Arial"/>
              </a:rPr>
              <a:t>Нэг талбарыг 3 байгууллага хараат бусаар үнэлж, санхүүгийн хяналтаар баталгааждаг болсноор үнэлгээ бодитой, харьцуулагдахуйц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900"/>
              </a:spcAft>
            </a:pPr>
            <a:r>
              <a:rPr sz="1000" b="1" i="0">
                <a:solidFill>
                  <a:srgbClr val="02C0CE"/>
                </a:solidFill>
                <a:latin typeface="Arial"/>
              </a:rPr>
              <a:t>▪  </a:t>
            </a:r>
            <a:r>
              <a:rPr sz="1000" b="0" i="0">
                <a:solidFill>
                  <a:srgbClr val="4A5560"/>
                </a:solidFill>
                <a:latin typeface="Arial"/>
              </a:rPr>
              <a:t>ГУС, УБЕГ, ТЕГ, ШШГЕГ, E-Mongolia-тай холбогдсоноор мэдээлэл давхардахгүй, иргэнд цахимаар хүрдэг болсон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900"/>
              </a:spcAft>
            </a:pPr>
            <a:r>
              <a:rPr sz="1000" b="1" i="0">
                <a:solidFill>
                  <a:srgbClr val="02C0CE"/>
                </a:solidFill>
                <a:latin typeface="Arial"/>
              </a:rPr>
              <a:t>▪  </a:t>
            </a:r>
            <a:r>
              <a:rPr sz="1000" b="0" i="0">
                <a:solidFill>
                  <a:srgbClr val="4A5560"/>
                </a:solidFill>
                <a:latin typeface="Arial"/>
              </a:rPr>
              <a:t>23 албан баримт, тайлан мэдээллээ автоматаар бөглөж үүсдэг болсон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900"/>
              </a:spcAft>
            </a:pPr>
            <a:r>
              <a:rPr sz="1000" b="1" i="0">
                <a:solidFill>
                  <a:srgbClr val="02C0CE"/>
                </a:solidFill>
                <a:latin typeface="Arial"/>
              </a:rPr>
              <a:t>▪  </a:t>
            </a:r>
            <a:r>
              <a:rPr sz="1000" b="0" i="0">
                <a:solidFill>
                  <a:srgbClr val="4A5560"/>
                </a:solidFill>
                <a:latin typeface="Arial"/>
              </a:rPr>
              <a:t>Гадны байгууллагууд тусгаарлагдсан портал, нээлттэй гарцаар хандана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23863" y="1554480"/>
            <a:ext cx="546491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E2440"/>
                </a:solidFill>
                <a:latin typeface="Arial"/>
              </a:rPr>
              <a:t>ДАВУУ ТАЛУУД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23863" y="1773936"/>
            <a:ext cx="5464911" cy="10972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23863" y="1975104"/>
            <a:ext cx="546491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900"/>
              </a:spcAft>
            </a:pPr>
            <a:r>
              <a:rPr sz="1000" b="1" i="0">
                <a:solidFill>
                  <a:srgbClr val="2A78D6"/>
                </a:solidFill>
                <a:latin typeface="Arial"/>
              </a:rPr>
              <a:t>▪  </a:t>
            </a:r>
            <a:r>
              <a:rPr sz="1000" b="0" i="0">
                <a:solidFill>
                  <a:srgbClr val="4A5560"/>
                </a:solidFill>
                <a:latin typeface="Arial"/>
              </a:rPr>
              <a:t>Цэвэр давхаргажилт — өргөтгөл, засварт тэсвэртэй, тестлэгдэхүйц бүтэц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900"/>
              </a:spcAft>
            </a:pPr>
            <a:r>
              <a:rPr sz="1000" b="1" i="0">
                <a:solidFill>
                  <a:srgbClr val="2A78D6"/>
                </a:solidFill>
                <a:latin typeface="Arial"/>
              </a:rPr>
              <a:t>▪  </a:t>
            </a:r>
            <a:r>
              <a:rPr sz="1000" b="0" i="0">
                <a:solidFill>
                  <a:srgbClr val="4A5560"/>
                </a:solidFill>
                <a:latin typeface="Arial"/>
              </a:rPr>
              <a:t>Гүн хамгаалалт — 4 давхар эрхийн шалгалт, үүрэг тусгаарлалт, файлын хяналт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900"/>
              </a:spcAft>
            </a:pPr>
            <a:r>
              <a:rPr sz="1000" b="1" i="0">
                <a:solidFill>
                  <a:srgbClr val="2A78D6"/>
                </a:solidFill>
                <a:latin typeface="Arial"/>
              </a:rPr>
              <a:t>▪  </a:t>
            </a:r>
            <a:r>
              <a:rPr sz="1000" b="0" i="0">
                <a:solidFill>
                  <a:srgbClr val="4A5560"/>
                </a:solidFill>
                <a:latin typeface="Arial"/>
              </a:rPr>
              <a:t>Урсгал тохиргоогоор — процесс өөрчлөгдөхөд код засах шаардлагагүй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900"/>
              </a:spcAft>
            </a:pPr>
            <a:r>
              <a:rPr sz="1000" b="1" i="0">
                <a:solidFill>
                  <a:srgbClr val="2A78D6"/>
                </a:solidFill>
                <a:latin typeface="Arial"/>
              </a:rPr>
              <a:t>▪  </a:t>
            </a:r>
            <a:r>
              <a:rPr sz="1000" b="0" i="0">
                <a:solidFill>
                  <a:srgbClr val="4A5560"/>
                </a:solidFill>
                <a:latin typeface="Arial"/>
              </a:rPr>
              <a:t>Бүрэн аудитын мөр — өөрчлөлт бүр «хэн, хэзээ, яагаад» гэсэн түүхтэй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900"/>
              </a:spcAft>
            </a:pPr>
            <a:r>
              <a:rPr sz="1000" b="1" i="0">
                <a:solidFill>
                  <a:srgbClr val="2A78D6"/>
                </a:solidFill>
                <a:latin typeface="Arial"/>
              </a:rPr>
              <a:t>▪  </a:t>
            </a:r>
            <a:r>
              <a:rPr sz="1000" b="0" i="0">
                <a:solidFill>
                  <a:srgbClr val="4A5560"/>
                </a:solidFill>
                <a:latin typeface="Arial"/>
              </a:rPr>
              <a:t>Нээлттэй эхийн стек — лицензийн зардалгүй, нийлүүлэгчээс хараат бус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900"/>
              </a:spcAft>
            </a:pPr>
            <a:r>
              <a:rPr sz="1000" b="1" i="0">
                <a:solidFill>
                  <a:srgbClr val="2A78D6"/>
                </a:solidFill>
                <a:latin typeface="Arial"/>
              </a:rPr>
              <a:t>▪  </a:t>
            </a:r>
            <a:r>
              <a:rPr sz="1000" b="0" i="0">
                <a:solidFill>
                  <a:srgbClr val="4A5560"/>
                </a:solidFill>
                <a:latin typeface="Arial"/>
              </a:rPr>
              <a:t>601 автомат тест — дараагийн хөгжүүлэлтэд эвдрэл шууд илэрнэ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937760"/>
            <a:ext cx="11185855" cy="932688"/>
          </a:xfrm>
          <a:prstGeom prst="rect">
            <a:avLst/>
          </a:prstGeom>
          <a:solidFill>
            <a:srgbClr val="0E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2" y="5138928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2C0CE"/>
                </a:solidFill>
                <a:latin typeface="Arial"/>
              </a:rPr>
              <a:t>100%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5138928"/>
            <a:ext cx="885413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Ажлын даалгаврын 62 ажил бүрэн хийгдэж дууслаа.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B9CADC"/>
                </a:solidFill>
                <a:latin typeface="Arial"/>
              </a:rPr>
              <a:t>Хөгжүүлэлтийн 50 ажил, гадаад холболтын 27 ажил, туршилт, суурилуулалт, сургалт, хаалтын 12 ажил хаагдаж, систем ашиглалтад бэлэн боллоо.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321040" y="640080"/>
            <a:ext cx="640080" cy="640080"/>
          </a:xfrm>
          <a:prstGeom prst="rect">
            <a:avLst/>
          </a:prstGeom>
          <a:solidFill>
            <a:srgbClr val="1636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321040" y="1389888"/>
            <a:ext cx="640080" cy="640080"/>
          </a:xfrm>
          <a:prstGeom prst="rect">
            <a:avLst/>
          </a:prstGeom>
          <a:solidFill>
            <a:srgbClr val="1636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321040" y="2139696"/>
            <a:ext cx="640080" cy="640080"/>
          </a:xfrm>
          <a:prstGeom prst="rect">
            <a:avLst/>
          </a:prstGeom>
          <a:solidFill>
            <a:srgbClr val="1636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070848" y="640080"/>
            <a:ext cx="640080" cy="640080"/>
          </a:xfrm>
          <a:prstGeom prst="rect">
            <a:avLst/>
          </a:prstGeom>
          <a:solidFill>
            <a:srgbClr val="1636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70848" y="1389888"/>
            <a:ext cx="640080" cy="640080"/>
          </a:xfrm>
          <a:prstGeom prst="rect">
            <a:avLst/>
          </a:prstGeom>
          <a:solidFill>
            <a:srgbClr val="1636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070848" y="2139696"/>
            <a:ext cx="640080" cy="640080"/>
          </a:xfrm>
          <a:prstGeom prst="rect">
            <a:avLst/>
          </a:prstGeom>
          <a:solidFill>
            <a:srgbClr val="1636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820656" y="640080"/>
            <a:ext cx="640080" cy="640080"/>
          </a:xfrm>
          <a:prstGeom prst="rect">
            <a:avLst/>
          </a:prstGeom>
          <a:solidFill>
            <a:srgbClr val="1636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820656" y="1389888"/>
            <a:ext cx="640080" cy="640080"/>
          </a:xfrm>
          <a:prstGeom prst="rect">
            <a:avLst/>
          </a:prstGeom>
          <a:solidFill>
            <a:srgbClr val="1636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820656" y="2139696"/>
            <a:ext cx="640080" cy="640080"/>
          </a:xfrm>
          <a:prstGeom prst="rect">
            <a:avLst/>
          </a:prstGeom>
          <a:solidFill>
            <a:srgbClr val="1636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570463" y="640080"/>
            <a:ext cx="640080" cy="640080"/>
          </a:xfrm>
          <a:prstGeom prst="rect">
            <a:avLst/>
          </a:prstGeom>
          <a:solidFill>
            <a:srgbClr val="1636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570463" y="1389888"/>
            <a:ext cx="640080" cy="640080"/>
          </a:xfrm>
          <a:prstGeom prst="rect">
            <a:avLst/>
          </a:prstGeom>
          <a:solidFill>
            <a:srgbClr val="1636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570463" y="2139696"/>
            <a:ext cx="640080" cy="640080"/>
          </a:xfrm>
          <a:prstGeom prst="rect">
            <a:avLst/>
          </a:prstGeom>
          <a:solidFill>
            <a:srgbClr val="1636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320272" y="640080"/>
            <a:ext cx="640080" cy="640080"/>
          </a:xfrm>
          <a:prstGeom prst="rect">
            <a:avLst/>
          </a:prstGeom>
          <a:solidFill>
            <a:srgbClr val="1636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320272" y="1389888"/>
            <a:ext cx="640080" cy="640080"/>
          </a:xfrm>
          <a:prstGeom prst="rect">
            <a:avLst/>
          </a:prstGeom>
          <a:solidFill>
            <a:srgbClr val="1636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320272" y="2139696"/>
            <a:ext cx="640080" cy="640080"/>
          </a:xfrm>
          <a:prstGeom prst="rect">
            <a:avLst/>
          </a:prstGeom>
          <a:solidFill>
            <a:srgbClr val="1636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820656" y="1389888"/>
            <a:ext cx="640080" cy="640080"/>
          </a:xfrm>
          <a:prstGeom prst="rect">
            <a:avLst/>
          </a:prstGeom>
          <a:solidFill>
            <a:srgbClr val="02C0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70848" y="2139696"/>
            <a:ext cx="640080" cy="64008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" y="2560320"/>
            <a:ext cx="91440" cy="1280160"/>
          </a:xfrm>
          <a:prstGeom prst="rect">
            <a:avLst/>
          </a:prstGeom>
          <a:solidFill>
            <a:srgbClr val="02C0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2542032"/>
            <a:ext cx="6949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Arial"/>
              </a:rPr>
              <a:t>БАЯРЛАЛАА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3383280"/>
            <a:ext cx="6949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9CADC"/>
                </a:solidFill>
                <a:latin typeface="Arial"/>
              </a:rPr>
              <a:t>Газар чөлөөлөлт, нөхөх олговрын нэгдсэн систем — техникийн тайлан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5212080"/>
            <a:ext cx="12191695" cy="10972"/>
          </a:xfrm>
          <a:prstGeom prst="rect">
            <a:avLst/>
          </a:prstGeom>
          <a:solidFill>
            <a:srgbClr val="1636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88720" y="548640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02C0CE"/>
                </a:solidFill>
                <a:latin typeface="Arial"/>
              </a:rPr>
              <a:t>Next.js (вэб)  ·  Go (сервер)  ·  PostgreSQL + PostGIS  ·  GeoServer  ·  MinIO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B9CADC"/>
                </a:solidFill>
                <a:latin typeface="Arial"/>
              </a:rPr>
              <a:t>287 REST үйлдэл  ·  89 хүснэгт  ·  35 дэлгэц  ·  601 автомат тест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0" y="5486400"/>
            <a:ext cx="290779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2026-09-13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2C0CE"/>
                </a:solidFill>
                <a:latin typeface="Arial"/>
              </a:rPr>
              <a:t>62 / 62 ажил · 100%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