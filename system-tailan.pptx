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Тоо</c:v>
                </c:pt>
              </c:strCache>
            </c:strRef>
          </c:tx>
          <c:spPr>
            <a:solidFill>
              <a:srgbClr val="0E8345"/>
            </a:solidFill>
          </c:spPr>
          <c:cat>
            <c:strRef>
              <c:f>Sheet1!$A$2:$A$8</c:f>
              <c:strCache>
                <c:ptCount val="7"/>
                <c:pt idx="0">
                  <c:v>Баримт бичиг</c:v>
                </c:pt>
                <c:pt idx="1">
                  <c:v>Нөхөх олговор</c:v>
                </c:pt>
                <c:pt idx="2">
                  <c:v>Төлөвлөгөө, лавлах</c:v>
                </c:pt>
                <c:pt idx="3">
                  <c:v>Хэрэглэгч, эрх (Auth)</c:v>
                </c:pt>
                <c:pt idx="4">
                  <c:v>Үнэлгээ, байгууламж</c:v>
                </c:pt>
                <c:pt idx="5">
                  <c:v>Газар чөлөөлөлт</c:v>
                </c:pt>
                <c:pt idx="6">
                  <c:v>Нэгж талбар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7</c:v>
                </c:pt>
                <c:pt idx="4">
                  <c:v>9</c:v>
                </c:pt>
                <c:pt idx="5">
                  <c:v>9</c:v>
                </c:pt>
                <c:pt idx="6">
                  <c:v>10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0E24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DE3E9"/>
            </a:solidFill>
          </a:ln>
        </c:spPr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9EDF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Тоо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Sheet1!$A$2:$A$8</c:f>
              <c:strCache>
                <c:ptCount val="7"/>
                <c:pt idx="0">
                  <c:v>Нэгж талбар (global)</c:v>
                </c:pt>
                <c:pt idx="1">
                  <c:v>Нэвтрэлт /auth</c:v>
                </c:pt>
                <c:pt idx="2">
                  <c:v>Бусад (dashboard, тайлан…)</c:v>
                </c:pt>
                <c:pt idx="3">
                  <c:v>Хэрэглэгч, роль, зөвшөөрөл</c:v>
                </c:pt>
                <c:pt idx="4">
                  <c:v>Лавлах, тохиргоо (9 бүлэг)</c:v>
                </c:pt>
                <c:pt idx="5">
                  <c:v>Мэрг. байгууллагын портал</c:v>
                </c:pt>
                <c:pt idx="6">
                  <c:v>Газар чөлөөлөлт (nested)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</c:v>
                </c:pt>
                <c:pt idx="1">
                  <c:v>6</c:v>
                </c:pt>
                <c:pt idx="2">
                  <c:v>11</c:v>
                </c:pt>
                <c:pt idx="3">
                  <c:v>16</c:v>
                </c:pt>
                <c:pt idx="4">
                  <c:v>36</c:v>
                </c:pt>
                <c:pt idx="5">
                  <c:v>43</c:v>
                </c:pt>
                <c:pt idx="6">
                  <c:v>61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0E24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DE3E9"/>
            </a:solidFill>
          </a:ln>
        </c:spPr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9EDF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Frontend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Sheet1!$A$2:$A$5</c:f>
              <c:strCache>
                <c:ptCount val="4"/>
                <c:pt idx="0">
                  <c:v>06/15–21</c:v>
                </c:pt>
                <c:pt idx="1">
                  <c:v>06/22–28</c:v>
                </c:pt>
                <c:pt idx="2">
                  <c:v>06/29–07/05</c:v>
                </c:pt>
                <c:pt idx="3">
                  <c:v>07/06–12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22</c:v>
                </c:pt>
                <c:pt idx="1">
                  <c:v>39</c:v>
                </c:pt>
                <c:pt idx="2">
                  <c:v>50</c:v>
                </c:pt>
                <c:pt idx="3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Backend</c:v>
                </c:pt>
              </c:strCache>
            </c:strRef>
          </c:tx>
          <c:spPr>
            <a:solidFill>
              <a:srgbClr val="02C0CE"/>
            </a:solidFill>
          </c:spPr>
          <c:cat>
            <c:strRef>
              <c:f>Sheet1!$A$2:$A$5</c:f>
              <c:strCache>
                <c:ptCount val="4"/>
                <c:pt idx="0">
                  <c:v>06/15–21</c:v>
                </c:pt>
                <c:pt idx="1">
                  <c:v>06/22–28</c:v>
                </c:pt>
                <c:pt idx="2">
                  <c:v>06/29–07/05</c:v>
                </c:pt>
                <c:pt idx="3">
                  <c:v>07/06–12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17</c:v>
                </c:pt>
                <c:pt idx="1">
                  <c:v>22</c:v>
                </c:pt>
                <c:pt idx="2">
                  <c:v>15</c:v>
                </c:pt>
                <c:pt idx="3">
                  <c:v>7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0E24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DE3E9"/>
            </a:solidFill>
          </a:ln>
        </c:spPr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9EDF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321040" y="640080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321040" y="1389888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321040" y="2139696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70848" y="640080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070848" y="1389888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070848" y="2139696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820656" y="640080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20656" y="1389888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820656" y="2139696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570464" y="640080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70464" y="1389888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570464" y="2139696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320272" y="640080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320272" y="1389888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320272" y="2139696"/>
            <a:ext cx="640080" cy="640080"/>
          </a:xfrm>
          <a:prstGeom prst="roundRect">
            <a:avLst>
              <a:gd name="adj" fmla="val 12000"/>
            </a:avLst>
          </a:prstGeom>
          <a:noFill/>
          <a:ln w="15240">
            <a:solidFill>
              <a:srgbClr val="1636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20656" y="1389888"/>
            <a:ext cx="640080" cy="640080"/>
          </a:xfrm>
          <a:prstGeom prst="roundRect">
            <a:avLst>
              <a:gd name="adj" fmla="val 12000"/>
            </a:avLst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70848" y="2139696"/>
            <a:ext cx="640080" cy="640080"/>
          </a:xfrm>
          <a:prstGeom prst="roundRect">
            <a:avLst>
              <a:gd name="adj" fmla="val 12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1554480"/>
            <a:ext cx="91440" cy="214884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1298448"/>
            <a:ext cx="7589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300" b="1">
                <a:solidFill>
                  <a:srgbClr val="02C0CE"/>
                </a:solidFill>
                <a:latin typeface="Arial"/>
              </a:rPr>
              <a:t>СИСТЕМ ХӨГЖҮҮЛЭЛТИЙН ТЕХНИКИЙН ТАЙЛАН</a:t>
            </a:r>
          </a:p>
          <a:p>
            <a:pPr algn="l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Газар чөлөөлөлт,</a:t>
            </a:r>
          </a:p>
          <a:p>
            <a:pPr algn="l">
              <a:spcAft>
                <a:spcPts val="160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нөхөх олговрын нэгдсэн систем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B9CADC"/>
                </a:solidFill>
                <a:latin typeface="Arial"/>
              </a:rPr>
              <a:t>Газар чөлөөлөлтийн үйл явц, нэгж талбарын бүртгэл, үнэлгээ болон нөхөх олговрын тооцооллыг нэг цэгээс удирдах вэб систем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212080"/>
            <a:ext cx="12191695" cy="1270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548640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>
                <a:solidFill>
                  <a:srgbClr val="02C0CE"/>
                </a:solidFill>
                <a:latin typeface="Arial"/>
              </a:rPr>
              <a:t>179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B9CADC"/>
                </a:solidFill>
                <a:latin typeface="Arial"/>
              </a:rPr>
              <a:t>REST API endpoint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84448" y="5559552"/>
            <a:ext cx="12700" cy="77724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86200" y="548640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>
                <a:solidFill>
                  <a:srgbClr val="02C0CE"/>
                </a:solidFill>
                <a:latin typeface="Arial"/>
              </a:rPr>
              <a:t>47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B9CADC"/>
                </a:solidFill>
                <a:latin typeface="Arial"/>
              </a:rPr>
              <a:t>өгөгдлийн хүснэгт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81928" y="5559552"/>
            <a:ext cx="12700" cy="77724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548640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>
                <a:solidFill>
                  <a:srgbClr val="02C0CE"/>
                </a:solidFill>
                <a:latin typeface="Arial"/>
              </a:rPr>
              <a:t>24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B9CADC"/>
                </a:solidFill>
                <a:latin typeface="Arial"/>
              </a:rPr>
              <a:t>вэб хуудас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79408" y="5559552"/>
            <a:ext cx="12700" cy="77724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81160" y="548640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>
                <a:solidFill>
                  <a:srgbClr val="02C0CE"/>
                </a:solidFill>
                <a:latin typeface="Arial"/>
              </a:rPr>
              <a:t>213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B9CADC"/>
                </a:solidFill>
                <a:latin typeface="Arial"/>
              </a:rPr>
              <a:t>автомат тест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5989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B9CADC"/>
                </a:solidFill>
                <a:latin typeface="Arial"/>
              </a:rPr>
              <a:t>2026-07-16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Агуулга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737360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773936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202B"/>
                </a:solidFill>
                <a:latin typeface="Arial"/>
              </a:rPr>
              <a:t>Ерөнхий тойм — гол тоон үзүүлэлтүүд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487168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523744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Системийн архитектур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236976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273552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Технологийн стек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986784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0233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Мэдээллийн сангийн бүтэц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36592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773168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API интерфейс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486400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522976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Аюулгүй байдал, эрхийн удирдлага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1737360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1773936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Хэрэглэгчийн эрхийн матрицууд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0" y="2487168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2523744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Функциональ модулиуд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3236976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09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3273552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GIS — газарзүйн интеграци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3986784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40233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Чанар, тестийн хамралт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0" y="4736592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4773168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202B"/>
                </a:solidFill>
                <a:latin typeface="Arial"/>
              </a:rPr>
              <a:t>Хөгжүүлэлтийн явцын үзүүлэлт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0" y="5486400"/>
            <a:ext cx="475488" cy="475488"/>
          </a:xfrm>
          <a:prstGeom prst="roundRect">
            <a:avLst>
              <a:gd name="adj" fmla="val 25000"/>
            </a:avLst>
          </a:prstGeom>
          <a:solidFill>
            <a:srgbClr val="E6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5522976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6202B"/>
                </a:solidFill>
                <a:latin typeface="Arial"/>
              </a:rPr>
              <a:t>Дүгнэлт ба нэмэгдэх боломжууд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Ерөнхий тойм — гол тоон үзүүлэлтүүд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Бүх үзүүлэлт эх кодоос шууд тоологдсон (2026-07-16-ны байдлаар)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572768"/>
            <a:ext cx="35935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9224" y="1719072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1792224"/>
            <a:ext cx="331927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0E2440"/>
                </a:solidFill>
                <a:latin typeface="Arial"/>
              </a:rPr>
              <a:t>179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REST API endpoint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572768"/>
            <a:ext cx="35935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719072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5696" y="1792224"/>
            <a:ext cx="331927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0E2440"/>
                </a:solidFill>
                <a:latin typeface="Arial"/>
              </a:rPr>
              <a:t>47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Өгөгдлийн сангийн хүснэгт (2 DB)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572768"/>
            <a:ext cx="35935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38744" y="1719072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0456" y="1792224"/>
            <a:ext cx="331927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0E2440"/>
                </a:solidFill>
                <a:latin typeface="Arial"/>
              </a:rPr>
              <a:t>55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Хувилбарлагдсан migration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191256"/>
            <a:ext cx="35935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9224" y="3337560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3410712"/>
            <a:ext cx="331927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0E2440"/>
                </a:solidFill>
                <a:latin typeface="Arial"/>
              </a:rPr>
              <a:t>24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Frontend хуудас (route)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191256"/>
            <a:ext cx="35935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43984" y="3337560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25696" y="3410712"/>
            <a:ext cx="331927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0E2440"/>
                </a:solidFill>
                <a:latin typeface="Arial"/>
              </a:rPr>
              <a:t>~53.6 мянга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Нийт кодын мөр (Go + TS/TSX)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3191256"/>
            <a:ext cx="35935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38744" y="3337560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0456" y="3410712"/>
            <a:ext cx="331927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0E2440"/>
                </a:solidFill>
                <a:latin typeface="Arial"/>
              </a:rPr>
              <a:t>213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Backend тест функц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956048"/>
            <a:ext cx="3602736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4956048"/>
            <a:ext cx="40640" cy="13258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047488"/>
            <a:ext cx="3328416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ҮР ДҮН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Газар чөлөөлөлтөөс нөхөх олговор хүртэлх бүх үе шат нэг системд цахимжсан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88536" y="4956048"/>
            <a:ext cx="3602736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88536" y="4956048"/>
            <a:ext cx="40640" cy="132588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5047488"/>
            <a:ext cx="3328416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ДАВУУ ТАЛ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Frontend/backend тусдаа — багууд зэрэг хөгжүүлэх боломжтой; GIS анхнаасаа гол хэсэг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74152" y="4956048"/>
            <a:ext cx="3602736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74152" y="4956048"/>
            <a:ext cx="40640" cy="13258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0456" y="5047488"/>
            <a:ext cx="3328416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НЭМЭГДЭХ БОЛОМЖ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Мобайл апп; бусад төрийн системтэй (ХУР, ДАН) интеграци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Системийн архитектур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Clean Architecture — давхарга бүр тодорхой үүрэгтэй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481328"/>
            <a:ext cx="8229600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87552" y="1673352"/>
            <a:ext cx="777240" cy="548640"/>
          </a:xfrm>
          <a:prstGeom prst="roundRect">
            <a:avLst>
              <a:gd name="adj" fmla="val 16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8528" y="155448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>
                <a:solidFill>
                  <a:srgbClr val="16202B"/>
                </a:solidFill>
                <a:latin typeface="Arial"/>
              </a:rPr>
              <a:t>Вэб апп — Next.js 14 (App Router)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A5560"/>
                </a:solidFill>
                <a:latin typeface="Arial"/>
              </a:rPr>
              <a:t>24 хуудас · GeoServer прокси · SSE Excel тайлан · DOCX загвар · React Query · OpenLayers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596896"/>
            <a:ext cx="8229600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7552" y="2788920"/>
            <a:ext cx="777240" cy="548640"/>
          </a:xfrm>
          <a:prstGeom prst="roundRect">
            <a:avLst>
              <a:gd name="adj" fmla="val 16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38528" y="2670048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>
                <a:solidFill>
                  <a:srgbClr val="16202B"/>
                </a:solidFill>
                <a:latin typeface="Arial"/>
              </a:rPr>
              <a:t>REST API — Go 1.25 / Gin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A5560"/>
                </a:solidFill>
                <a:latin typeface="Arial"/>
              </a:rPr>
              <a:t>Handler → Service → Repository · JWT, RBAC, assignment, lock, rate-limit · Swagger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712464"/>
            <a:ext cx="8229600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7552" y="3904488"/>
            <a:ext cx="777240" cy="548640"/>
          </a:xfrm>
          <a:prstGeom prst="roundRect">
            <a:avLst>
              <a:gd name="adj" fmla="val 16000"/>
            </a:avLst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38528" y="3785616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>
                <a:solidFill>
                  <a:srgbClr val="16202B"/>
                </a:solidFill>
                <a:latin typeface="Arial"/>
              </a:rPr>
              <a:t>PostgreSQL 16 — хоёр сан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A5560"/>
                </a:solidFill>
                <a:latin typeface="Arial"/>
              </a:rPr>
              <a:t>Main DB (39 хүснэгт, PostGIS геометр) + Auth DB (8 хүснэгт)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828032"/>
            <a:ext cx="8229600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87552" y="5020056"/>
            <a:ext cx="777240" cy="548640"/>
          </a:xfrm>
          <a:prstGeom prst="roundRect">
            <a:avLst>
              <a:gd name="adj" fmla="val 16000"/>
            </a:avLst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GIS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38528" y="4901184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>
                <a:solidFill>
                  <a:srgbClr val="16202B"/>
                </a:solidFill>
                <a:latin typeface="Arial"/>
              </a:rPr>
              <a:t>GeoServer 2.25 — WMS / WFS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A5560"/>
                </a:solidFill>
                <a:latin typeface="Arial"/>
              </a:rPr>
              <a:t>Захиргааны нэгж, төлөвлөгөө, талбарын статусын давхаргууд · CQL шүүлт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4800600" y="2432304"/>
            <a:ext cx="274320" cy="146304"/>
          </a:xfrm>
          <a:prstGeom prst="downArrow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own Arrow 22"/>
          <p:cNvSpPr/>
          <p:nvPr/>
        </p:nvSpPr>
        <p:spPr>
          <a:xfrm>
            <a:off x="4800600" y="3547872"/>
            <a:ext cx="274320" cy="146304"/>
          </a:xfrm>
          <a:prstGeom prst="downArrow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wn Arrow 23"/>
          <p:cNvSpPr/>
          <p:nvPr/>
        </p:nvSpPr>
        <p:spPr>
          <a:xfrm>
            <a:off x="4800600" y="4663440"/>
            <a:ext cx="274320" cy="146304"/>
          </a:xfrm>
          <a:prstGeom prst="downArrow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326880" y="1481328"/>
            <a:ext cx="2359152" cy="4443984"/>
          </a:xfrm>
          <a:prstGeom prst="roundRect">
            <a:avLst>
              <a:gd name="adj" fmla="val 5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55480" y="1691640"/>
            <a:ext cx="1920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050" b="1">
                <a:solidFill>
                  <a:srgbClr val="02C0CE"/>
                </a:solidFill>
                <a:latin typeface="Arial"/>
              </a:rPr>
              <a:t>КОДЫН ХЭМЖЭЭ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B9CADC"/>
                </a:solidFill>
                <a:latin typeface="Arial"/>
              </a:rPr>
              <a:t>Backend (Go)</a:t>
            </a:r>
          </a:p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27,742</a:t>
            </a:r>
          </a:p>
          <a:p>
            <a:pPr algn="l">
              <a:spcAft>
                <a:spcPts val="1400"/>
              </a:spcAft>
            </a:pPr>
            <a:r>
              <a:rPr sz="1000" b="0">
                <a:solidFill>
                  <a:srgbClr val="B9CADC"/>
                </a:solidFill>
                <a:latin typeface="Arial"/>
              </a:rPr>
              <a:t>мөр · 98 файл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B9CADC"/>
                </a:solidFill>
                <a:latin typeface="Arial"/>
              </a:rPr>
              <a:t>Frontend (TS/TSX)</a:t>
            </a:r>
          </a:p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25,850</a:t>
            </a:r>
          </a:p>
          <a:p>
            <a:pPr algn="l">
              <a:spcAft>
                <a:spcPts val="1400"/>
              </a:spcAft>
            </a:pPr>
            <a:r>
              <a:rPr sz="1000" b="0">
                <a:solidFill>
                  <a:srgbClr val="B9CADC"/>
                </a:solidFill>
                <a:latin typeface="Arial"/>
              </a:rPr>
              <a:t>мөр · 101 файл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B9CADC"/>
                </a:solidFill>
                <a:latin typeface="Arial"/>
              </a:rPr>
              <a:t>Docker + compose орчин нэг командаар босно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Технологийн стек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Бүрэн нээлттэй эхийн, лицензийн зардалгүй технологиуд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3602736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81328"/>
            <a:ext cx="3602736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627632"/>
            <a:ext cx="323697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78D6"/>
                </a:solidFill>
                <a:latin typeface="Arial"/>
              </a:rPr>
              <a:t>FRONTEND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Next.js 14 · React 18 · TS 5</a:t>
            </a:r>
            <a:r>
              <a:rPr sz="1100">
                <a:solidFill>
                  <a:srgbClr val="4A5560"/>
                </a:solidFill>
                <a:latin typeface="Arial"/>
              </a:rPr>
              <a:t> — App Router, SSR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Radix UI + Tailwind</a:t>
            </a:r>
            <a:r>
              <a:rPr sz="1100">
                <a:solidFill>
                  <a:srgbClr val="4A5560"/>
                </a:solidFill>
                <a:latin typeface="Arial"/>
              </a:rPr>
              <a:t> — хүртээмжтэй UI, dark mode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React Query 5</a:t>
            </a:r>
            <a:r>
              <a:rPr sz="1100">
                <a:solidFill>
                  <a:srgbClr val="4A5560"/>
                </a:solidFill>
                <a:latin typeface="Arial"/>
              </a:rPr>
              <a:t> — сервер өгөгдлийн кэш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react-hook-form + zod</a:t>
            </a:r>
            <a:r>
              <a:rPr sz="1100">
                <a:solidFill>
                  <a:srgbClr val="4A5560"/>
                </a:solidFill>
                <a:latin typeface="Arial"/>
              </a:rPr>
              <a:t> — маягт, валидаци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OpenLayers 10.2</a:t>
            </a:r>
            <a:r>
              <a:rPr sz="1100">
                <a:solidFill>
                  <a:srgbClr val="4A5560"/>
                </a:solidFill>
                <a:latin typeface="Arial"/>
              </a:rPr>
              <a:t> — интерактив газрын зураг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exceljs · SheetJS · pdf-lib</a:t>
            </a:r>
            <a:r>
              <a:rPr sz="1100">
                <a:solidFill>
                  <a:srgbClr val="4A5560"/>
                </a:solidFill>
                <a:latin typeface="Arial"/>
              </a:rPr>
              <a:t> — Excel, PDF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1481328"/>
            <a:ext cx="3602736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88536" y="1481328"/>
            <a:ext cx="3602736" cy="5080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1416" y="1627632"/>
            <a:ext cx="323697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BACKEND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Go 1.25 · Gin 1.10</a:t>
            </a:r>
            <a:r>
              <a:rPr sz="1100">
                <a:solidFill>
                  <a:srgbClr val="4A5560"/>
                </a:solidFill>
                <a:latin typeface="Arial"/>
              </a:rPr>
              <a:t> — HTTP framework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pgx/v5 (ORM-гүй)</a:t>
            </a:r>
            <a:r>
              <a:rPr sz="1100">
                <a:solidFill>
                  <a:srgbClr val="4A5560"/>
                </a:solidFill>
                <a:latin typeface="Arial"/>
              </a:rPr>
              <a:t> — гүйцэтгэлийн бүрэн хяналт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golang-jwt/v5 · bcrypt</a:t>
            </a:r>
            <a:r>
              <a:rPr sz="1100">
                <a:solidFill>
                  <a:srgbClr val="4A5560"/>
                </a:solidFill>
                <a:latin typeface="Arial"/>
              </a:rPr>
              <a:t> — нэвтрэлт, хэшлэлт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golang-migrate/v4</a:t>
            </a:r>
            <a:r>
              <a:rPr sz="1100">
                <a:solidFill>
                  <a:srgbClr val="4A5560"/>
                </a:solidFill>
                <a:latin typeface="Arial"/>
              </a:rPr>
              <a:t> — автомат migration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swaggo/swag</a:t>
            </a:r>
            <a:r>
              <a:rPr sz="1100">
                <a:solidFill>
                  <a:srgbClr val="4A5560"/>
                </a:solidFill>
                <a:latin typeface="Arial"/>
              </a:rPr>
              <a:t> — Swagger баримтжуулалт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testify + mocks</a:t>
            </a:r>
            <a:r>
              <a:rPr sz="1100">
                <a:solidFill>
                  <a:srgbClr val="4A5560"/>
                </a:solidFill>
                <a:latin typeface="Arial"/>
              </a:rPr>
              <a:t> — unit тест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4152" y="1481328"/>
            <a:ext cx="3602736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4152" y="1481328"/>
            <a:ext cx="3602736" cy="508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2" y="1627632"/>
            <a:ext cx="323697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ДЭД БҮТЭЦ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PostgreSQL 16 + PostGIS 3.4</a:t>
            </a:r>
            <a:r>
              <a:rPr sz="1100">
                <a:solidFill>
                  <a:srgbClr val="4A5560"/>
                </a:solidFill>
                <a:latin typeface="Arial"/>
              </a:rPr>
              <a:t> — реляц + орон зайн сан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GeoServer 2.25</a:t>
            </a:r>
            <a:r>
              <a:rPr sz="1100">
                <a:solidFill>
                  <a:srgbClr val="4A5560"/>
                </a:solidFill>
                <a:latin typeface="Arial"/>
              </a:rPr>
              <a:t> — WMS/WFS үйлчилгээ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Docker + compose</a:t>
            </a:r>
            <a:r>
              <a:rPr sz="1100">
                <a:solidFill>
                  <a:srgbClr val="4A5560"/>
                </a:solidFill>
                <a:latin typeface="Arial"/>
              </a:rPr>
              <a:t> — контейнержуулалт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6202B"/>
                </a:solidFill>
                <a:latin typeface="Arial"/>
              </a:rPr>
              <a:t>systemd · Makefile</a:t>
            </a:r>
            <a:r>
              <a:rPr sz="1100">
                <a:solidFill>
                  <a:srgbClr val="4A5560"/>
                </a:solidFill>
                <a:latin typeface="Arial"/>
              </a:rPr>
              <a:t> — байршуулалт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07492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5074920"/>
            <a:ext cx="40640" cy="12344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516636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ҮР ДҮН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Бүх давхаргад орчин үеийн, идэвхтэй дэмжигддэг технологи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8536" y="507492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8536" y="5074920"/>
            <a:ext cx="40640" cy="123444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516636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ДАВУУ ТАЛ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Go + raw SQL — бага нөөцөөр өндөр гүйцэтгэл; TypeScript — төрлийн аюулгүй байдал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74152" y="507492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74152" y="5074920"/>
            <a:ext cx="40640" cy="123444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0456" y="516636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НЭМЭГДЭХ БОЛОМЖ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OpenTelemetry мониторинг; sqlc — SQL-ийн compile-time шалгалт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Мэдээллийн сангийн бүтэц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Хоёр тусдаа сан: бизнес (39 хүснэгт, PostGIS) + хэрэглэгч/эрх (8 хүснэгт) · 55 migration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603504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9105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E2440"/>
                </a:solidFill>
                <a:latin typeface="Arial"/>
              </a:rPr>
              <a:t>ХҮСНЭГТҮҮД — ДОМЭЙНЭЭР (НИЙТ 47)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40080" y="1938528"/>
          <a:ext cx="576072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903720" y="16002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050" b="1">
                <a:solidFill>
                  <a:srgbClr val="0E2440"/>
                </a:solidFill>
                <a:latin typeface="Arial"/>
              </a:rPr>
              <a:t>ОНЦЛОХ ДИЗАЙНЫ ШИЙДЛҮҮД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geometry(Polygon, 4326)</a:t>
            </a:r>
            <a:r>
              <a:rPr sz="1200">
                <a:solidFill>
                  <a:srgbClr val="4A5560"/>
                </a:solidFill>
                <a:latin typeface="Arial"/>
              </a:rPr>
              <a:t> — давхцлын талбай DB дотор тооцогдоно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3 зэрэгцээ үнэлгээний урсгал</a:t>
            </a:r>
            <a:r>
              <a:rPr sz="1200">
                <a:solidFill>
                  <a:srgbClr val="4A5560"/>
                </a:solidFill>
                <a:latin typeface="Arial"/>
              </a:rPr>
              <a:t> — asset / independent / mika — илгээх→батлах workflow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Түүхжүүлэлт</a:t>
            </a:r>
            <a:r>
              <a:rPr sz="1200">
                <a:solidFill>
                  <a:srgbClr val="4A5560"/>
                </a:solidFill>
                <a:latin typeface="Arial"/>
              </a:rPr>
              <a:t> — статус, хил, олговор, үнэлгээ бүр *_history хүснэгттэй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SHA-256 дедупликаци</a:t>
            </a:r>
            <a:r>
              <a:rPr sz="1200">
                <a:solidFill>
                  <a:srgbClr val="4A5560"/>
                </a:solidFill>
                <a:latin typeface="Arial"/>
              </a:rPr>
              <a:t> — Excel импортын давхардлын хамгаалалт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Token удирдлага</a:t>
            </a:r>
            <a:r>
              <a:rPr sz="1200">
                <a:solidFill>
                  <a:srgbClr val="4A5560"/>
                </a:solidFill>
                <a:latin typeface="Arial"/>
              </a:rPr>
              <a:t> — revocation list + session epoch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687568"/>
            <a:ext cx="3602736" cy="7132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5687568"/>
            <a:ext cx="40640" cy="71323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" y="5779008"/>
            <a:ext cx="33284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ҮР ДҮН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47 хүснэгтэд домэйн бүрэн загварчлагдаж, 55 migration-аар хувилбаржсан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88536" y="5687568"/>
            <a:ext cx="3602736" cy="7132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8536" y="5687568"/>
            <a:ext cx="40640" cy="713232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5779008"/>
            <a:ext cx="33284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ДАВУУ ТАЛ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Migration бүр буцаах хостой; түүхийн хүснэгтүүд — аудит бэлэн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74152" y="5687568"/>
            <a:ext cx="3602736" cy="7132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74152" y="5687568"/>
            <a:ext cx="40640" cy="713232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0456" y="5779008"/>
            <a:ext cx="33284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НЭМЭГДЭХ БОЛОМЖ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PITR нөөцлөлт, read replica; том хүснэгтийг partition хийх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API интерфейс — 179 endpoint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/api/v1 суурьтай REST, бүгд Swagger-ээр баримтжсан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649224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91056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E2440"/>
                </a:solidFill>
                <a:latin typeface="Arial"/>
              </a:rPr>
              <a:t>ENDPOINT-УУД — БҮЛГЭЭР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40080" y="1938528"/>
          <a:ext cx="621792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360920" y="1600200"/>
            <a:ext cx="4389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050" b="1">
                <a:solidFill>
                  <a:srgbClr val="0E2440"/>
                </a:solidFill>
                <a:latin typeface="Arial"/>
              </a:rPr>
              <a:t>ОНЦЛОГ ШИЙДЛҮҮД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SSE стрийм</a:t>
            </a:r>
            <a:r>
              <a:rPr sz="1200">
                <a:solidFill>
                  <a:srgbClr val="4A5560"/>
                </a:solidFill>
                <a:latin typeface="Arial"/>
              </a:rPr>
              <a:t> — Excel тайланг явцын мэдээлэлтэй татдаг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GeoServer прокси</a:t>
            </a:r>
            <a:r>
              <a:rPr sz="1200">
                <a:solidFill>
                  <a:srgbClr val="4A5560"/>
                </a:solidFill>
                <a:latin typeface="Arial"/>
              </a:rPr>
              <a:t> — GIS дэд бүтэц гадагш ил гардаггүй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Rate limit</a:t>
            </a:r>
            <a:r>
              <a:rPr sz="1200">
                <a:solidFill>
                  <a:srgbClr val="4A5560"/>
                </a:solidFill>
                <a:latin typeface="Arial"/>
              </a:rPr>
              <a:t> — нэвтрэлтийн бүлэгт 30 хүсэлт/мин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Алдааны нэгдсэн урсгал</a:t>
            </a:r>
            <a:r>
              <a:rPr sz="1200">
                <a:solidFill>
                  <a:srgbClr val="4A5560"/>
                </a:solidFill>
                <a:latin typeface="Arial"/>
              </a:rPr>
              <a:t> — 401 → token сэргээлт, 403 → мэдэгдэл, 5xx → алдааны хуудас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687568"/>
            <a:ext cx="3602736" cy="7132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5687568"/>
            <a:ext cx="40640" cy="71323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" y="5779008"/>
            <a:ext cx="33284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ҮР ДҮН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Гадны байгууллагын хандалт тусдаа порталаар тусгаарлагдсан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88536" y="5687568"/>
            <a:ext cx="3602736" cy="7132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8536" y="5687568"/>
            <a:ext cx="40640" cy="713232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5779008"/>
            <a:ext cx="33284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ДАВУУ ТАЛ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Хувилбартай зам (/api/v1) — v2 гаргахад эвдрэлгүй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74152" y="5687568"/>
            <a:ext cx="3602736" cy="7132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74152" y="5687568"/>
            <a:ext cx="40640" cy="713232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0456" y="5779008"/>
            <a:ext cx="33284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НЭМЭГДЭХ БОЛОМЖ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Webhook API; batch endpoint-ууд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Аюулгүй байдал, эрхийн удирдлага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JWT + нарийвчилсан зөвшөөрөл + объект түвшний хяналт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548640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27632"/>
            <a:ext cx="51206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100" b="1">
                <a:solidFill>
                  <a:srgbClr val="0E2440"/>
                </a:solidFill>
                <a:latin typeface="Arial"/>
              </a:rPr>
              <a:t>НЭВТРЭЛТ БА TOKEN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JWT (HS256)</a:t>
            </a:r>
            <a:r>
              <a:rPr sz="1250">
                <a:solidFill>
                  <a:srgbClr val="4A5560"/>
                </a:solidFill>
                <a:latin typeface="Arial"/>
              </a:rPr>
              <a:t> — access 15 мин + refresh 7 хоног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bcrypt хэшлэлт</a:t>
            </a:r>
            <a:r>
              <a:rPr sz="1250">
                <a:solidFill>
                  <a:srgbClr val="4A5560"/>
                </a:solidFill>
                <a:latin typeface="Arial"/>
              </a:rPr>
              <a:t> — нууц үг сэргээх — SHA-256 token, 1ц TTL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Token хүчингүйжүүлэлт</a:t>
            </a:r>
            <a:r>
              <a:rPr sz="1250">
                <a:solidFill>
                  <a:srgbClr val="4A5560"/>
                </a:solidFill>
                <a:latin typeface="Arial"/>
              </a:rPr>
              <a:t> — revocation list + session epoch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resource:action зөвшөөрөл</a:t>
            </a:r>
            <a:r>
              <a:rPr sz="1250">
                <a:solidFill>
                  <a:srgbClr val="4A5560"/>
                </a:solidFill>
                <a:latin typeface="Arial"/>
              </a:rPr>
              <a:t> — JWT-д шингэсэн — DB хандалтгүй шалгалт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81328"/>
            <a:ext cx="5513832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27632"/>
            <a:ext cx="51206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100" b="1">
                <a:solidFill>
                  <a:srgbClr val="0E2440"/>
                </a:solidFill>
                <a:latin typeface="Arial"/>
              </a:rPr>
              <a:t>4 ДАВХАР MIDDLEWARE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Permission / Role</a:t>
            </a:r>
            <a:r>
              <a:rPr sz="1250">
                <a:solidFill>
                  <a:srgbClr val="4A5560"/>
                </a:solidFill>
                <a:latin typeface="Arial"/>
              </a:rPr>
              <a:t> — RequirePermission, RequireOnlyRole…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Хуваарилалт</a:t>
            </a:r>
            <a:r>
              <a:rPr sz="1250">
                <a:solidFill>
                  <a:srgbClr val="4A5560"/>
                </a:solidFill>
                <a:latin typeface="Arial"/>
              </a:rPr>
              <a:t> — оноогдсон эсвэл ахлах мэргэжилтэн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Түгжээ</a:t>
            </a:r>
            <a:r>
              <a:rPr sz="1250">
                <a:solidFill>
                  <a:srgbClr val="4A5560"/>
                </a:solidFill>
                <a:latin typeface="Arial"/>
              </a:rPr>
              <a:t> — батлагдсан объектыг засахаас сэргийлнэ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Гишүүнчлэл</a:t>
            </a:r>
            <a:r>
              <a:rPr sz="1250">
                <a:solidFill>
                  <a:srgbClr val="4A5560"/>
                </a:solidFill>
                <a:latin typeface="Arial"/>
              </a:rPr>
              <a:t> — мэрг. байгууллага зөвхөн өөрийн объектод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892040"/>
            <a:ext cx="11183112" cy="658368"/>
          </a:xfrm>
          <a:prstGeom prst="roundRect">
            <a:avLst>
              <a:gd name="adj" fmla="val 12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00176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02C0CE"/>
                </a:solidFill>
                <a:latin typeface="Arial"/>
              </a:rPr>
              <a:t>6 РОЛЬ:   </a:t>
            </a:r>
            <a:r>
              <a:rPr sz="1150">
                <a:solidFill>
                  <a:srgbClr val="FFFFFF"/>
                </a:solidFill>
                <a:latin typeface="Arial"/>
              </a:rPr>
              <a:t>admin  ·  senior_specialist (Ахлах)  ·  employee (Мэргэжилтэн)  ·  professional_org (Мэрг. байгууллага)  ·  mika (МИКА)  ·  finance_specialist (Санхүү)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715000"/>
            <a:ext cx="3602736" cy="685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5715000"/>
            <a:ext cx="40640" cy="685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5806440"/>
            <a:ext cx="33284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ҮР ДҮН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Гадны байгууллага дотоод өгөгдөлд огт хандах боломжгүй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8536" y="5715000"/>
            <a:ext cx="3602736" cy="685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88536" y="5715000"/>
            <a:ext cx="40640" cy="68580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5806440"/>
            <a:ext cx="33284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ДАВУУ ТАЛ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Роль дангаараа хангадаггүй объект түвшний нарийн хяналт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74152" y="5715000"/>
            <a:ext cx="3602736" cy="685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4152" y="5715000"/>
            <a:ext cx="40640" cy="6858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0456" y="5806440"/>
            <a:ext cx="33284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НЭМЭГДЭХ БОЛОМЖ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2FA, ДАН нэвтрэлт; хандалтын аудит лог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06.1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Роль тус бүрийн цэсний хандалт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✓ бүрэн   ·   ◐ нөхцөлтэй / хязгаартай   ·   — харагдахгүй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44752"/>
          <a:ext cx="11181282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/>
                <a:gridCol w="1337767"/>
                <a:gridCol w="1337767"/>
                <a:gridCol w="1337767"/>
                <a:gridCol w="1337767"/>
                <a:gridCol w="1337767"/>
                <a:gridCol w="1337767"/>
              </a:tblGrid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Үйлдэл / Цэс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Админ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Ахлах мэргэжилтэн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Мэргэжилтэн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Мэрг. байгууллага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МИКА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Санхүү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Хяналтын самбар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A78D6"/>
                          </a:solidFill>
                          <a:latin typeface="Arial"/>
                        </a:rPr>
                        <a:t>◐¹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A78D6"/>
                          </a:solidFill>
                          <a:latin typeface="Arial"/>
                        </a:rPr>
                        <a:t>◐¹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A78D6"/>
                          </a:solidFill>
                          <a:latin typeface="Arial"/>
                        </a:rPr>
                        <a:t>◐¹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Газар чөлөөлөлт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A78D6"/>
                          </a:solidFill>
                          <a:latin typeface="Arial"/>
                        </a:rPr>
                        <a:t>◐²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A78D6"/>
                          </a:solidFill>
                          <a:latin typeface="Arial"/>
                        </a:rPr>
                        <a:t>◐³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A78D6"/>
                          </a:solidFill>
                          <a:latin typeface="Arial"/>
                        </a:rPr>
                        <a:t>◐³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Тайлан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Газрын зураг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Нэгж талбарын түүх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Нөхөх олговорын түүх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Удирдлага → Хэрэглэгчид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A78D6"/>
                          </a:solidFill>
                          <a:latin typeface="Arial"/>
                        </a:rPr>
                        <a:t>◐⁴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Удирдлага → Эрх &amp; Роль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77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A5560"/>
                          </a:solidFill>
                          <a:latin typeface="Arial"/>
                        </a:rPr>
                        <a:t>Тохиргоо (8 дэд цэс)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E8345"/>
                          </a:solidFill>
                          <a:latin typeface="Arial"/>
                        </a:rPr>
                        <a:t>✓⁵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5568695"/>
            <a:ext cx="11183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8A929A"/>
                </a:solidFill>
                <a:latin typeface="Arial"/>
              </a:rPr>
              <a:t>¹ Самбарын цар хүрээ ролиор хязгаарлагдана     ² Зөвхөн өөрт оноогдсон чөлөөлөлт (/my_acquisitions)     ³ Дэлгэрэнгүйд зөвхөн «Ерөнхий», «Нэгж талбар» таб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8A929A"/>
                </a:solidFill>
                <a:latin typeface="Arial"/>
              </a:rPr>
              <a:t>⁴ users:read — зөвхөн харах эрх     ⁵ admin:read зөвшөөрөлтэй хэрэглэгчид харагдана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06.2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Мэдээлэлтэй ажиллах эрхийн матриц — I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Газар чөлөөлөлт, нэгж талбар, удирдлага (router.go + access-policy.ts-ээс)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09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44752"/>
          <a:ext cx="11181282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/>
                <a:gridCol w="1337767"/>
                <a:gridCol w="1337767"/>
                <a:gridCol w="1337767"/>
                <a:gridCol w="1337767"/>
                <a:gridCol w="1337767"/>
                <a:gridCol w="1337767"/>
              </a:tblGrid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Үйлдэл / Цэс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Админ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Ахлах мэргэжилтэн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Мэргэжилтэн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Мэрг. байгууллага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МИКА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Санхүү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</a:tr>
              <a:tr h="323556">
                <a:tc gridSpan="7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ГАЗАР ЧӨЛӨӨЛӨЛТ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Жагсаалт, дэлгэрэнгүй харах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◐ᵃ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◐ᵇ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Үүсгэх, засах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Устгах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Статусын workflow шилжүүлэх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 gridSpan="7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НЭГЖ ТАЛБАР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Талбарын мэдээлэл харах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Засах, баримт, төлбөр бүртгэх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 gridSpan="7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УДИРДЛАГА, ТАЙЛАН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Хэрэглэгч удирдах (CRUD)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◐ᵈ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Роль, зөвшөөрөл, тохиргоо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6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Excel тайлан татах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5797296"/>
            <a:ext cx="11183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8A929A"/>
                </a:solidFill>
                <a:latin typeface="Arial"/>
              </a:rPr>
              <a:t>ᵃ Зөвхөн өөрт хуваарилагдсан чөлөөлөлт (RequireAssignedOrSenior)     ᵇ Өөрийн байгууллагад оноогдсон объект (/prof)     ᶜ «Үнэлгээ хийх» статустай үед, хязгаартай табууд     ᵈ users:read — зөвхөн харах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06.3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Мэдээлэлтэй ажиллах эрхийн матриц — II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Үнэлгээний 3 урсгал ба нөхөх олговрын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44752"/>
          <a:ext cx="11181282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/>
                <a:gridCol w="1337767"/>
                <a:gridCol w="1337767"/>
                <a:gridCol w="1337767"/>
                <a:gridCol w="1337767"/>
                <a:gridCol w="1337767"/>
                <a:gridCol w="1337767"/>
              </a:tblGrid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Үйлдэл / Цэс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Админ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Ахлах мэргэжилтэн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Мэргэжилтэн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Мэрг. байгууллага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МИКА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Санхүү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</a:tr>
              <a:tr h="323556">
                <a:tc gridSpan="7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ҮНЭЛГЭЭ (3 ЗЭРЭГЦЭЭ УРСГАЛ)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Үнэлгээний мэдээлэл харах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◐ᵈ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Хөрөнгийн үнэлгээ оруулах, засах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Хөндлөнгийн үнэлгээ оруулах, засах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◐ᶠ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МИКА үнэлгээ оруулах, засах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Excel-ээс үнэлгээ импортлох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◐ᵉ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Үнэлгээ илгээх (submit)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Үнэлгээ батлах / буцаах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 gridSpan="7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E2440"/>
                          </a:solidFill>
                          <a:latin typeface="Arial"/>
                        </a:rPr>
                        <a:t>НӨХӨХ ОЛГОВОР</a:t>
                      </a:r>
                    </a:p>
                  </a:txBody>
                  <a:tcPr anchor="ctr">
                    <a:solidFill>
                      <a:srgbClr val="E0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Олговрын мэдээлэл харах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◐ᵃ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◐ᵇ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Олговор бүртгэх, засах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78D6"/>
                          </a:solidFill>
                          <a:latin typeface="Arial"/>
                        </a:rPr>
                        <a:t>◐ᵉ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356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A5560"/>
                          </a:solidFill>
                          <a:latin typeface="Arial"/>
                        </a:rPr>
                        <a:t>Олговор батлах / татгалзах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8A929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E8345"/>
                          </a:solidFill>
                          <a:latin typeface="Arial"/>
                        </a:rPr>
                        <a:t>✓ʰ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5797296"/>
            <a:ext cx="11183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8A929A"/>
                </a:solidFill>
                <a:latin typeface="Arial"/>
              </a:rPr>
              <a:t>ᵈ Зөвхөн өөрийн урсгалын үнэлгээ     ᵉ Үндсэн гүйцэтгэгчээр оноогдсон, «Үнэлгээ хийх» статустай үед     ᶠ Хөндлөнгийн байгууллагаар оноогдсон талбарт     ᵍ МИКА өөрийн урсгалдаа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8A929A"/>
                </a:solidFill>
                <a:latin typeface="Arial"/>
              </a:rPr>
              <a:t>ʰ Батлах endpoint зөвхөн санхүүгийн ролиор хамгаалагдсан — админ ч эрхгүй (үүрэг тусгаарлалтын зарчим)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Функциональ модулиуд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24 хуудас · 12 багц модуль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63040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63040"/>
            <a:ext cx="38100" cy="10972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1536192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Хяналтын самбар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нэгтгэл, шүүлт, ролиор хязгаарлагдсан цар хүрээ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5676" y="1463040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65676" y="1463040"/>
            <a:ext cx="38100" cy="10972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1980" y="1536192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Газар чөлөөлөлт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shapefile хил, ангилал, workflow, хилийн түүх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2" y="1463040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8432" y="1463040"/>
            <a:ext cx="38100" cy="10972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74736" y="1536192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Нэгж талбар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эзэмшигч, статус + түүх, баримт, төлбөр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665476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665476"/>
            <a:ext cx="38100" cy="10972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2738628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Үнэлгээ — 3 урсгал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хөрөнгийн / хөндлөнгийн / МИКА, submit→approve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65676" y="2665476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65676" y="2665476"/>
            <a:ext cx="38100" cy="10972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11980" y="2738628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Excel импорт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хөтөч дотор задлан, SHA-256 давхардлын шалгалт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28432" y="2665476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28432" y="2665476"/>
            <a:ext cx="38100" cy="10972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4736" y="2738628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Нөхөх олговор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батлах/татгалзах workflow, түүхийн архив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67912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3867912"/>
            <a:ext cx="38100" cy="10972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3941064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Байгууламж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тохируулгат үзүүлэлт/тооцоолол, зураг → PDF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65676" y="3867912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65676" y="3867912"/>
            <a:ext cx="38100" cy="10972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11980" y="3941064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Газрын зураг (GIS)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WMS/WFS давхаргууд, статусын өнгө, CQL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28432" y="3867912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28432" y="3867912"/>
            <a:ext cx="38100" cy="10972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74736" y="3941064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Тайлан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SSE стрийм Excel, чөлөөлөлт тус бүрийн тайлан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70348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5070348"/>
            <a:ext cx="38100" cy="10972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" y="5143500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Хэвлэх загвар (DOCX)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9 төрлийн албан баримт автоматаар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65676" y="5070348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265676" y="5070348"/>
            <a:ext cx="38100" cy="10972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11980" y="5143500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Мэрг. байгууллагын портал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тусгаарлагдсан 43 endpoint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28432" y="5070348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28432" y="5070348"/>
            <a:ext cx="38100" cy="10972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74736" y="5143500"/>
            <a:ext cx="3383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E2440"/>
                </a:solidFill>
                <a:latin typeface="Arial"/>
              </a:rPr>
              <a:t>Тохиргооны 8 модуль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A5560"/>
                </a:solidFill>
                <a:latin typeface="Arial"/>
              </a:rPr>
              <a:t>workflow, статус, ангилал — кодгүй удирдлага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12648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8A929A"/>
                </a:solidFill>
                <a:latin typeface="Arial"/>
              </a:rPr>
              <a:t>Хуудасны бүтэц: үндсэн үйл ажиллагаа 11 · тохиргоо/лавлах 8 · хэрэглэгч-эрх 3 · системийн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GIS — газарзүйн мэдээллийн интеграци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Орон зайн өгөгдөл системийн гол хэсэг (EPSG:4326 → 3857)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12</a:t>
            </a:r>
          </a:p>
        </p:txBody>
      </p:sp>
      <p:sp>
        <p:nvSpPr>
          <p:cNvPr id="10" name="Chevron 9"/>
          <p:cNvSpPr/>
          <p:nvPr/>
        </p:nvSpPr>
        <p:spPr>
          <a:xfrm>
            <a:off x="502920" y="1691640"/>
            <a:ext cx="2971800" cy="1737360"/>
          </a:xfrm>
          <a:prstGeom prst="chevron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rIns="256032" tIns="146304"/>
          <a:lstStyle/>
          <a:p>
            <a:pPr algn="l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Arial"/>
              </a:rPr>
              <a:t>1. Хадгалалт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PostGIS 3.4 — geometry багана, орон зайн индекс</a:t>
            </a:r>
          </a:p>
        </p:txBody>
      </p:sp>
      <p:sp>
        <p:nvSpPr>
          <p:cNvPr id="11" name="Chevron 10"/>
          <p:cNvSpPr/>
          <p:nvPr/>
        </p:nvSpPr>
        <p:spPr>
          <a:xfrm>
            <a:off x="3319272" y="1691640"/>
            <a:ext cx="2971800" cy="1737360"/>
          </a:xfrm>
          <a:prstGeom prst="chevron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rIns="256032" tIns="146304"/>
          <a:lstStyle/>
          <a:p>
            <a:pPr algn="l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Arial"/>
              </a:rPr>
              <a:t>2. Тооцоолол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ST_Intersection, ST_Area, ST_MakeValid — DB дотор</a:t>
            </a:r>
          </a:p>
        </p:txBody>
      </p:sp>
      <p:sp>
        <p:nvSpPr>
          <p:cNvPr id="12" name="Chevron 11"/>
          <p:cNvSpPr/>
          <p:nvPr/>
        </p:nvSpPr>
        <p:spPr>
          <a:xfrm>
            <a:off x="6135624" y="1691640"/>
            <a:ext cx="2971800" cy="1737360"/>
          </a:xfrm>
          <a:prstGeom prst="chevron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rIns="256032" tIns="146304"/>
          <a:lstStyle/>
          <a:p>
            <a:pPr algn="l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Arial"/>
              </a:rPr>
              <a:t>3. Нийтлэлт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GeoServer — WMS/WFS, статусын давхаргууд (s0–s5)</a:t>
            </a:r>
          </a:p>
        </p:txBody>
      </p:sp>
      <p:sp>
        <p:nvSpPr>
          <p:cNvPr id="13" name="Chevron 12"/>
          <p:cNvSpPr/>
          <p:nvPr/>
        </p:nvSpPr>
        <p:spPr>
          <a:xfrm>
            <a:off x="8951976" y="1691640"/>
            <a:ext cx="2971800" cy="1737360"/>
          </a:xfrm>
          <a:prstGeom prst="chevron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rIns="256032" tIns="146304"/>
          <a:lstStyle/>
          <a:p>
            <a:pPr algn="l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Arial"/>
              </a:rPr>
              <a:t>4. Дүрслэл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E2440"/>
                </a:solidFill>
                <a:latin typeface="Arial"/>
              </a:rPr>
              <a:t>OpenLayers — самбар, popup, CQL шүүлт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7947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Shapefile уншигч</a:t>
            </a:r>
            <a:r>
              <a:rPr sz="1200">
                <a:solidFill>
                  <a:srgbClr val="4A5560"/>
                </a:solidFill>
                <a:latin typeface="Arial"/>
              </a:rPr>
              <a:t> — ESRI Shapefile → WKT — гадны сангүй, Go-оор өөрсдөө бичсэн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02C0CE"/>
                </a:solidFill>
                <a:latin typeface="Arial"/>
              </a:rPr>
              <a:t>▪ </a:t>
            </a:r>
            <a:r>
              <a:rPr sz="1200" b="1">
                <a:solidFill>
                  <a:srgbClr val="16202B"/>
                </a:solidFill>
                <a:latin typeface="Arial"/>
              </a:rPr>
              <a:t>Прокси</a:t>
            </a:r>
            <a:r>
              <a:rPr sz="1200">
                <a:solidFill>
                  <a:srgbClr val="4A5560"/>
                </a:solidFill>
                <a:latin typeface="Arial"/>
              </a:rPr>
              <a:t> — GeoServer гадагш ил гардаггүй — Next.js route-оор нэвтрэлттэй дамжина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07492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5074920"/>
            <a:ext cx="40640" cy="12344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516636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ҮР ДҮН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Талбарын давхцал, чөлөөлөх талбай автоматаар тодорхойлогддог болсон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8536" y="507492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8536" y="5074920"/>
            <a:ext cx="40640" cy="123444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516636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ДАВУУ ТАЛ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Тооцоолол DB түвшинд — үнэн зөвийн нэг эх сурвалж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4152" y="507492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74152" y="5074920"/>
            <a:ext cx="40640" cy="123444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0456" y="516636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НЭМЭГДЭХ БОЛОМЖ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Vector tile (MVT); кадастрын системтэй синхрончлол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Чанар, тестийн хамралт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554480"/>
            <a:ext cx="264490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9224" y="1700784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1773936"/>
            <a:ext cx="237058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E2440"/>
                </a:solidFill>
                <a:latin typeface="Arial"/>
              </a:rPr>
              <a:t>213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Backend тест функц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48990" y="1554480"/>
            <a:ext cx="264490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95294" y="1700784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006" y="1773936"/>
            <a:ext cx="237058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E2440"/>
                </a:solidFill>
                <a:latin typeface="Arial"/>
              </a:rPr>
              <a:t>21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Backend тест файл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5060" y="1554480"/>
            <a:ext cx="264490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1364" y="1700784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3076" y="1773936"/>
            <a:ext cx="237058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E2440"/>
                </a:solidFill>
                <a:latin typeface="Arial"/>
              </a:rPr>
              <a:t>3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Mock багц (handler / service / repo)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41130" y="1554480"/>
            <a:ext cx="264490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87434" y="1700784"/>
            <a:ext cx="457200" cy="381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69146" y="1773936"/>
            <a:ext cx="237058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E2440"/>
                </a:solidFill>
                <a:latin typeface="Arial"/>
              </a:rPr>
              <a:t>2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Frontend тест сьют (policy, parser)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108960"/>
            <a:ext cx="11183112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4612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Давхаргажсан unit тест</a:t>
            </a:r>
            <a:r>
              <a:rPr sz="1250">
                <a:solidFill>
                  <a:srgbClr val="4A5560"/>
                </a:solidFill>
                <a:latin typeface="Arial"/>
              </a:rPr>
              <a:t> — mock-оор тусгаарлагдсан — DB-гүйгээр хурдан ажиллана</a:t>
            </a:r>
          </a:p>
          <a:p>
            <a:pPr algn="l">
              <a:spcAft>
                <a:spcPts val="9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Хандалтын эрхийн тест</a:t>
            </a:r>
            <a:r>
              <a:rPr sz="1250">
                <a:solidFill>
                  <a:srgbClr val="4A5560"/>
                </a:solidFill>
                <a:latin typeface="Arial"/>
              </a:rPr>
              <a:t> — router_access_test.go — эрхийн регресс автоматаар илэрдэг</a:t>
            </a:r>
          </a:p>
          <a:p>
            <a:pPr algn="l">
              <a:spcAft>
                <a:spcPts val="9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Эрсдэлтэй frontend логик</a:t>
            </a:r>
            <a:r>
              <a:rPr sz="1250">
                <a:solidFill>
                  <a:srgbClr val="4A5560"/>
                </a:solidFill>
                <a:latin typeface="Arial"/>
              </a:rPr>
              <a:t> — access-policy, Excel задлагч тестлэгдсэн · Swagger UI, Postman, монгол i18n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12064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120640"/>
            <a:ext cx="40640" cy="12344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521208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ҮР ДҮН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Гол бизнес логик автомат шалгалттай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88536" y="512064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8536" y="5120640"/>
            <a:ext cx="40640" cy="123444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4840" y="521208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E8345"/>
                </a:solidFill>
                <a:latin typeface="Arial"/>
              </a:rPr>
              <a:t>ДАВУУ ТАЛ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Эрхийн хяналт тусгай тестээр баталгаажсан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74152" y="5120640"/>
            <a:ext cx="3602736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74152" y="5120640"/>
            <a:ext cx="40640" cy="123444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0456" y="5212080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НЭМЭГДЭХ БОЛОМЖ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A5560"/>
                </a:solidFill>
                <a:latin typeface="Arial"/>
              </a:rPr>
              <a:t>E2E тест (Playwright); CI/CD pipeline; ачааллын тест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Хөгжүүлэлтийн явцын үзүүлэлт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5560"/>
                </a:solidFill>
                <a:latin typeface="Arial"/>
              </a:rPr>
              <a:t>2026.06.15 – 07.12 · нийт 177 commit (frontend 116, backend 61) · 55 migration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6949440" cy="4709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91056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E2440"/>
                </a:solidFill>
                <a:latin typeface="Arial"/>
              </a:rPr>
              <a:t>ДОЛОО ХОНОГ ТУТМЫН COMMIT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85800" y="1965960"/>
          <a:ext cx="65836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863840" y="169164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4 долоо хоног</a:t>
            </a:r>
            <a:r>
              <a:rPr sz="1250">
                <a:solidFill>
                  <a:srgbClr val="4A5560"/>
                </a:solidFill>
                <a:latin typeface="Arial"/>
              </a:rPr>
              <a:t> — бүрэн ажиллагаатай систем хүргэгдсэн</a:t>
            </a:r>
          </a:p>
          <a:p>
            <a:pPr algn="l">
              <a:spcAft>
                <a:spcPts val="12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Жижиг, ойр commit</a:t>
            </a:r>
            <a:r>
              <a:rPr sz="1250">
                <a:solidFill>
                  <a:srgbClr val="4A5560"/>
                </a:solidFill>
                <a:latin typeface="Arial"/>
              </a:rPr>
              <a:t> — өөрчлөлт мөрдөхөд хялбар түүх</a:t>
            </a:r>
          </a:p>
          <a:p>
            <a:pPr algn="l">
              <a:spcAft>
                <a:spcPts val="12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Зэрэгцээ хөгжүүлэлт</a:t>
            </a:r>
            <a:r>
              <a:rPr sz="1250">
                <a:solidFill>
                  <a:srgbClr val="4A5560"/>
                </a:solidFill>
                <a:latin typeface="Arial"/>
              </a:rPr>
              <a:t> — front/back интеграцийн зөрүү багатай</a:t>
            </a:r>
          </a:p>
          <a:p>
            <a:pPr algn="l">
              <a:spcAft>
                <a:spcPts val="1200"/>
              </a:spcAft>
            </a:pPr>
            <a:r>
              <a:rPr sz="1250" b="1">
                <a:solidFill>
                  <a:srgbClr val="02C0CE"/>
                </a:solidFill>
                <a:latin typeface="Arial"/>
              </a:rPr>
              <a:t>▪ </a:t>
            </a:r>
            <a:r>
              <a:rPr sz="1250" b="1">
                <a:solidFill>
                  <a:srgbClr val="16202B"/>
                </a:solidFill>
                <a:latin typeface="Arial"/>
              </a:rPr>
              <a:t>55 migration</a:t>
            </a:r>
            <a:r>
              <a:rPr sz="1250">
                <a:solidFill>
                  <a:srgbClr val="4A5560"/>
                </a:solidFill>
                <a:latin typeface="Arial"/>
              </a:rPr>
              <a:t> — функциональ өсөлтийг дагасан schema хөгжил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Нэгдсэн дүгнэлт — үр дүн ба давуу тал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5486400" cy="4709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81328"/>
            <a:ext cx="548640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664208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0"/>
              </a:spcAft>
            </a:pPr>
            <a:r>
              <a:rPr sz="1150" b="1">
                <a:solidFill>
                  <a:srgbClr val="2A78D6"/>
                </a:solidFill>
                <a:latin typeface="Arial"/>
              </a:rPr>
              <a:t>СИСТЕМ ХИЙГДСЭНЭЭР ГАРСАН ҮР ДҮН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2A78D6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Бүх үе шат цаасан бус, нэгдсэн цахим урсгалд шилжсэн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2A78D6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3 бие даасан үнэлгээ зэрэгцээ, workflow-оор баталгааждаг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2A78D6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Орон зайн тооцоолол автоматжиж, зурган дээр бодит хугацаанд харагдана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2A78D6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Гадны байгууллагууд тусгаарлагдсан порталтай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2A78D6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9 төрлийн албан баримт, Excel тайлан автоматаар үүсдэг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481328"/>
            <a:ext cx="5486400" cy="4709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481328"/>
            <a:ext cx="5486400" cy="5080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664208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0"/>
              </a:spcAft>
            </a:pPr>
            <a:r>
              <a:rPr sz="1150" b="1">
                <a:solidFill>
                  <a:srgbClr val="0E8345"/>
                </a:solidFill>
                <a:latin typeface="Arial"/>
              </a:rPr>
              <a:t>ДАВУУ ТАЛУУД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0E8345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Цэвэр давхаргажилт — өргөтгөлд тэсвэртэй, тестлэгдэхүйц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0E8345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Гүн хамгаалалт — 4 давхар эрхийн шалгалт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0E8345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Workflow тохиргоогоор — процесс өөрчлөгдөхөд код засалтгүй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0E8345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Бүрэн аудитын мөр — өөрчлөлт бүр түүхтэй</a:t>
            </a:r>
          </a:p>
          <a:p>
            <a:pPr algn="l">
              <a:spcAft>
                <a:spcPts val="1300"/>
              </a:spcAft>
            </a:pPr>
            <a:r>
              <a:rPr sz="1300" b="1">
                <a:solidFill>
                  <a:srgbClr val="0E8345"/>
                </a:solidFill>
                <a:latin typeface="Arial"/>
              </a:rPr>
              <a:t>▪ </a:t>
            </a:r>
            <a:r>
              <a:rPr sz="1300">
                <a:solidFill>
                  <a:srgbClr val="4A5560"/>
                </a:solidFill>
                <a:latin typeface="Arial"/>
              </a:rPr>
              <a:t>Нээлттэй эхийн стек — лицензийн зардалгүй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658368" cy="658368"/>
          </a:xfrm>
          <a:prstGeom prst="roundRect">
            <a:avLst>
              <a:gd name="adj" fmla="val 18000"/>
            </a:avLst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310896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0E2440"/>
                </a:solidFill>
                <a:latin typeface="Arial"/>
              </a:rPr>
              <a:t>Нэмэгдэх боломжууд — эрэмбэлсэн санал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11183112" cy="2032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822960" cy="355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12700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Техникийн тайлан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E2440"/>
                </a:solidFill>
                <a:latin typeface="Arial"/>
              </a:rPr>
              <a:t>16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81328"/>
          <a:ext cx="11183112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651760"/>
                <a:gridCol w="5760720"/>
                <a:gridCol w="2221992"/>
              </a:tblGrid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Чиглэл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Агуулга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Хамрах хэсэг</a:t>
                      </a:r>
                    </a:p>
                  </a:txBody>
                  <a:tcPr anchor="ctr">
                    <a:solidFill>
                      <a:srgbClr val="0E2440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2C0C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Файлын бодит хадгалалт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mock файл серверийг S3/MinIO-оор солих (интерфейс бэлэн)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Backend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2C0CE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Мэдэгдлийн систем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статус, батлах үйлдэл бүрд и-мэйл/системийн мэдэгдэл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Систем даяар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2C0C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ДАН / 2FA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төрийн нэгдсэн нэвтрэлт, хоёр шатлалт баталгаажуулалт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Аюулгүй байдал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8A929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CI/CD ба E2E тест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автомат build–test–deploy, Playwright тест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Чанар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8A929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Мониторинг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OpenTelemetry метрик/лог/trace, аудит лог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Дэд бүтэц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8A929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Гүйцэтгэлийн масштаб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Redis кэш, vector tile, read replica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DB / GIS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8A929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Мобайл клиент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хээрийн судалгааны ажилтанд зориулсан апп (API бэлэн)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Шинэ бүтээгдэхүүн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8A929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02B"/>
                          </a:solidFill>
                          <a:latin typeface="Arial"/>
                        </a:rPr>
                        <a:t>Гадаад интеграци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кадастр, ХУР зэрэг системтэй өгөгдөл солилцоо, webhook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A5560"/>
                          </a:solidFill>
                          <a:latin typeface="Arial"/>
                        </a:rPr>
                        <a:t>API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77440"/>
            <a:ext cx="91440" cy="137160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33172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БАЯРЛАЛАА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B9CADC"/>
                </a:solidFill>
                <a:latin typeface="Arial"/>
              </a:rPr>
              <a:t>Газар чөлөөлөлт, нөхөх олговрын нэгдсэн систем — Техникийн тайлан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3949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B9CADC"/>
                </a:solidFill>
                <a:latin typeface="Arial"/>
              </a:rPr>
              <a:t>government-frontend (Next.js)  ·  government (Go API)  ·  PostgreSQL + PostGIS  ·  GeoServer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B9CADC"/>
                </a:solidFill>
                <a:latin typeface="Arial"/>
              </a:rPr>
              <a:t>2026-07-16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